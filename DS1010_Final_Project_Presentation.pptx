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4" r:id="rId3"/>
    <p:sldId id="257" r:id="rId4"/>
    <p:sldId id="267" r:id="rId5"/>
    <p:sldId id="265" r:id="rId6"/>
    <p:sldId id="268" r:id="rId7"/>
    <p:sldId id="266" r:id="rId8"/>
    <p:sldId id="260" r:id="rId9"/>
    <p:sldId id="289" r:id="rId10"/>
    <p:sldId id="269" r:id="rId11"/>
    <p:sldId id="261" r:id="rId12"/>
    <p:sldId id="275" r:id="rId13"/>
    <p:sldId id="274" r:id="rId14"/>
    <p:sldId id="293" r:id="rId15"/>
    <p:sldId id="294" r:id="rId16"/>
    <p:sldId id="295" r:id="rId17"/>
    <p:sldId id="296" r:id="rId18"/>
    <p:sldId id="290" r:id="rId19"/>
    <p:sldId id="291" r:id="rId20"/>
    <p:sldId id="259" r:id="rId21"/>
    <p:sldId id="287" r:id="rId22"/>
    <p:sldId id="286" r:id="rId23"/>
    <p:sldId id="288" r:id="rId24"/>
    <p:sldId id="282" r:id="rId25"/>
    <p:sldId id="297" r:id="rId26"/>
    <p:sldId id="276" r:id="rId27"/>
    <p:sldId id="27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4700"/>
  </p:normalViewPr>
  <p:slideViewPr>
    <p:cSldViewPr snapToGrid="0">
      <p:cViewPr varScale="1">
        <p:scale>
          <a:sx n="100" d="100"/>
          <a:sy n="100" d="100"/>
        </p:scale>
        <p:origin x="1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https://wpi0-my.sharepoint.com/personal/hyhan_wpi_edu/Documents/hear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wpi0-my.sharepoint.com/personal/hyhan_wpi_edu/Documents/heart.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Cholesterol of those without heart disease</a:t>
            </a:r>
          </a:p>
        </c:rich>
      </c:tx>
      <c:layout>
        <c:manualLayout>
          <c:xMode val="edge"/>
          <c:yMode val="edge"/>
          <c:x val="0.19306011370160761"/>
          <c:y val="3.6309227419163752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areaChart>
        <c:grouping val="standard"/>
        <c:varyColors val="0"/>
        <c:ser>
          <c:idx val="0"/>
          <c:order val="0"/>
          <c:tx>
            <c:v>Field1</c:v>
          </c:tx>
          <c:spPr>
            <a:solidFill>
              <a:schemeClr val="accent1"/>
            </a:solidFill>
            <a:ln w="25400">
              <a:noFill/>
            </a:ln>
            <a:effectLst/>
          </c:spPr>
          <c:val>
            <c:numRef>
              <c:f>[heart.xlsx]in!$M$4:$M$411</c:f>
              <c:numCache>
                <c:formatCode>General</c:formatCode>
                <c:ptCount val="408"/>
                <c:pt idx="0">
                  <c:v>283</c:v>
                </c:pt>
                <c:pt idx="1">
                  <c:v>214</c:v>
                </c:pt>
                <c:pt idx="2">
                  <c:v>195</c:v>
                </c:pt>
                <c:pt idx="3">
                  <c:v>339</c:v>
                </c:pt>
                <c:pt idx="4">
                  <c:v>237</c:v>
                </c:pt>
                <c:pt idx="5">
                  <c:v>208</c:v>
                </c:pt>
                <c:pt idx="6">
                  <c:v>207</c:v>
                </c:pt>
                <c:pt idx="7">
                  <c:v>284</c:v>
                </c:pt>
                <c:pt idx="8">
                  <c:v>211</c:v>
                </c:pt>
                <c:pt idx="9">
                  <c:v>164</c:v>
                </c:pt>
                <c:pt idx="10">
                  <c:v>204</c:v>
                </c:pt>
                <c:pt idx="11">
                  <c:v>234</c:v>
                </c:pt>
                <c:pt idx="12">
                  <c:v>211</c:v>
                </c:pt>
                <c:pt idx="13">
                  <c:v>273</c:v>
                </c:pt>
                <c:pt idx="14">
                  <c:v>196</c:v>
                </c:pt>
                <c:pt idx="15">
                  <c:v>201</c:v>
                </c:pt>
                <c:pt idx="16">
                  <c:v>248</c:v>
                </c:pt>
                <c:pt idx="17">
                  <c:v>267</c:v>
                </c:pt>
                <c:pt idx="18">
                  <c:v>223</c:v>
                </c:pt>
                <c:pt idx="19">
                  <c:v>184</c:v>
                </c:pt>
                <c:pt idx="20">
                  <c:v>201</c:v>
                </c:pt>
                <c:pt idx="21">
                  <c:v>288</c:v>
                </c:pt>
                <c:pt idx="22">
                  <c:v>215</c:v>
                </c:pt>
                <c:pt idx="23">
                  <c:v>209</c:v>
                </c:pt>
                <c:pt idx="24">
                  <c:v>260</c:v>
                </c:pt>
                <c:pt idx="25">
                  <c:v>284</c:v>
                </c:pt>
                <c:pt idx="26">
                  <c:v>468</c:v>
                </c:pt>
                <c:pt idx="27">
                  <c:v>188</c:v>
                </c:pt>
                <c:pt idx="28">
                  <c:v>518</c:v>
                </c:pt>
                <c:pt idx="29">
                  <c:v>167</c:v>
                </c:pt>
                <c:pt idx="30">
                  <c:v>224</c:v>
                </c:pt>
                <c:pt idx="31">
                  <c:v>172</c:v>
                </c:pt>
                <c:pt idx="32">
                  <c:v>186</c:v>
                </c:pt>
                <c:pt idx="33">
                  <c:v>254</c:v>
                </c:pt>
                <c:pt idx="34">
                  <c:v>306</c:v>
                </c:pt>
                <c:pt idx="35">
                  <c:v>250</c:v>
                </c:pt>
                <c:pt idx="36">
                  <c:v>177</c:v>
                </c:pt>
                <c:pt idx="37">
                  <c:v>227</c:v>
                </c:pt>
                <c:pt idx="38">
                  <c:v>230</c:v>
                </c:pt>
                <c:pt idx="39">
                  <c:v>294</c:v>
                </c:pt>
                <c:pt idx="40">
                  <c:v>264</c:v>
                </c:pt>
                <c:pt idx="41">
                  <c:v>259</c:v>
                </c:pt>
                <c:pt idx="42">
                  <c:v>175</c:v>
                </c:pt>
                <c:pt idx="43">
                  <c:v>318</c:v>
                </c:pt>
                <c:pt idx="44">
                  <c:v>223</c:v>
                </c:pt>
                <c:pt idx="45">
                  <c:v>216</c:v>
                </c:pt>
                <c:pt idx="46">
                  <c:v>340</c:v>
                </c:pt>
                <c:pt idx="47">
                  <c:v>289</c:v>
                </c:pt>
                <c:pt idx="48">
                  <c:v>233</c:v>
                </c:pt>
                <c:pt idx="49">
                  <c:v>205</c:v>
                </c:pt>
                <c:pt idx="50">
                  <c:v>224</c:v>
                </c:pt>
                <c:pt idx="51">
                  <c:v>245</c:v>
                </c:pt>
                <c:pt idx="52">
                  <c:v>180</c:v>
                </c:pt>
                <c:pt idx="53">
                  <c:v>194</c:v>
                </c:pt>
                <c:pt idx="54">
                  <c:v>270</c:v>
                </c:pt>
                <c:pt idx="55">
                  <c:v>213</c:v>
                </c:pt>
                <c:pt idx="56">
                  <c:v>365</c:v>
                </c:pt>
                <c:pt idx="57">
                  <c:v>342</c:v>
                </c:pt>
                <c:pt idx="58">
                  <c:v>253</c:v>
                </c:pt>
                <c:pt idx="59">
                  <c:v>254</c:v>
                </c:pt>
                <c:pt idx="60">
                  <c:v>224</c:v>
                </c:pt>
                <c:pt idx="61">
                  <c:v>277</c:v>
                </c:pt>
                <c:pt idx="62">
                  <c:v>202</c:v>
                </c:pt>
                <c:pt idx="63">
                  <c:v>260</c:v>
                </c:pt>
                <c:pt idx="64">
                  <c:v>297</c:v>
                </c:pt>
                <c:pt idx="65">
                  <c:v>225</c:v>
                </c:pt>
                <c:pt idx="66">
                  <c:v>246</c:v>
                </c:pt>
                <c:pt idx="67">
                  <c:v>412</c:v>
                </c:pt>
                <c:pt idx="68">
                  <c:v>265</c:v>
                </c:pt>
                <c:pt idx="69">
                  <c:v>215</c:v>
                </c:pt>
                <c:pt idx="70">
                  <c:v>182</c:v>
                </c:pt>
                <c:pt idx="71">
                  <c:v>218</c:v>
                </c:pt>
                <c:pt idx="72">
                  <c:v>268</c:v>
                </c:pt>
                <c:pt idx="73">
                  <c:v>163</c:v>
                </c:pt>
                <c:pt idx="74">
                  <c:v>529</c:v>
                </c:pt>
                <c:pt idx="75">
                  <c:v>167</c:v>
                </c:pt>
                <c:pt idx="76">
                  <c:v>100</c:v>
                </c:pt>
                <c:pt idx="77">
                  <c:v>206</c:v>
                </c:pt>
                <c:pt idx="78">
                  <c:v>277</c:v>
                </c:pt>
                <c:pt idx="79">
                  <c:v>238</c:v>
                </c:pt>
                <c:pt idx="80">
                  <c:v>223</c:v>
                </c:pt>
                <c:pt idx="81">
                  <c:v>196</c:v>
                </c:pt>
                <c:pt idx="82">
                  <c:v>213</c:v>
                </c:pt>
                <c:pt idx="83">
                  <c:v>139</c:v>
                </c:pt>
                <c:pt idx="84">
                  <c:v>263</c:v>
                </c:pt>
                <c:pt idx="85">
                  <c:v>216</c:v>
                </c:pt>
                <c:pt idx="86">
                  <c:v>291</c:v>
                </c:pt>
                <c:pt idx="87">
                  <c:v>229</c:v>
                </c:pt>
                <c:pt idx="88">
                  <c:v>208</c:v>
                </c:pt>
                <c:pt idx="89">
                  <c:v>307</c:v>
                </c:pt>
                <c:pt idx="90">
                  <c:v>210</c:v>
                </c:pt>
                <c:pt idx="91">
                  <c:v>329</c:v>
                </c:pt>
                <c:pt idx="92">
                  <c:v>182</c:v>
                </c:pt>
                <c:pt idx="93">
                  <c:v>263</c:v>
                </c:pt>
                <c:pt idx="94">
                  <c:v>207</c:v>
                </c:pt>
                <c:pt idx="95">
                  <c:v>147</c:v>
                </c:pt>
                <c:pt idx="96">
                  <c:v>85</c:v>
                </c:pt>
                <c:pt idx="97">
                  <c:v>269</c:v>
                </c:pt>
                <c:pt idx="98">
                  <c:v>275</c:v>
                </c:pt>
                <c:pt idx="99">
                  <c:v>179</c:v>
                </c:pt>
                <c:pt idx="100">
                  <c:v>392</c:v>
                </c:pt>
                <c:pt idx="101">
                  <c:v>466</c:v>
                </c:pt>
                <c:pt idx="102">
                  <c:v>186</c:v>
                </c:pt>
                <c:pt idx="103">
                  <c:v>260</c:v>
                </c:pt>
                <c:pt idx="104">
                  <c:v>254</c:v>
                </c:pt>
                <c:pt idx="105">
                  <c:v>214</c:v>
                </c:pt>
                <c:pt idx="106">
                  <c:v>129</c:v>
                </c:pt>
                <c:pt idx="107">
                  <c:v>241</c:v>
                </c:pt>
                <c:pt idx="108">
                  <c:v>188</c:v>
                </c:pt>
                <c:pt idx="109">
                  <c:v>255</c:v>
                </c:pt>
                <c:pt idx="110">
                  <c:v>276</c:v>
                </c:pt>
                <c:pt idx="111">
                  <c:v>297</c:v>
                </c:pt>
                <c:pt idx="112">
                  <c:v>207</c:v>
                </c:pt>
                <c:pt idx="113">
                  <c:v>246</c:v>
                </c:pt>
                <c:pt idx="114">
                  <c:v>282</c:v>
                </c:pt>
                <c:pt idx="115">
                  <c:v>338</c:v>
                </c:pt>
                <c:pt idx="116">
                  <c:v>160</c:v>
                </c:pt>
                <c:pt idx="117">
                  <c:v>156</c:v>
                </c:pt>
                <c:pt idx="118">
                  <c:v>248</c:v>
                </c:pt>
                <c:pt idx="119">
                  <c:v>272</c:v>
                </c:pt>
                <c:pt idx="120">
                  <c:v>240</c:v>
                </c:pt>
                <c:pt idx="121">
                  <c:v>393</c:v>
                </c:pt>
                <c:pt idx="122">
                  <c:v>230</c:v>
                </c:pt>
                <c:pt idx="123">
                  <c:v>246</c:v>
                </c:pt>
                <c:pt idx="124">
                  <c:v>161</c:v>
                </c:pt>
                <c:pt idx="125">
                  <c:v>163</c:v>
                </c:pt>
                <c:pt idx="126">
                  <c:v>230</c:v>
                </c:pt>
                <c:pt idx="127">
                  <c:v>228</c:v>
                </c:pt>
                <c:pt idx="128">
                  <c:v>292</c:v>
                </c:pt>
                <c:pt idx="129">
                  <c:v>202</c:v>
                </c:pt>
                <c:pt idx="130">
                  <c:v>388</c:v>
                </c:pt>
                <c:pt idx="131">
                  <c:v>230</c:v>
                </c:pt>
                <c:pt idx="132">
                  <c:v>294</c:v>
                </c:pt>
                <c:pt idx="133">
                  <c:v>265</c:v>
                </c:pt>
                <c:pt idx="134">
                  <c:v>215</c:v>
                </c:pt>
                <c:pt idx="135">
                  <c:v>241</c:v>
                </c:pt>
                <c:pt idx="136">
                  <c:v>166</c:v>
                </c:pt>
                <c:pt idx="137">
                  <c:v>247</c:v>
                </c:pt>
                <c:pt idx="138">
                  <c:v>331</c:v>
                </c:pt>
                <c:pt idx="139">
                  <c:v>341</c:v>
                </c:pt>
                <c:pt idx="140">
                  <c:v>291</c:v>
                </c:pt>
                <c:pt idx="141">
                  <c:v>243</c:v>
                </c:pt>
                <c:pt idx="142">
                  <c:v>279</c:v>
                </c:pt>
                <c:pt idx="143">
                  <c:v>273</c:v>
                </c:pt>
                <c:pt idx="144">
                  <c:v>198</c:v>
                </c:pt>
                <c:pt idx="145">
                  <c:v>249</c:v>
                </c:pt>
                <c:pt idx="146">
                  <c:v>168</c:v>
                </c:pt>
                <c:pt idx="147">
                  <c:v>603</c:v>
                </c:pt>
                <c:pt idx="148">
                  <c:v>215</c:v>
                </c:pt>
                <c:pt idx="149">
                  <c:v>159</c:v>
                </c:pt>
                <c:pt idx="150">
                  <c:v>275</c:v>
                </c:pt>
                <c:pt idx="151">
                  <c:v>270</c:v>
                </c:pt>
                <c:pt idx="152">
                  <c:v>291</c:v>
                </c:pt>
                <c:pt idx="153">
                  <c:v>342</c:v>
                </c:pt>
                <c:pt idx="154">
                  <c:v>190</c:v>
                </c:pt>
                <c:pt idx="155">
                  <c:v>185</c:v>
                </c:pt>
                <c:pt idx="156">
                  <c:v>290</c:v>
                </c:pt>
                <c:pt idx="157">
                  <c:v>195</c:v>
                </c:pt>
                <c:pt idx="158">
                  <c:v>264</c:v>
                </c:pt>
                <c:pt idx="159">
                  <c:v>212</c:v>
                </c:pt>
                <c:pt idx="160">
                  <c:v>263</c:v>
                </c:pt>
                <c:pt idx="161">
                  <c:v>196</c:v>
                </c:pt>
                <c:pt idx="162">
                  <c:v>225</c:v>
                </c:pt>
                <c:pt idx="163">
                  <c:v>272</c:v>
                </c:pt>
                <c:pt idx="164">
                  <c:v>231</c:v>
                </c:pt>
                <c:pt idx="165">
                  <c:v>238</c:v>
                </c:pt>
                <c:pt idx="166">
                  <c:v>222</c:v>
                </c:pt>
                <c:pt idx="167">
                  <c:v>179</c:v>
                </c:pt>
                <c:pt idx="168">
                  <c:v>243</c:v>
                </c:pt>
                <c:pt idx="169">
                  <c:v>235</c:v>
                </c:pt>
                <c:pt idx="170">
                  <c:v>320</c:v>
                </c:pt>
                <c:pt idx="171">
                  <c:v>187</c:v>
                </c:pt>
                <c:pt idx="172">
                  <c:v>266</c:v>
                </c:pt>
                <c:pt idx="173">
                  <c:v>288</c:v>
                </c:pt>
                <c:pt idx="174">
                  <c:v>216</c:v>
                </c:pt>
                <c:pt idx="175">
                  <c:v>287</c:v>
                </c:pt>
                <c:pt idx="176">
                  <c:v>194</c:v>
                </c:pt>
                <c:pt idx="177">
                  <c:v>238</c:v>
                </c:pt>
                <c:pt idx="178">
                  <c:v>225</c:v>
                </c:pt>
                <c:pt idx="179">
                  <c:v>224</c:v>
                </c:pt>
                <c:pt idx="180">
                  <c:v>404</c:v>
                </c:pt>
                <c:pt idx="181">
                  <c:v>238</c:v>
                </c:pt>
                <c:pt idx="182">
                  <c:v>312</c:v>
                </c:pt>
                <c:pt idx="183">
                  <c:v>211</c:v>
                </c:pt>
                <c:pt idx="184">
                  <c:v>251</c:v>
                </c:pt>
                <c:pt idx="185">
                  <c:v>237</c:v>
                </c:pt>
                <c:pt idx="186">
                  <c:v>328</c:v>
                </c:pt>
                <c:pt idx="187">
                  <c:v>285</c:v>
                </c:pt>
                <c:pt idx="188">
                  <c:v>280</c:v>
                </c:pt>
                <c:pt idx="189">
                  <c:v>209</c:v>
                </c:pt>
                <c:pt idx="190">
                  <c:v>245</c:v>
                </c:pt>
                <c:pt idx="191">
                  <c:v>192</c:v>
                </c:pt>
                <c:pt idx="192">
                  <c:v>184</c:v>
                </c:pt>
                <c:pt idx="193">
                  <c:v>193</c:v>
                </c:pt>
                <c:pt idx="194">
                  <c:v>297</c:v>
                </c:pt>
                <c:pt idx="195">
                  <c:v>268</c:v>
                </c:pt>
                <c:pt idx="196">
                  <c:v>246</c:v>
                </c:pt>
                <c:pt idx="197">
                  <c:v>308</c:v>
                </c:pt>
                <c:pt idx="198">
                  <c:v>249</c:v>
                </c:pt>
                <c:pt idx="199">
                  <c:v>230</c:v>
                </c:pt>
                <c:pt idx="200">
                  <c:v>147</c:v>
                </c:pt>
                <c:pt idx="201">
                  <c:v>219</c:v>
                </c:pt>
                <c:pt idx="202">
                  <c:v>184</c:v>
                </c:pt>
                <c:pt idx="203">
                  <c:v>215</c:v>
                </c:pt>
                <c:pt idx="204">
                  <c:v>308</c:v>
                </c:pt>
                <c:pt idx="205">
                  <c:v>257</c:v>
                </c:pt>
                <c:pt idx="206">
                  <c:v>132</c:v>
                </c:pt>
                <c:pt idx="207">
                  <c:v>216</c:v>
                </c:pt>
                <c:pt idx="208">
                  <c:v>263</c:v>
                </c:pt>
                <c:pt idx="209">
                  <c:v>288</c:v>
                </c:pt>
                <c:pt idx="210">
                  <c:v>276</c:v>
                </c:pt>
                <c:pt idx="211">
                  <c:v>219</c:v>
                </c:pt>
                <c:pt idx="212">
                  <c:v>226</c:v>
                </c:pt>
                <c:pt idx="213">
                  <c:v>237</c:v>
                </c:pt>
                <c:pt idx="214">
                  <c:v>280</c:v>
                </c:pt>
                <c:pt idx="215">
                  <c:v>217</c:v>
                </c:pt>
                <c:pt idx="216">
                  <c:v>196</c:v>
                </c:pt>
                <c:pt idx="217">
                  <c:v>263</c:v>
                </c:pt>
                <c:pt idx="218">
                  <c:v>222</c:v>
                </c:pt>
                <c:pt idx="219">
                  <c:v>303</c:v>
                </c:pt>
                <c:pt idx="220">
                  <c:v>195</c:v>
                </c:pt>
                <c:pt idx="221">
                  <c:v>298</c:v>
                </c:pt>
                <c:pt idx="222">
                  <c:v>256</c:v>
                </c:pt>
                <c:pt idx="223">
                  <c:v>264</c:v>
                </c:pt>
                <c:pt idx="224">
                  <c:v>195</c:v>
                </c:pt>
                <c:pt idx="225">
                  <c:v>117</c:v>
                </c:pt>
                <c:pt idx="226">
                  <c:v>295</c:v>
                </c:pt>
                <c:pt idx="227">
                  <c:v>173</c:v>
                </c:pt>
                <c:pt idx="228">
                  <c:v>315</c:v>
                </c:pt>
                <c:pt idx="229">
                  <c:v>281</c:v>
                </c:pt>
                <c:pt idx="230">
                  <c:v>275</c:v>
                </c:pt>
                <c:pt idx="231">
                  <c:v>250</c:v>
                </c:pt>
                <c:pt idx="232">
                  <c:v>309</c:v>
                </c:pt>
                <c:pt idx="233">
                  <c:v>200</c:v>
                </c:pt>
                <c:pt idx="234">
                  <c:v>336</c:v>
                </c:pt>
                <c:pt idx="235">
                  <c:v>295</c:v>
                </c:pt>
                <c:pt idx="236">
                  <c:v>355</c:v>
                </c:pt>
                <c:pt idx="237">
                  <c:v>193</c:v>
                </c:pt>
                <c:pt idx="238">
                  <c:v>326</c:v>
                </c:pt>
                <c:pt idx="239">
                  <c:v>198</c:v>
                </c:pt>
                <c:pt idx="240">
                  <c:v>292</c:v>
                </c:pt>
                <c:pt idx="241">
                  <c:v>266</c:v>
                </c:pt>
                <c:pt idx="242">
                  <c:v>268</c:v>
                </c:pt>
                <c:pt idx="243">
                  <c:v>171</c:v>
                </c:pt>
                <c:pt idx="244">
                  <c:v>237</c:v>
                </c:pt>
                <c:pt idx="245">
                  <c:v>275</c:v>
                </c:pt>
                <c:pt idx="246">
                  <c:v>219</c:v>
                </c:pt>
                <c:pt idx="247">
                  <c:v>341</c:v>
                </c:pt>
                <c:pt idx="248">
                  <c:v>491</c:v>
                </c:pt>
                <c:pt idx="249">
                  <c:v>260</c:v>
                </c:pt>
                <c:pt idx="250">
                  <c:v>292</c:v>
                </c:pt>
                <c:pt idx="251">
                  <c:v>271</c:v>
                </c:pt>
                <c:pt idx="252">
                  <c:v>248</c:v>
                </c:pt>
                <c:pt idx="253">
                  <c:v>274</c:v>
                </c:pt>
                <c:pt idx="254">
                  <c:v>394</c:v>
                </c:pt>
                <c:pt idx="255">
                  <c:v>160</c:v>
                </c:pt>
                <c:pt idx="256">
                  <c:v>200</c:v>
                </c:pt>
                <c:pt idx="257">
                  <c:v>320</c:v>
                </c:pt>
                <c:pt idx="258">
                  <c:v>275</c:v>
                </c:pt>
                <c:pt idx="259">
                  <c:v>221</c:v>
                </c:pt>
                <c:pt idx="260">
                  <c:v>231</c:v>
                </c:pt>
                <c:pt idx="261">
                  <c:v>126</c:v>
                </c:pt>
                <c:pt idx="262">
                  <c:v>193</c:v>
                </c:pt>
                <c:pt idx="263">
                  <c:v>305</c:v>
                </c:pt>
                <c:pt idx="264">
                  <c:v>298</c:v>
                </c:pt>
                <c:pt idx="265">
                  <c:v>220</c:v>
                </c:pt>
                <c:pt idx="266">
                  <c:v>242</c:v>
                </c:pt>
                <c:pt idx="267">
                  <c:v>235</c:v>
                </c:pt>
                <c:pt idx="268">
                  <c:v>225</c:v>
                </c:pt>
                <c:pt idx="269">
                  <c:v>198</c:v>
                </c:pt>
                <c:pt idx="270">
                  <c:v>201</c:v>
                </c:pt>
                <c:pt idx="271">
                  <c:v>220</c:v>
                </c:pt>
                <c:pt idx="272">
                  <c:v>295</c:v>
                </c:pt>
                <c:pt idx="273">
                  <c:v>213</c:v>
                </c:pt>
                <c:pt idx="274">
                  <c:v>160</c:v>
                </c:pt>
                <c:pt idx="275">
                  <c:v>223</c:v>
                </c:pt>
                <c:pt idx="276">
                  <c:v>347</c:v>
                </c:pt>
                <c:pt idx="277">
                  <c:v>253</c:v>
                </c:pt>
                <c:pt idx="278">
                  <c:v>246</c:v>
                </c:pt>
                <c:pt idx="279">
                  <c:v>222</c:v>
                </c:pt>
                <c:pt idx="280">
                  <c:v>220</c:v>
                </c:pt>
                <c:pt idx="281">
                  <c:v>344</c:v>
                </c:pt>
                <c:pt idx="282">
                  <c:v>358</c:v>
                </c:pt>
                <c:pt idx="283">
                  <c:v>190</c:v>
                </c:pt>
                <c:pt idx="284">
                  <c:v>169</c:v>
                </c:pt>
                <c:pt idx="285">
                  <c:v>181</c:v>
                </c:pt>
                <c:pt idx="286">
                  <c:v>308</c:v>
                </c:pt>
                <c:pt idx="287">
                  <c:v>166</c:v>
                </c:pt>
                <c:pt idx="288">
                  <c:v>211</c:v>
                </c:pt>
                <c:pt idx="289">
                  <c:v>257</c:v>
                </c:pt>
                <c:pt idx="290">
                  <c:v>182</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numCache>
            </c:numRef>
          </c:val>
          <c:extLst>
            <c:ext xmlns:c16="http://schemas.microsoft.com/office/drawing/2014/chart" uri="{C3380CC4-5D6E-409C-BE32-E72D297353CC}">
              <c16:uniqueId val="{00000000-A6FC-472D-9495-3B216BD10A26}"/>
            </c:ext>
          </c:extLst>
        </c:ser>
        <c:dLbls>
          <c:showLegendKey val="0"/>
          <c:showVal val="0"/>
          <c:showCatName val="0"/>
          <c:showSerName val="0"/>
          <c:showPercent val="0"/>
          <c:showBubbleSize val="0"/>
        </c:dLbls>
        <c:axId val="238774279"/>
        <c:axId val="238776327"/>
      </c:areaChart>
      <c:catAx>
        <c:axId val="238774279"/>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776327"/>
        <c:crosses val="autoZero"/>
        <c:auto val="1"/>
        <c:lblAlgn val="ctr"/>
        <c:lblOffset val="100"/>
        <c:noMultiLvlLbl val="0"/>
      </c:catAx>
      <c:valAx>
        <c:axId val="238776327"/>
        <c:scaling>
          <c:orientation val="minMax"/>
          <c:max val="6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Cholesterol</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774279"/>
        <c:crosses val="autoZero"/>
        <c:crossBetween val="midCat"/>
      </c:valAx>
      <c:spPr>
        <a:noFill/>
        <a:ln>
          <a:noFill/>
        </a:ln>
        <a:effectLst/>
      </c:spPr>
    </c:plotArea>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Cholesterol of those with heart disease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areaChart>
        <c:grouping val="standard"/>
        <c:varyColors val="0"/>
        <c:ser>
          <c:idx val="0"/>
          <c:order val="0"/>
          <c:tx>
            <c:v>Field1</c:v>
          </c:tx>
          <c:spPr>
            <a:solidFill>
              <a:schemeClr val="accent1"/>
            </a:solidFill>
            <a:ln w="25400">
              <a:noFill/>
            </a:ln>
            <a:effectLst/>
          </c:spPr>
          <c:val>
            <c:numRef>
              <c:f>[heart.xlsx]in!$M$414:$M$919</c:f>
              <c:numCache>
                <c:formatCode>General</c:formatCode>
                <c:ptCount val="506"/>
                <c:pt idx="0">
                  <c:v>0</c:v>
                </c:pt>
                <c:pt idx="1">
                  <c:v>0</c:v>
                </c:pt>
                <c:pt idx="2">
                  <c:v>0</c:v>
                </c:pt>
                <c:pt idx="3">
                  <c:v>0</c:v>
                </c:pt>
                <c:pt idx="4">
                  <c:v>260</c:v>
                </c:pt>
                <c:pt idx="5">
                  <c:v>209</c:v>
                </c:pt>
                <c:pt idx="6">
                  <c:v>218</c:v>
                </c:pt>
                <c:pt idx="7">
                  <c:v>228</c:v>
                </c:pt>
                <c:pt idx="8">
                  <c:v>213</c:v>
                </c:pt>
                <c:pt idx="9">
                  <c:v>0</c:v>
                </c:pt>
                <c:pt idx="10">
                  <c:v>236</c:v>
                </c:pt>
                <c:pt idx="11">
                  <c:v>0</c:v>
                </c:pt>
                <c:pt idx="12">
                  <c:v>0</c:v>
                </c:pt>
                <c:pt idx="13">
                  <c:v>267</c:v>
                </c:pt>
                <c:pt idx="14">
                  <c:v>166</c:v>
                </c:pt>
                <c:pt idx="15">
                  <c:v>0</c:v>
                </c:pt>
                <c:pt idx="16">
                  <c:v>0</c:v>
                </c:pt>
                <c:pt idx="17">
                  <c:v>0</c:v>
                </c:pt>
                <c:pt idx="18">
                  <c:v>0</c:v>
                </c:pt>
                <c:pt idx="19">
                  <c:v>220</c:v>
                </c:pt>
                <c:pt idx="20">
                  <c:v>177</c:v>
                </c:pt>
                <c:pt idx="21">
                  <c:v>236</c:v>
                </c:pt>
                <c:pt idx="22">
                  <c:v>0</c:v>
                </c:pt>
                <c:pt idx="23">
                  <c:v>0</c:v>
                </c:pt>
                <c:pt idx="24">
                  <c:v>0</c:v>
                </c:pt>
                <c:pt idx="25">
                  <c:v>0</c:v>
                </c:pt>
                <c:pt idx="26">
                  <c:v>0</c:v>
                </c:pt>
                <c:pt idx="27">
                  <c:v>0</c:v>
                </c:pt>
                <c:pt idx="28">
                  <c:v>0</c:v>
                </c:pt>
                <c:pt idx="29">
                  <c:v>0</c:v>
                </c:pt>
                <c:pt idx="30">
                  <c:v>0</c:v>
                </c:pt>
                <c:pt idx="31">
                  <c:v>186</c:v>
                </c:pt>
                <c:pt idx="32">
                  <c:v>100</c:v>
                </c:pt>
                <c:pt idx="33">
                  <c:v>228</c:v>
                </c:pt>
                <c:pt idx="34">
                  <c:v>0</c:v>
                </c:pt>
                <c:pt idx="35">
                  <c:v>171</c:v>
                </c:pt>
                <c:pt idx="36">
                  <c:v>230</c:v>
                </c:pt>
                <c:pt idx="37">
                  <c:v>0</c:v>
                </c:pt>
                <c:pt idx="38">
                  <c:v>0</c:v>
                </c:pt>
                <c:pt idx="39">
                  <c:v>0</c:v>
                </c:pt>
                <c:pt idx="40">
                  <c:v>281</c:v>
                </c:pt>
                <c:pt idx="41">
                  <c:v>0</c:v>
                </c:pt>
                <c:pt idx="42">
                  <c:v>203</c:v>
                </c:pt>
                <c:pt idx="43">
                  <c:v>0</c:v>
                </c:pt>
                <c:pt idx="44">
                  <c:v>0</c:v>
                </c:pt>
                <c:pt idx="45">
                  <c:v>0</c:v>
                </c:pt>
                <c:pt idx="46">
                  <c:v>0</c:v>
                </c:pt>
                <c:pt idx="47">
                  <c:v>0</c:v>
                </c:pt>
                <c:pt idx="48">
                  <c:v>277</c:v>
                </c:pt>
                <c:pt idx="49">
                  <c:v>0</c:v>
                </c:pt>
                <c:pt idx="50">
                  <c:v>233</c:v>
                </c:pt>
                <c:pt idx="51">
                  <c:v>0</c:v>
                </c:pt>
                <c:pt idx="52">
                  <c:v>0</c:v>
                </c:pt>
                <c:pt idx="53">
                  <c:v>240</c:v>
                </c:pt>
                <c:pt idx="54">
                  <c:v>0</c:v>
                </c:pt>
                <c:pt idx="55">
                  <c:v>0</c:v>
                </c:pt>
                <c:pt idx="56">
                  <c:v>153</c:v>
                </c:pt>
                <c:pt idx="57">
                  <c:v>224</c:v>
                </c:pt>
                <c:pt idx="58">
                  <c:v>0</c:v>
                </c:pt>
                <c:pt idx="59">
                  <c:v>0</c:v>
                </c:pt>
                <c:pt idx="60">
                  <c:v>0</c:v>
                </c:pt>
                <c:pt idx="61">
                  <c:v>316</c:v>
                </c:pt>
                <c:pt idx="62">
                  <c:v>0</c:v>
                </c:pt>
                <c:pt idx="63">
                  <c:v>0</c:v>
                </c:pt>
                <c:pt idx="64">
                  <c:v>218</c:v>
                </c:pt>
                <c:pt idx="65">
                  <c:v>0</c:v>
                </c:pt>
                <c:pt idx="66">
                  <c:v>311</c:v>
                </c:pt>
                <c:pt idx="67">
                  <c:v>0</c:v>
                </c:pt>
                <c:pt idx="68">
                  <c:v>0</c:v>
                </c:pt>
                <c:pt idx="69">
                  <c:v>0</c:v>
                </c:pt>
                <c:pt idx="70">
                  <c:v>270</c:v>
                </c:pt>
                <c:pt idx="71">
                  <c:v>0</c:v>
                </c:pt>
                <c:pt idx="72">
                  <c:v>0</c:v>
                </c:pt>
                <c:pt idx="73">
                  <c:v>217</c:v>
                </c:pt>
                <c:pt idx="74">
                  <c:v>214</c:v>
                </c:pt>
                <c:pt idx="75">
                  <c:v>214</c:v>
                </c:pt>
                <c:pt idx="76">
                  <c:v>252</c:v>
                </c:pt>
                <c:pt idx="77">
                  <c:v>220</c:v>
                </c:pt>
                <c:pt idx="78">
                  <c:v>214</c:v>
                </c:pt>
                <c:pt idx="79">
                  <c:v>203</c:v>
                </c:pt>
                <c:pt idx="80">
                  <c:v>0</c:v>
                </c:pt>
                <c:pt idx="81">
                  <c:v>339</c:v>
                </c:pt>
                <c:pt idx="82">
                  <c:v>216</c:v>
                </c:pt>
                <c:pt idx="83">
                  <c:v>276</c:v>
                </c:pt>
                <c:pt idx="84">
                  <c:v>458</c:v>
                </c:pt>
                <c:pt idx="85">
                  <c:v>241</c:v>
                </c:pt>
                <c:pt idx="86">
                  <c:v>384</c:v>
                </c:pt>
                <c:pt idx="87">
                  <c:v>297</c:v>
                </c:pt>
                <c:pt idx="88">
                  <c:v>248</c:v>
                </c:pt>
                <c:pt idx="89">
                  <c:v>308</c:v>
                </c:pt>
                <c:pt idx="90">
                  <c:v>208</c:v>
                </c:pt>
                <c:pt idx="91">
                  <c:v>227</c:v>
                </c:pt>
                <c:pt idx="92">
                  <c:v>210</c:v>
                </c:pt>
                <c:pt idx="93">
                  <c:v>245</c:v>
                </c:pt>
                <c:pt idx="94">
                  <c:v>225</c:v>
                </c:pt>
                <c:pt idx="95">
                  <c:v>240</c:v>
                </c:pt>
                <c:pt idx="96">
                  <c:v>0</c:v>
                </c:pt>
                <c:pt idx="97">
                  <c:v>198</c:v>
                </c:pt>
                <c:pt idx="98">
                  <c:v>195</c:v>
                </c:pt>
                <c:pt idx="99">
                  <c:v>267</c:v>
                </c:pt>
                <c:pt idx="100">
                  <c:v>161</c:v>
                </c:pt>
                <c:pt idx="101">
                  <c:v>258</c:v>
                </c:pt>
                <c:pt idx="102">
                  <c:v>0</c:v>
                </c:pt>
                <c:pt idx="103">
                  <c:v>0</c:v>
                </c:pt>
                <c:pt idx="104">
                  <c:v>195</c:v>
                </c:pt>
                <c:pt idx="105">
                  <c:v>235</c:v>
                </c:pt>
                <c:pt idx="106">
                  <c:v>0</c:v>
                </c:pt>
                <c:pt idx="107">
                  <c:v>305</c:v>
                </c:pt>
                <c:pt idx="108">
                  <c:v>223</c:v>
                </c:pt>
                <c:pt idx="109">
                  <c:v>282</c:v>
                </c:pt>
                <c:pt idx="110">
                  <c:v>349</c:v>
                </c:pt>
                <c:pt idx="111">
                  <c:v>160</c:v>
                </c:pt>
                <c:pt idx="112">
                  <c:v>160</c:v>
                </c:pt>
                <c:pt idx="113">
                  <c:v>236</c:v>
                </c:pt>
                <c:pt idx="114">
                  <c:v>312</c:v>
                </c:pt>
                <c:pt idx="115">
                  <c:v>283</c:v>
                </c:pt>
                <c:pt idx="116">
                  <c:v>142</c:v>
                </c:pt>
                <c:pt idx="117">
                  <c:v>211</c:v>
                </c:pt>
                <c:pt idx="118">
                  <c:v>218</c:v>
                </c:pt>
                <c:pt idx="119">
                  <c:v>306</c:v>
                </c:pt>
                <c:pt idx="120">
                  <c:v>186</c:v>
                </c:pt>
                <c:pt idx="121">
                  <c:v>252</c:v>
                </c:pt>
                <c:pt idx="122">
                  <c:v>222</c:v>
                </c:pt>
                <c:pt idx="123">
                  <c:v>0</c:v>
                </c:pt>
                <c:pt idx="124">
                  <c:v>0</c:v>
                </c:pt>
                <c:pt idx="125">
                  <c:v>258</c:v>
                </c:pt>
                <c:pt idx="126">
                  <c:v>202</c:v>
                </c:pt>
                <c:pt idx="127">
                  <c:v>197</c:v>
                </c:pt>
                <c:pt idx="128">
                  <c:v>204</c:v>
                </c:pt>
                <c:pt idx="129">
                  <c:v>113</c:v>
                </c:pt>
                <c:pt idx="130">
                  <c:v>274</c:v>
                </c:pt>
                <c:pt idx="131">
                  <c:v>192</c:v>
                </c:pt>
                <c:pt idx="132">
                  <c:v>298</c:v>
                </c:pt>
                <c:pt idx="133">
                  <c:v>272</c:v>
                </c:pt>
                <c:pt idx="134">
                  <c:v>220</c:v>
                </c:pt>
                <c:pt idx="135">
                  <c:v>200</c:v>
                </c:pt>
                <c:pt idx="136">
                  <c:v>261</c:v>
                </c:pt>
                <c:pt idx="137">
                  <c:v>181</c:v>
                </c:pt>
                <c:pt idx="138">
                  <c:v>260</c:v>
                </c:pt>
                <c:pt idx="139">
                  <c:v>220</c:v>
                </c:pt>
                <c:pt idx="140">
                  <c:v>221</c:v>
                </c:pt>
                <c:pt idx="141">
                  <c:v>216</c:v>
                </c:pt>
                <c:pt idx="142">
                  <c:v>175</c:v>
                </c:pt>
                <c:pt idx="143">
                  <c:v>219</c:v>
                </c:pt>
                <c:pt idx="144">
                  <c:v>310</c:v>
                </c:pt>
                <c:pt idx="145">
                  <c:v>208</c:v>
                </c:pt>
                <c:pt idx="146">
                  <c:v>232</c:v>
                </c:pt>
                <c:pt idx="147">
                  <c:v>273</c:v>
                </c:pt>
                <c:pt idx="148">
                  <c:v>203</c:v>
                </c:pt>
                <c:pt idx="149">
                  <c:v>182</c:v>
                </c:pt>
                <c:pt idx="150">
                  <c:v>274</c:v>
                </c:pt>
                <c:pt idx="151">
                  <c:v>204</c:v>
                </c:pt>
                <c:pt idx="152">
                  <c:v>270</c:v>
                </c:pt>
                <c:pt idx="153">
                  <c:v>292</c:v>
                </c:pt>
                <c:pt idx="154">
                  <c:v>171</c:v>
                </c:pt>
                <c:pt idx="155">
                  <c:v>221</c:v>
                </c:pt>
                <c:pt idx="156">
                  <c:v>289</c:v>
                </c:pt>
                <c:pt idx="157">
                  <c:v>217</c:v>
                </c:pt>
                <c:pt idx="158">
                  <c:v>223</c:v>
                </c:pt>
                <c:pt idx="159">
                  <c:v>110</c:v>
                </c:pt>
                <c:pt idx="160">
                  <c:v>193</c:v>
                </c:pt>
                <c:pt idx="161">
                  <c:v>123</c:v>
                </c:pt>
                <c:pt idx="162">
                  <c:v>210</c:v>
                </c:pt>
                <c:pt idx="163">
                  <c:v>282</c:v>
                </c:pt>
                <c:pt idx="164">
                  <c:v>170</c:v>
                </c:pt>
                <c:pt idx="165">
                  <c:v>369</c:v>
                </c:pt>
                <c:pt idx="166">
                  <c:v>173</c:v>
                </c:pt>
                <c:pt idx="167">
                  <c:v>289</c:v>
                </c:pt>
                <c:pt idx="168">
                  <c:v>152</c:v>
                </c:pt>
                <c:pt idx="169">
                  <c:v>208</c:v>
                </c:pt>
                <c:pt idx="170">
                  <c:v>216</c:v>
                </c:pt>
                <c:pt idx="171">
                  <c:v>271</c:v>
                </c:pt>
                <c:pt idx="172">
                  <c:v>244</c:v>
                </c:pt>
                <c:pt idx="173">
                  <c:v>285</c:v>
                </c:pt>
                <c:pt idx="174">
                  <c:v>243</c:v>
                </c:pt>
                <c:pt idx="175">
                  <c:v>240</c:v>
                </c:pt>
                <c:pt idx="176">
                  <c:v>219</c:v>
                </c:pt>
                <c:pt idx="177">
                  <c:v>237</c:v>
                </c:pt>
                <c:pt idx="178">
                  <c:v>165</c:v>
                </c:pt>
                <c:pt idx="179">
                  <c:v>213</c:v>
                </c:pt>
                <c:pt idx="180">
                  <c:v>287</c:v>
                </c:pt>
                <c:pt idx="181">
                  <c:v>258</c:v>
                </c:pt>
                <c:pt idx="182">
                  <c:v>256</c:v>
                </c:pt>
                <c:pt idx="183">
                  <c:v>186</c:v>
                </c:pt>
                <c:pt idx="184">
                  <c:v>264</c:v>
                </c:pt>
                <c:pt idx="185">
                  <c:v>185</c:v>
                </c:pt>
                <c:pt idx="186">
                  <c:v>226</c:v>
                </c:pt>
                <c:pt idx="187">
                  <c:v>203</c:v>
                </c:pt>
                <c:pt idx="188">
                  <c:v>207</c:v>
                </c:pt>
                <c:pt idx="189">
                  <c:v>284</c:v>
                </c:pt>
                <c:pt idx="190">
                  <c:v>337</c:v>
                </c:pt>
                <c:pt idx="191">
                  <c:v>310</c:v>
                </c:pt>
                <c:pt idx="192">
                  <c:v>254</c:v>
                </c:pt>
                <c:pt idx="193">
                  <c:v>258</c:v>
                </c:pt>
                <c:pt idx="194">
                  <c:v>254</c:v>
                </c:pt>
                <c:pt idx="195">
                  <c:v>300</c:v>
                </c:pt>
                <c:pt idx="196">
                  <c:v>170</c:v>
                </c:pt>
                <c:pt idx="197">
                  <c:v>310</c:v>
                </c:pt>
                <c:pt idx="198">
                  <c:v>333</c:v>
                </c:pt>
                <c:pt idx="199">
                  <c:v>139</c:v>
                </c:pt>
                <c:pt idx="200">
                  <c:v>223</c:v>
                </c:pt>
                <c:pt idx="201">
                  <c:v>385</c:v>
                </c:pt>
                <c:pt idx="202">
                  <c:v>254</c:v>
                </c:pt>
                <c:pt idx="203">
                  <c:v>322</c:v>
                </c:pt>
                <c:pt idx="204">
                  <c:v>564</c:v>
                </c:pt>
                <c:pt idx="205">
                  <c:v>261</c:v>
                </c:pt>
                <c:pt idx="206">
                  <c:v>263</c:v>
                </c:pt>
                <c:pt idx="207">
                  <c:v>269</c:v>
                </c:pt>
                <c:pt idx="208">
                  <c:v>177</c:v>
                </c:pt>
                <c:pt idx="209">
                  <c:v>256</c:v>
                </c:pt>
                <c:pt idx="210">
                  <c:v>239</c:v>
                </c:pt>
                <c:pt idx="211">
                  <c:v>293</c:v>
                </c:pt>
                <c:pt idx="212">
                  <c:v>407</c:v>
                </c:pt>
                <c:pt idx="213">
                  <c:v>234</c:v>
                </c:pt>
                <c:pt idx="214">
                  <c:v>226</c:v>
                </c:pt>
                <c:pt idx="215">
                  <c:v>235</c:v>
                </c:pt>
                <c:pt idx="216">
                  <c:v>234</c:v>
                </c:pt>
                <c:pt idx="217">
                  <c:v>303</c:v>
                </c:pt>
                <c:pt idx="218">
                  <c:v>149</c:v>
                </c:pt>
                <c:pt idx="219">
                  <c:v>311</c:v>
                </c:pt>
                <c:pt idx="220">
                  <c:v>203</c:v>
                </c:pt>
                <c:pt idx="221">
                  <c:v>211</c:v>
                </c:pt>
                <c:pt idx="222">
                  <c:v>199</c:v>
                </c:pt>
                <c:pt idx="223">
                  <c:v>229</c:v>
                </c:pt>
                <c:pt idx="224">
                  <c:v>245</c:v>
                </c:pt>
                <c:pt idx="225">
                  <c:v>303</c:v>
                </c:pt>
                <c:pt idx="226">
                  <c:v>204</c:v>
                </c:pt>
                <c:pt idx="227">
                  <c:v>288</c:v>
                </c:pt>
                <c:pt idx="228">
                  <c:v>275</c:v>
                </c:pt>
                <c:pt idx="229">
                  <c:v>243</c:v>
                </c:pt>
                <c:pt idx="230">
                  <c:v>295</c:v>
                </c:pt>
                <c:pt idx="231">
                  <c:v>230</c:v>
                </c:pt>
                <c:pt idx="232">
                  <c:v>265</c:v>
                </c:pt>
                <c:pt idx="233">
                  <c:v>229</c:v>
                </c:pt>
                <c:pt idx="234">
                  <c:v>228</c:v>
                </c:pt>
                <c:pt idx="235">
                  <c:v>215</c:v>
                </c:pt>
                <c:pt idx="236">
                  <c:v>326</c:v>
                </c:pt>
                <c:pt idx="237">
                  <c:v>200</c:v>
                </c:pt>
                <c:pt idx="238">
                  <c:v>256</c:v>
                </c:pt>
                <c:pt idx="239">
                  <c:v>207</c:v>
                </c:pt>
                <c:pt idx="240">
                  <c:v>273</c:v>
                </c:pt>
                <c:pt idx="241">
                  <c:v>180</c:v>
                </c:pt>
                <c:pt idx="242">
                  <c:v>222</c:v>
                </c:pt>
                <c:pt idx="243">
                  <c:v>223</c:v>
                </c:pt>
                <c:pt idx="244">
                  <c:v>209</c:v>
                </c:pt>
                <c:pt idx="245">
                  <c:v>233</c:v>
                </c:pt>
                <c:pt idx="246">
                  <c:v>197</c:v>
                </c:pt>
                <c:pt idx="247">
                  <c:v>218</c:v>
                </c:pt>
                <c:pt idx="248">
                  <c:v>211</c:v>
                </c:pt>
                <c:pt idx="249">
                  <c:v>149</c:v>
                </c:pt>
                <c:pt idx="250">
                  <c:v>197</c:v>
                </c:pt>
                <c:pt idx="251">
                  <c:v>246</c:v>
                </c:pt>
                <c:pt idx="252">
                  <c:v>225</c:v>
                </c:pt>
                <c:pt idx="253">
                  <c:v>315</c:v>
                </c:pt>
                <c:pt idx="254">
                  <c:v>205</c:v>
                </c:pt>
                <c:pt idx="255">
                  <c:v>417</c:v>
                </c:pt>
                <c:pt idx="256">
                  <c:v>195</c:v>
                </c:pt>
                <c:pt idx="257">
                  <c:v>234</c:v>
                </c:pt>
                <c:pt idx="258">
                  <c:v>198</c:v>
                </c:pt>
                <c:pt idx="259">
                  <c:v>166</c:v>
                </c:pt>
                <c:pt idx="260">
                  <c:v>178</c:v>
                </c:pt>
                <c:pt idx="261">
                  <c:v>249</c:v>
                </c:pt>
                <c:pt idx="262">
                  <c:v>281</c:v>
                </c:pt>
                <c:pt idx="263">
                  <c:v>126</c:v>
                </c:pt>
                <c:pt idx="264">
                  <c:v>305</c:v>
                </c:pt>
                <c:pt idx="265">
                  <c:v>226</c:v>
                </c:pt>
                <c:pt idx="266">
                  <c:v>240</c:v>
                </c:pt>
                <c:pt idx="267">
                  <c:v>233</c:v>
                </c:pt>
                <c:pt idx="268">
                  <c:v>276</c:v>
                </c:pt>
                <c:pt idx="269">
                  <c:v>261</c:v>
                </c:pt>
                <c:pt idx="270">
                  <c:v>319</c:v>
                </c:pt>
                <c:pt idx="271">
                  <c:v>242</c:v>
                </c:pt>
                <c:pt idx="272">
                  <c:v>243</c:v>
                </c:pt>
                <c:pt idx="273">
                  <c:v>260</c:v>
                </c:pt>
                <c:pt idx="274">
                  <c:v>354</c:v>
                </c:pt>
                <c:pt idx="275">
                  <c:v>245</c:v>
                </c:pt>
                <c:pt idx="276">
                  <c:v>197</c:v>
                </c:pt>
                <c:pt idx="277">
                  <c:v>223</c:v>
                </c:pt>
                <c:pt idx="278">
                  <c:v>309</c:v>
                </c:pt>
                <c:pt idx="279">
                  <c:v>208</c:v>
                </c:pt>
                <c:pt idx="280">
                  <c:v>199</c:v>
                </c:pt>
                <c:pt idx="281">
                  <c:v>209</c:v>
                </c:pt>
                <c:pt idx="282">
                  <c:v>236</c:v>
                </c:pt>
                <c:pt idx="283">
                  <c:v>218</c:v>
                </c:pt>
                <c:pt idx="284">
                  <c:v>198</c:v>
                </c:pt>
                <c:pt idx="285">
                  <c:v>270</c:v>
                </c:pt>
                <c:pt idx="286">
                  <c:v>214</c:v>
                </c:pt>
                <c:pt idx="287">
                  <c:v>201</c:v>
                </c:pt>
                <c:pt idx="288">
                  <c:v>244</c:v>
                </c:pt>
                <c:pt idx="289">
                  <c:v>208</c:v>
                </c:pt>
                <c:pt idx="290">
                  <c:v>270</c:v>
                </c:pt>
                <c:pt idx="291">
                  <c:v>306</c:v>
                </c:pt>
                <c:pt idx="292">
                  <c:v>243</c:v>
                </c:pt>
                <c:pt idx="293">
                  <c:v>221</c:v>
                </c:pt>
                <c:pt idx="294">
                  <c:v>330</c:v>
                </c:pt>
                <c:pt idx="295">
                  <c:v>266</c:v>
                </c:pt>
                <c:pt idx="296">
                  <c:v>206</c:v>
                </c:pt>
                <c:pt idx="297">
                  <c:v>212</c:v>
                </c:pt>
                <c:pt idx="298">
                  <c:v>275</c:v>
                </c:pt>
                <c:pt idx="299">
                  <c:v>302</c:v>
                </c:pt>
                <c:pt idx="300">
                  <c:v>234</c:v>
                </c:pt>
                <c:pt idx="301">
                  <c:v>313</c:v>
                </c:pt>
                <c:pt idx="302">
                  <c:v>244</c:v>
                </c:pt>
                <c:pt idx="303">
                  <c:v>141</c:v>
                </c:pt>
                <c:pt idx="304">
                  <c:v>237</c:v>
                </c:pt>
                <c:pt idx="305">
                  <c:v>269</c:v>
                </c:pt>
                <c:pt idx="306">
                  <c:v>289</c:v>
                </c:pt>
                <c:pt idx="307">
                  <c:v>254</c:v>
                </c:pt>
                <c:pt idx="308">
                  <c:v>274</c:v>
                </c:pt>
                <c:pt idx="309">
                  <c:v>222</c:v>
                </c:pt>
                <c:pt idx="310">
                  <c:v>258</c:v>
                </c:pt>
                <c:pt idx="311">
                  <c:v>177</c:v>
                </c:pt>
                <c:pt idx="312">
                  <c:v>160</c:v>
                </c:pt>
                <c:pt idx="313">
                  <c:v>327</c:v>
                </c:pt>
                <c:pt idx="314">
                  <c:v>235</c:v>
                </c:pt>
                <c:pt idx="315">
                  <c:v>305</c:v>
                </c:pt>
                <c:pt idx="316">
                  <c:v>304</c:v>
                </c:pt>
                <c:pt idx="317">
                  <c:v>295</c:v>
                </c:pt>
                <c:pt idx="318">
                  <c:v>271</c:v>
                </c:pt>
                <c:pt idx="319">
                  <c:v>249</c:v>
                </c:pt>
                <c:pt idx="320">
                  <c:v>288</c:v>
                </c:pt>
                <c:pt idx="321">
                  <c:v>226</c:v>
                </c:pt>
                <c:pt idx="322">
                  <c:v>283</c:v>
                </c:pt>
                <c:pt idx="323">
                  <c:v>188</c:v>
                </c:pt>
                <c:pt idx="324">
                  <c:v>286</c:v>
                </c:pt>
                <c:pt idx="325">
                  <c:v>274</c:v>
                </c:pt>
                <c:pt idx="326">
                  <c:v>360</c:v>
                </c:pt>
                <c:pt idx="327">
                  <c:v>273</c:v>
                </c:pt>
                <c:pt idx="328">
                  <c:v>201</c:v>
                </c:pt>
                <c:pt idx="329">
                  <c:v>267</c:v>
                </c:pt>
                <c:pt idx="330">
                  <c:v>196</c:v>
                </c:pt>
                <c:pt idx="331">
                  <c:v>201</c:v>
                </c:pt>
                <c:pt idx="332">
                  <c:v>230</c:v>
                </c:pt>
                <c:pt idx="333">
                  <c:v>269</c:v>
                </c:pt>
                <c:pt idx="334">
                  <c:v>212</c:v>
                </c:pt>
                <c:pt idx="335">
                  <c:v>226</c:v>
                </c:pt>
                <c:pt idx="336">
                  <c:v>246</c:v>
                </c:pt>
                <c:pt idx="337">
                  <c:v>232</c:v>
                </c:pt>
                <c:pt idx="338">
                  <c:v>177</c:v>
                </c:pt>
                <c:pt idx="339">
                  <c:v>277</c:v>
                </c:pt>
                <c:pt idx="340">
                  <c:v>249</c:v>
                </c:pt>
                <c:pt idx="341">
                  <c:v>210</c:v>
                </c:pt>
                <c:pt idx="342">
                  <c:v>207</c:v>
                </c:pt>
                <c:pt idx="343">
                  <c:v>212</c:v>
                </c:pt>
                <c:pt idx="344">
                  <c:v>271</c:v>
                </c:pt>
                <c:pt idx="345">
                  <c:v>233</c:v>
                </c:pt>
                <c:pt idx="346">
                  <c:v>213</c:v>
                </c:pt>
                <c:pt idx="347">
                  <c:v>283</c:v>
                </c:pt>
                <c:pt idx="348">
                  <c:v>282</c:v>
                </c:pt>
                <c:pt idx="349">
                  <c:v>230</c:v>
                </c:pt>
                <c:pt idx="350">
                  <c:v>167</c:v>
                </c:pt>
                <c:pt idx="351">
                  <c:v>224</c:v>
                </c:pt>
                <c:pt idx="352">
                  <c:v>268</c:v>
                </c:pt>
                <c:pt idx="353">
                  <c:v>250</c:v>
                </c:pt>
                <c:pt idx="354">
                  <c:v>219</c:v>
                </c:pt>
                <c:pt idx="355">
                  <c:v>267</c:v>
                </c:pt>
                <c:pt idx="356">
                  <c:v>303</c:v>
                </c:pt>
                <c:pt idx="357">
                  <c:v>256</c:v>
                </c:pt>
                <c:pt idx="358">
                  <c:v>204</c:v>
                </c:pt>
                <c:pt idx="359">
                  <c:v>217</c:v>
                </c:pt>
                <c:pt idx="360">
                  <c:v>308</c:v>
                </c:pt>
                <c:pt idx="361">
                  <c:v>193</c:v>
                </c:pt>
                <c:pt idx="362">
                  <c:v>228</c:v>
                </c:pt>
                <c:pt idx="363">
                  <c:v>231</c:v>
                </c:pt>
                <c:pt idx="364">
                  <c:v>244</c:v>
                </c:pt>
                <c:pt idx="365">
                  <c:v>262</c:v>
                </c:pt>
                <c:pt idx="366">
                  <c:v>259</c:v>
                </c:pt>
                <c:pt idx="367">
                  <c:v>211</c:v>
                </c:pt>
                <c:pt idx="368">
                  <c:v>325</c:v>
                </c:pt>
                <c:pt idx="369">
                  <c:v>254</c:v>
                </c:pt>
                <c:pt idx="370">
                  <c:v>197</c:v>
                </c:pt>
                <c:pt idx="371">
                  <c:v>236</c:v>
                </c:pt>
                <c:pt idx="372">
                  <c:v>282</c:v>
                </c:pt>
                <c:pt idx="373">
                  <c:v>234</c:v>
                </c:pt>
                <c:pt idx="374">
                  <c:v>254</c:v>
                </c:pt>
                <c:pt idx="375">
                  <c:v>299</c:v>
                </c:pt>
                <c:pt idx="376">
                  <c:v>211</c:v>
                </c:pt>
                <c:pt idx="377">
                  <c:v>182</c:v>
                </c:pt>
                <c:pt idx="378">
                  <c:v>294</c:v>
                </c:pt>
                <c:pt idx="379">
                  <c:v>298</c:v>
                </c:pt>
                <c:pt idx="380">
                  <c:v>231</c:v>
                </c:pt>
                <c:pt idx="381">
                  <c:v>254</c:v>
                </c:pt>
                <c:pt idx="382">
                  <c:v>196</c:v>
                </c:pt>
                <c:pt idx="383">
                  <c:v>240</c:v>
                </c:pt>
                <c:pt idx="384">
                  <c:v>409</c:v>
                </c:pt>
                <c:pt idx="385">
                  <c:v>172</c:v>
                </c:pt>
                <c:pt idx="386">
                  <c:v>265</c:v>
                </c:pt>
                <c:pt idx="387">
                  <c:v>246</c:v>
                </c:pt>
                <c:pt idx="388">
                  <c:v>315</c:v>
                </c:pt>
                <c:pt idx="389">
                  <c:v>184</c:v>
                </c:pt>
                <c:pt idx="390">
                  <c:v>233</c:v>
                </c:pt>
                <c:pt idx="391">
                  <c:v>394</c:v>
                </c:pt>
                <c:pt idx="392">
                  <c:v>269</c:v>
                </c:pt>
                <c:pt idx="393">
                  <c:v>239</c:v>
                </c:pt>
                <c:pt idx="394">
                  <c:v>174</c:v>
                </c:pt>
                <c:pt idx="395">
                  <c:v>309</c:v>
                </c:pt>
                <c:pt idx="396">
                  <c:v>282</c:v>
                </c:pt>
                <c:pt idx="397">
                  <c:v>255</c:v>
                </c:pt>
                <c:pt idx="398">
                  <c:v>250</c:v>
                </c:pt>
                <c:pt idx="399">
                  <c:v>248</c:v>
                </c:pt>
                <c:pt idx="400">
                  <c:v>214</c:v>
                </c:pt>
                <c:pt idx="401">
                  <c:v>239</c:v>
                </c:pt>
                <c:pt idx="402">
                  <c:v>304</c:v>
                </c:pt>
                <c:pt idx="403">
                  <c:v>277</c:v>
                </c:pt>
                <c:pt idx="404">
                  <c:v>300</c:v>
                </c:pt>
                <c:pt idx="405">
                  <c:v>258</c:v>
                </c:pt>
                <c:pt idx="406">
                  <c:v>299</c:v>
                </c:pt>
                <c:pt idx="407">
                  <c:v>289</c:v>
                </c:pt>
                <c:pt idx="408">
                  <c:v>298</c:v>
                </c:pt>
                <c:pt idx="409">
                  <c:v>318</c:v>
                </c:pt>
                <c:pt idx="410">
                  <c:v>240</c:v>
                </c:pt>
                <c:pt idx="411">
                  <c:v>309</c:v>
                </c:pt>
                <c:pt idx="412">
                  <c:v>250</c:v>
                </c:pt>
                <c:pt idx="413">
                  <c:v>288</c:v>
                </c:pt>
                <c:pt idx="414">
                  <c:v>245</c:v>
                </c:pt>
                <c:pt idx="415">
                  <c:v>213</c:v>
                </c:pt>
                <c:pt idx="416">
                  <c:v>216</c:v>
                </c:pt>
                <c:pt idx="417">
                  <c:v>204</c:v>
                </c:pt>
                <c:pt idx="418">
                  <c:v>204</c:v>
                </c:pt>
                <c:pt idx="419">
                  <c:v>252</c:v>
                </c:pt>
                <c:pt idx="420">
                  <c:v>227</c:v>
                </c:pt>
                <c:pt idx="421">
                  <c:v>258</c:v>
                </c:pt>
                <c:pt idx="422">
                  <c:v>220</c:v>
                </c:pt>
                <c:pt idx="423">
                  <c:v>239</c:v>
                </c:pt>
                <c:pt idx="424">
                  <c:v>254</c:v>
                </c:pt>
                <c:pt idx="425">
                  <c:v>168</c:v>
                </c:pt>
                <c:pt idx="426">
                  <c:v>330</c:v>
                </c:pt>
                <c:pt idx="427">
                  <c:v>183</c:v>
                </c:pt>
                <c:pt idx="428">
                  <c:v>203</c:v>
                </c:pt>
                <c:pt idx="429">
                  <c:v>263</c:v>
                </c:pt>
                <c:pt idx="430">
                  <c:v>341</c:v>
                </c:pt>
                <c:pt idx="431">
                  <c:v>283</c:v>
                </c:pt>
                <c:pt idx="432">
                  <c:v>186</c:v>
                </c:pt>
                <c:pt idx="433">
                  <c:v>307</c:v>
                </c:pt>
                <c:pt idx="434">
                  <c:v>219</c:v>
                </c:pt>
                <c:pt idx="435">
                  <c:v>260</c:v>
                </c:pt>
                <c:pt idx="436">
                  <c:v>255</c:v>
                </c:pt>
                <c:pt idx="437">
                  <c:v>231</c:v>
                </c:pt>
                <c:pt idx="438">
                  <c:v>164</c:v>
                </c:pt>
                <c:pt idx="439">
                  <c:v>234</c:v>
                </c:pt>
                <c:pt idx="440">
                  <c:v>177</c:v>
                </c:pt>
                <c:pt idx="441">
                  <c:v>257</c:v>
                </c:pt>
                <c:pt idx="442">
                  <c:v>325</c:v>
                </c:pt>
                <c:pt idx="443">
                  <c:v>274</c:v>
                </c:pt>
                <c:pt idx="444">
                  <c:v>321</c:v>
                </c:pt>
                <c:pt idx="445">
                  <c:v>264</c:v>
                </c:pt>
                <c:pt idx="446">
                  <c:v>268</c:v>
                </c:pt>
                <c:pt idx="447">
                  <c:v>308</c:v>
                </c:pt>
                <c:pt idx="448">
                  <c:v>253</c:v>
                </c:pt>
                <c:pt idx="449">
                  <c:v>248</c:v>
                </c:pt>
                <c:pt idx="450">
                  <c:v>269</c:v>
                </c:pt>
                <c:pt idx="451">
                  <c:v>185</c:v>
                </c:pt>
                <c:pt idx="452">
                  <c:v>282</c:v>
                </c:pt>
                <c:pt idx="453">
                  <c:v>188</c:v>
                </c:pt>
                <c:pt idx="454">
                  <c:v>219</c:v>
                </c:pt>
                <c:pt idx="455">
                  <c:v>290</c:v>
                </c:pt>
                <c:pt idx="456">
                  <c:v>175</c:v>
                </c:pt>
                <c:pt idx="457">
                  <c:v>212</c:v>
                </c:pt>
                <c:pt idx="458">
                  <c:v>302</c:v>
                </c:pt>
                <c:pt idx="459">
                  <c:v>243</c:v>
                </c:pt>
                <c:pt idx="460">
                  <c:v>353</c:v>
                </c:pt>
                <c:pt idx="461">
                  <c:v>335</c:v>
                </c:pt>
                <c:pt idx="462">
                  <c:v>247</c:v>
                </c:pt>
                <c:pt idx="463">
                  <c:v>340</c:v>
                </c:pt>
                <c:pt idx="464">
                  <c:v>206</c:v>
                </c:pt>
                <c:pt idx="465">
                  <c:v>284</c:v>
                </c:pt>
                <c:pt idx="466">
                  <c:v>266</c:v>
                </c:pt>
                <c:pt idx="467">
                  <c:v>229</c:v>
                </c:pt>
                <c:pt idx="468">
                  <c:v>199</c:v>
                </c:pt>
                <c:pt idx="469">
                  <c:v>263</c:v>
                </c:pt>
                <c:pt idx="470">
                  <c:v>294</c:v>
                </c:pt>
                <c:pt idx="471">
                  <c:v>192</c:v>
                </c:pt>
                <c:pt idx="472">
                  <c:v>286</c:v>
                </c:pt>
                <c:pt idx="473">
                  <c:v>216</c:v>
                </c:pt>
                <c:pt idx="474">
                  <c:v>223</c:v>
                </c:pt>
                <c:pt idx="475">
                  <c:v>247</c:v>
                </c:pt>
                <c:pt idx="476">
                  <c:v>204</c:v>
                </c:pt>
                <c:pt idx="477">
                  <c:v>204</c:v>
                </c:pt>
                <c:pt idx="478">
                  <c:v>227</c:v>
                </c:pt>
                <c:pt idx="479">
                  <c:v>278</c:v>
                </c:pt>
                <c:pt idx="480">
                  <c:v>220</c:v>
                </c:pt>
                <c:pt idx="481">
                  <c:v>232</c:v>
                </c:pt>
                <c:pt idx="482">
                  <c:v>197</c:v>
                </c:pt>
                <c:pt idx="483">
                  <c:v>335</c:v>
                </c:pt>
                <c:pt idx="484">
                  <c:v>253</c:v>
                </c:pt>
                <c:pt idx="485">
                  <c:v>205</c:v>
                </c:pt>
                <c:pt idx="486">
                  <c:v>192</c:v>
                </c:pt>
                <c:pt idx="487">
                  <c:v>203</c:v>
                </c:pt>
                <c:pt idx="488">
                  <c:v>318</c:v>
                </c:pt>
                <c:pt idx="489">
                  <c:v>225</c:v>
                </c:pt>
                <c:pt idx="490">
                  <c:v>220</c:v>
                </c:pt>
                <c:pt idx="491">
                  <c:v>221</c:v>
                </c:pt>
                <c:pt idx="492">
                  <c:v>240</c:v>
                </c:pt>
                <c:pt idx="493">
                  <c:v>212</c:v>
                </c:pt>
                <c:pt idx="494">
                  <c:v>342</c:v>
                </c:pt>
                <c:pt idx="495">
                  <c:v>169</c:v>
                </c:pt>
                <c:pt idx="496">
                  <c:v>187</c:v>
                </c:pt>
                <c:pt idx="497">
                  <c:v>197</c:v>
                </c:pt>
                <c:pt idx="498">
                  <c:v>157</c:v>
                </c:pt>
                <c:pt idx="499">
                  <c:v>176</c:v>
                </c:pt>
                <c:pt idx="500">
                  <c:v>241</c:v>
                </c:pt>
                <c:pt idx="501">
                  <c:v>264</c:v>
                </c:pt>
                <c:pt idx="502">
                  <c:v>193</c:v>
                </c:pt>
                <c:pt idx="503">
                  <c:v>131</c:v>
                </c:pt>
                <c:pt idx="504">
                  <c:v>236</c:v>
                </c:pt>
                <c:pt idx="505">
                  <c:v>175</c:v>
                </c:pt>
              </c:numCache>
            </c:numRef>
          </c:val>
          <c:extLst>
            <c:ext xmlns:c16="http://schemas.microsoft.com/office/drawing/2014/chart" uri="{C3380CC4-5D6E-409C-BE32-E72D297353CC}">
              <c16:uniqueId val="{00000000-C7A5-42EC-9B23-78F765CC72B0}"/>
            </c:ext>
          </c:extLst>
        </c:ser>
        <c:dLbls>
          <c:showLegendKey val="0"/>
          <c:showVal val="0"/>
          <c:showCatName val="0"/>
          <c:showSerName val="0"/>
          <c:showPercent val="0"/>
          <c:showBubbleSize val="0"/>
        </c:dLbls>
        <c:axId val="288185351"/>
        <c:axId val="288187399"/>
      </c:areaChart>
      <c:catAx>
        <c:axId val="288185351"/>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8187399"/>
        <c:crosses val="autoZero"/>
        <c:auto val="1"/>
        <c:lblAlgn val="ctr"/>
        <c:lblOffset val="100"/>
        <c:noMultiLvlLbl val="0"/>
      </c:catAx>
      <c:valAx>
        <c:axId val="28818739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Cholesterol</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8185351"/>
        <c:crosses val="autoZero"/>
        <c:crossBetween val="midCat"/>
      </c:valAx>
      <c:spPr>
        <a:noFill/>
        <a:ln>
          <a:noFill/>
        </a:ln>
        <a:effectLst/>
      </c:spPr>
    </c:plotArea>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590458-5C7D-48B5-BB7A-7427C2CEB07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A5B4F59-FA77-4FC0-BBA1-84BCC02B12B1}">
      <dgm:prSet/>
      <dgm:spPr/>
      <dgm:t>
        <a:bodyPr/>
        <a:lstStyle/>
        <a:p>
          <a:r>
            <a:rPr lang="en-US"/>
            <a:t>Cholesterol mean (for people </a:t>
          </a:r>
          <a:r>
            <a:rPr lang="en-US">
              <a:latin typeface="Aptos Display" panose="020F0302020204030204"/>
            </a:rPr>
            <a:t>without</a:t>
          </a:r>
          <a:r>
            <a:rPr lang="en-US"/>
            <a:t> heart disease): </a:t>
          </a:r>
          <a:r>
            <a:rPr lang="en-US">
              <a:latin typeface="Aptos Display" panose="020F0302020204030204"/>
            </a:rPr>
            <a:t>177</a:t>
          </a:r>
          <a:endParaRPr lang="en-US"/>
        </a:p>
      </dgm:t>
    </dgm:pt>
    <dgm:pt modelId="{455AAAAB-68E2-4668-A75B-9D47CD034FB8}" type="parTrans" cxnId="{0E7E8BB5-F570-4A42-A67E-A3013CE6621C}">
      <dgm:prSet/>
      <dgm:spPr/>
      <dgm:t>
        <a:bodyPr/>
        <a:lstStyle/>
        <a:p>
          <a:endParaRPr lang="en-US"/>
        </a:p>
      </dgm:t>
    </dgm:pt>
    <dgm:pt modelId="{1996AE09-0215-499C-838B-88EC13C4F471}" type="sibTrans" cxnId="{0E7E8BB5-F570-4A42-A67E-A3013CE6621C}">
      <dgm:prSet/>
      <dgm:spPr/>
      <dgm:t>
        <a:bodyPr/>
        <a:lstStyle/>
        <a:p>
          <a:endParaRPr lang="en-US"/>
        </a:p>
      </dgm:t>
    </dgm:pt>
    <dgm:pt modelId="{87EC671D-8FE8-4492-9889-156B097E640B}">
      <dgm:prSet/>
      <dgm:spPr/>
      <dgm:t>
        <a:bodyPr/>
        <a:lstStyle/>
        <a:p>
          <a:r>
            <a:rPr lang="en-US"/>
            <a:t>Standard deviation: ± 0.209</a:t>
          </a:r>
        </a:p>
      </dgm:t>
    </dgm:pt>
    <dgm:pt modelId="{BA84A56E-1FC5-49D5-8AE9-313A04D30D28}" type="parTrans" cxnId="{84376F48-7FF3-444B-9DEA-47C6BC353FEB}">
      <dgm:prSet/>
      <dgm:spPr/>
      <dgm:t>
        <a:bodyPr/>
        <a:lstStyle/>
        <a:p>
          <a:endParaRPr lang="en-US"/>
        </a:p>
      </dgm:t>
    </dgm:pt>
    <dgm:pt modelId="{29D211C1-F479-4931-AE9F-1889AE72EF5B}" type="sibTrans" cxnId="{84376F48-7FF3-444B-9DEA-47C6BC353FEB}">
      <dgm:prSet/>
      <dgm:spPr/>
      <dgm:t>
        <a:bodyPr/>
        <a:lstStyle/>
        <a:p>
          <a:endParaRPr lang="en-US"/>
        </a:p>
      </dgm:t>
    </dgm:pt>
    <dgm:pt modelId="{32A8A8B5-D502-4DC5-A41D-0812A3B4E145}">
      <dgm:prSet/>
      <dgm:spPr/>
      <dgm:t>
        <a:bodyPr/>
        <a:lstStyle/>
        <a:p>
          <a:r>
            <a:rPr lang="en-US"/>
            <a:t>Cholesterol mean (for people </a:t>
          </a:r>
          <a:r>
            <a:rPr lang="en-US">
              <a:latin typeface="Aptos Display" panose="020F0302020204030204"/>
            </a:rPr>
            <a:t>with</a:t>
          </a:r>
          <a:r>
            <a:rPr lang="en-US"/>
            <a:t> heart disease): </a:t>
          </a:r>
          <a:r>
            <a:rPr lang="en-US">
              <a:latin typeface="Aptos Display" panose="020F0302020204030204"/>
            </a:rPr>
            <a:t>217</a:t>
          </a:r>
          <a:endParaRPr lang="en-US"/>
        </a:p>
      </dgm:t>
    </dgm:pt>
    <dgm:pt modelId="{27AA145A-4747-427B-A072-E1EC3AE70A5F}" type="parTrans" cxnId="{D9C3B882-1833-436E-A03D-C995A38FBF7A}">
      <dgm:prSet/>
      <dgm:spPr/>
      <dgm:t>
        <a:bodyPr/>
        <a:lstStyle/>
        <a:p>
          <a:endParaRPr lang="en-US"/>
        </a:p>
      </dgm:t>
    </dgm:pt>
    <dgm:pt modelId="{D608A1D1-A541-487F-9B01-489AF0B98D9C}" type="sibTrans" cxnId="{D9C3B882-1833-436E-A03D-C995A38FBF7A}">
      <dgm:prSet/>
      <dgm:spPr/>
      <dgm:t>
        <a:bodyPr/>
        <a:lstStyle/>
        <a:p>
          <a:endParaRPr lang="en-US"/>
        </a:p>
      </dgm:t>
    </dgm:pt>
    <dgm:pt modelId="{0428B3AD-C087-42AA-9D20-385C84A948A0}">
      <dgm:prSet/>
      <dgm:spPr/>
      <dgm:t>
        <a:bodyPr/>
        <a:lstStyle/>
        <a:p>
          <a:r>
            <a:rPr lang="en-US"/>
            <a:t>Standard deviation: ± 0.123</a:t>
          </a:r>
        </a:p>
      </dgm:t>
    </dgm:pt>
    <dgm:pt modelId="{E6E2888F-B56D-4CD2-9657-A8B277774C08}" type="parTrans" cxnId="{18ADAB9E-3557-4CD9-B28E-3FDDDAC067DF}">
      <dgm:prSet/>
      <dgm:spPr/>
      <dgm:t>
        <a:bodyPr/>
        <a:lstStyle/>
        <a:p>
          <a:endParaRPr lang="en-US"/>
        </a:p>
      </dgm:t>
    </dgm:pt>
    <dgm:pt modelId="{59C0737E-2B6E-4C33-B16F-1E05F3B26176}" type="sibTrans" cxnId="{18ADAB9E-3557-4CD9-B28E-3FDDDAC067DF}">
      <dgm:prSet/>
      <dgm:spPr/>
      <dgm:t>
        <a:bodyPr/>
        <a:lstStyle/>
        <a:p>
          <a:endParaRPr lang="en-US"/>
        </a:p>
      </dgm:t>
    </dgm:pt>
    <dgm:pt modelId="{87C12D65-F56C-4DD5-A190-8DA79BFB92B2}">
      <dgm:prSet/>
      <dgm:spPr/>
      <dgm:t>
        <a:bodyPr/>
        <a:lstStyle/>
        <a:p>
          <a:r>
            <a:rPr lang="en-US"/>
            <a:t>Total Cholesterol mean: 198</a:t>
          </a:r>
        </a:p>
      </dgm:t>
    </dgm:pt>
    <dgm:pt modelId="{F314A7FD-97DD-47C1-BA2D-92E8BBFCDFF4}" type="parTrans" cxnId="{D968E385-8292-4499-9D1B-30C2B046AF3F}">
      <dgm:prSet/>
      <dgm:spPr/>
      <dgm:t>
        <a:bodyPr/>
        <a:lstStyle/>
        <a:p>
          <a:endParaRPr lang="en-US"/>
        </a:p>
      </dgm:t>
    </dgm:pt>
    <dgm:pt modelId="{C91BE343-32DB-4601-9CD5-3B5258E9BA9C}" type="sibTrans" cxnId="{D968E385-8292-4499-9D1B-30C2B046AF3F}">
      <dgm:prSet/>
      <dgm:spPr/>
      <dgm:t>
        <a:bodyPr/>
        <a:lstStyle/>
        <a:p>
          <a:endParaRPr lang="en-US"/>
        </a:p>
      </dgm:t>
    </dgm:pt>
    <dgm:pt modelId="{04711EBF-8C25-498D-B25C-EE013EE05F13}">
      <dgm:prSet/>
      <dgm:spPr/>
      <dgm:t>
        <a:bodyPr/>
        <a:lstStyle/>
        <a:p>
          <a:r>
            <a:rPr lang="en-US"/>
            <a:t>Standard deviation: ± 0.145</a:t>
          </a:r>
        </a:p>
      </dgm:t>
    </dgm:pt>
    <dgm:pt modelId="{4E74A7FF-293B-49F7-B35D-194978513569}" type="parTrans" cxnId="{3F05BAC5-9528-49C2-B11C-3F1257048148}">
      <dgm:prSet/>
      <dgm:spPr/>
      <dgm:t>
        <a:bodyPr/>
        <a:lstStyle/>
        <a:p>
          <a:endParaRPr lang="en-US"/>
        </a:p>
      </dgm:t>
    </dgm:pt>
    <dgm:pt modelId="{C8033910-B167-44E0-87BB-EA76244B8B3D}" type="sibTrans" cxnId="{3F05BAC5-9528-49C2-B11C-3F1257048148}">
      <dgm:prSet/>
      <dgm:spPr/>
      <dgm:t>
        <a:bodyPr/>
        <a:lstStyle/>
        <a:p>
          <a:endParaRPr lang="en-US"/>
        </a:p>
      </dgm:t>
    </dgm:pt>
    <dgm:pt modelId="{26CD0276-B4E2-45A8-8A9C-7620ACFC34CA}" type="pres">
      <dgm:prSet presAssocID="{30590458-5C7D-48B5-BB7A-7427C2CEB074}" presName="linear" presStyleCnt="0">
        <dgm:presLayoutVars>
          <dgm:animLvl val="lvl"/>
          <dgm:resizeHandles val="exact"/>
        </dgm:presLayoutVars>
      </dgm:prSet>
      <dgm:spPr/>
    </dgm:pt>
    <dgm:pt modelId="{03D5ACD3-469F-4B03-B339-D9FDF1AC5DEB}" type="pres">
      <dgm:prSet presAssocID="{CA5B4F59-FA77-4FC0-BBA1-84BCC02B12B1}" presName="parentText" presStyleLbl="node1" presStyleIdx="0" presStyleCnt="3">
        <dgm:presLayoutVars>
          <dgm:chMax val="0"/>
          <dgm:bulletEnabled val="1"/>
        </dgm:presLayoutVars>
      </dgm:prSet>
      <dgm:spPr/>
    </dgm:pt>
    <dgm:pt modelId="{030EB721-3712-4D77-90D1-A84BE16F0B8D}" type="pres">
      <dgm:prSet presAssocID="{CA5B4F59-FA77-4FC0-BBA1-84BCC02B12B1}" presName="childText" presStyleLbl="revTx" presStyleIdx="0" presStyleCnt="3">
        <dgm:presLayoutVars>
          <dgm:bulletEnabled val="1"/>
        </dgm:presLayoutVars>
      </dgm:prSet>
      <dgm:spPr/>
    </dgm:pt>
    <dgm:pt modelId="{9424AB90-FD77-4CF8-BEBF-BFE435F27E16}" type="pres">
      <dgm:prSet presAssocID="{32A8A8B5-D502-4DC5-A41D-0812A3B4E145}" presName="parentText" presStyleLbl="node1" presStyleIdx="1" presStyleCnt="3">
        <dgm:presLayoutVars>
          <dgm:chMax val="0"/>
          <dgm:bulletEnabled val="1"/>
        </dgm:presLayoutVars>
      </dgm:prSet>
      <dgm:spPr/>
    </dgm:pt>
    <dgm:pt modelId="{39393A59-7602-4745-AD8E-500254D5B592}" type="pres">
      <dgm:prSet presAssocID="{32A8A8B5-D502-4DC5-A41D-0812A3B4E145}" presName="childText" presStyleLbl="revTx" presStyleIdx="1" presStyleCnt="3">
        <dgm:presLayoutVars>
          <dgm:bulletEnabled val="1"/>
        </dgm:presLayoutVars>
      </dgm:prSet>
      <dgm:spPr/>
    </dgm:pt>
    <dgm:pt modelId="{CFF9A03B-3F10-4581-AE22-FBF526DBEDED}" type="pres">
      <dgm:prSet presAssocID="{87C12D65-F56C-4DD5-A190-8DA79BFB92B2}" presName="parentText" presStyleLbl="node1" presStyleIdx="2" presStyleCnt="3">
        <dgm:presLayoutVars>
          <dgm:chMax val="0"/>
          <dgm:bulletEnabled val="1"/>
        </dgm:presLayoutVars>
      </dgm:prSet>
      <dgm:spPr/>
    </dgm:pt>
    <dgm:pt modelId="{423FEA37-50D2-48C4-9448-AD182CED0E17}" type="pres">
      <dgm:prSet presAssocID="{87C12D65-F56C-4DD5-A190-8DA79BFB92B2}" presName="childText" presStyleLbl="revTx" presStyleIdx="2" presStyleCnt="3">
        <dgm:presLayoutVars>
          <dgm:bulletEnabled val="1"/>
        </dgm:presLayoutVars>
      </dgm:prSet>
      <dgm:spPr/>
    </dgm:pt>
  </dgm:ptLst>
  <dgm:cxnLst>
    <dgm:cxn modelId="{74FCBC12-5136-4137-98E4-D9D0198F18A1}" type="presOf" srcId="{32A8A8B5-D502-4DC5-A41D-0812A3B4E145}" destId="{9424AB90-FD77-4CF8-BEBF-BFE435F27E16}" srcOrd="0" destOrd="0" presId="urn:microsoft.com/office/officeart/2005/8/layout/vList2"/>
    <dgm:cxn modelId="{84376F48-7FF3-444B-9DEA-47C6BC353FEB}" srcId="{CA5B4F59-FA77-4FC0-BBA1-84BCC02B12B1}" destId="{87EC671D-8FE8-4492-9889-156B097E640B}" srcOrd="0" destOrd="0" parTransId="{BA84A56E-1FC5-49D5-8AE9-313A04D30D28}" sibTransId="{29D211C1-F479-4931-AE9F-1889AE72EF5B}"/>
    <dgm:cxn modelId="{80407F4F-46D5-4FF2-A489-17BCA4345B79}" type="presOf" srcId="{0428B3AD-C087-42AA-9D20-385C84A948A0}" destId="{39393A59-7602-4745-AD8E-500254D5B592}" srcOrd="0" destOrd="0" presId="urn:microsoft.com/office/officeart/2005/8/layout/vList2"/>
    <dgm:cxn modelId="{A475357B-E1C8-4AC0-8240-3D6CB5BAE325}" type="presOf" srcId="{87EC671D-8FE8-4492-9889-156B097E640B}" destId="{030EB721-3712-4D77-90D1-A84BE16F0B8D}" srcOrd="0" destOrd="0" presId="urn:microsoft.com/office/officeart/2005/8/layout/vList2"/>
    <dgm:cxn modelId="{D9C3B882-1833-436E-A03D-C995A38FBF7A}" srcId="{30590458-5C7D-48B5-BB7A-7427C2CEB074}" destId="{32A8A8B5-D502-4DC5-A41D-0812A3B4E145}" srcOrd="1" destOrd="0" parTransId="{27AA145A-4747-427B-A072-E1EC3AE70A5F}" sibTransId="{D608A1D1-A541-487F-9B01-489AF0B98D9C}"/>
    <dgm:cxn modelId="{D968E385-8292-4499-9D1B-30C2B046AF3F}" srcId="{30590458-5C7D-48B5-BB7A-7427C2CEB074}" destId="{87C12D65-F56C-4DD5-A190-8DA79BFB92B2}" srcOrd="2" destOrd="0" parTransId="{F314A7FD-97DD-47C1-BA2D-92E8BBFCDFF4}" sibTransId="{C91BE343-32DB-4601-9CD5-3B5258E9BA9C}"/>
    <dgm:cxn modelId="{C3FC9788-FA4E-415F-B179-117B6ED51093}" type="presOf" srcId="{04711EBF-8C25-498D-B25C-EE013EE05F13}" destId="{423FEA37-50D2-48C4-9448-AD182CED0E17}" srcOrd="0" destOrd="0" presId="urn:microsoft.com/office/officeart/2005/8/layout/vList2"/>
    <dgm:cxn modelId="{73FB489D-1F1C-49BC-9E48-E7ACC17AADD2}" type="presOf" srcId="{30590458-5C7D-48B5-BB7A-7427C2CEB074}" destId="{26CD0276-B4E2-45A8-8A9C-7620ACFC34CA}" srcOrd="0" destOrd="0" presId="urn:microsoft.com/office/officeart/2005/8/layout/vList2"/>
    <dgm:cxn modelId="{18ADAB9E-3557-4CD9-B28E-3FDDDAC067DF}" srcId="{32A8A8B5-D502-4DC5-A41D-0812A3B4E145}" destId="{0428B3AD-C087-42AA-9D20-385C84A948A0}" srcOrd="0" destOrd="0" parTransId="{E6E2888F-B56D-4CD2-9657-A8B277774C08}" sibTransId="{59C0737E-2B6E-4C33-B16F-1E05F3B26176}"/>
    <dgm:cxn modelId="{0E7E8BB5-F570-4A42-A67E-A3013CE6621C}" srcId="{30590458-5C7D-48B5-BB7A-7427C2CEB074}" destId="{CA5B4F59-FA77-4FC0-BBA1-84BCC02B12B1}" srcOrd="0" destOrd="0" parTransId="{455AAAAB-68E2-4668-A75B-9D47CD034FB8}" sibTransId="{1996AE09-0215-499C-838B-88EC13C4F471}"/>
    <dgm:cxn modelId="{3F05BAC5-9528-49C2-B11C-3F1257048148}" srcId="{87C12D65-F56C-4DD5-A190-8DA79BFB92B2}" destId="{04711EBF-8C25-498D-B25C-EE013EE05F13}" srcOrd="0" destOrd="0" parTransId="{4E74A7FF-293B-49F7-B35D-194978513569}" sibTransId="{C8033910-B167-44E0-87BB-EA76244B8B3D}"/>
    <dgm:cxn modelId="{56A3FECC-29E6-42C6-8B0E-26A64463B784}" type="presOf" srcId="{CA5B4F59-FA77-4FC0-BBA1-84BCC02B12B1}" destId="{03D5ACD3-469F-4B03-B339-D9FDF1AC5DEB}" srcOrd="0" destOrd="0" presId="urn:microsoft.com/office/officeart/2005/8/layout/vList2"/>
    <dgm:cxn modelId="{83CE96E7-8AF6-4428-9520-31F70FCD3901}" type="presOf" srcId="{87C12D65-F56C-4DD5-A190-8DA79BFB92B2}" destId="{CFF9A03B-3F10-4581-AE22-FBF526DBEDED}" srcOrd="0" destOrd="0" presId="urn:microsoft.com/office/officeart/2005/8/layout/vList2"/>
    <dgm:cxn modelId="{C498363B-9D72-4AB7-8EB2-7EA5673A1D78}" type="presParOf" srcId="{26CD0276-B4E2-45A8-8A9C-7620ACFC34CA}" destId="{03D5ACD3-469F-4B03-B339-D9FDF1AC5DEB}" srcOrd="0" destOrd="0" presId="urn:microsoft.com/office/officeart/2005/8/layout/vList2"/>
    <dgm:cxn modelId="{9719E92D-7AA3-4F24-9923-47B97D29AB8F}" type="presParOf" srcId="{26CD0276-B4E2-45A8-8A9C-7620ACFC34CA}" destId="{030EB721-3712-4D77-90D1-A84BE16F0B8D}" srcOrd="1" destOrd="0" presId="urn:microsoft.com/office/officeart/2005/8/layout/vList2"/>
    <dgm:cxn modelId="{08BB8640-6205-45CA-B3C1-F1C008ABB725}" type="presParOf" srcId="{26CD0276-B4E2-45A8-8A9C-7620ACFC34CA}" destId="{9424AB90-FD77-4CF8-BEBF-BFE435F27E16}" srcOrd="2" destOrd="0" presId="urn:microsoft.com/office/officeart/2005/8/layout/vList2"/>
    <dgm:cxn modelId="{93F4315B-47F9-4CC3-B8D5-87E0327AC6F1}" type="presParOf" srcId="{26CD0276-B4E2-45A8-8A9C-7620ACFC34CA}" destId="{39393A59-7602-4745-AD8E-500254D5B592}" srcOrd="3" destOrd="0" presId="urn:microsoft.com/office/officeart/2005/8/layout/vList2"/>
    <dgm:cxn modelId="{FC698451-34EB-4344-B5FB-8D775AE3AC07}" type="presParOf" srcId="{26CD0276-B4E2-45A8-8A9C-7620ACFC34CA}" destId="{CFF9A03B-3F10-4581-AE22-FBF526DBEDED}" srcOrd="4" destOrd="0" presId="urn:microsoft.com/office/officeart/2005/8/layout/vList2"/>
    <dgm:cxn modelId="{41B02493-FEBA-4BD7-AF75-70B3633F7AE3}" type="presParOf" srcId="{26CD0276-B4E2-45A8-8A9C-7620ACFC34CA}" destId="{423FEA37-50D2-48C4-9448-AD182CED0E17}"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0590458-5C7D-48B5-BB7A-7427C2CEB07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A5B4F59-FA77-4FC0-BBA1-84BCC02B12B1}">
      <dgm:prSet/>
      <dgm:spPr/>
      <dgm:t>
        <a:bodyPr/>
        <a:lstStyle/>
        <a:p>
          <a:r>
            <a:rPr lang="en-US">
              <a:latin typeface="Aptos Display" panose="020F0302020204030204"/>
            </a:rPr>
            <a:t>RestingBP</a:t>
          </a:r>
          <a:r>
            <a:rPr lang="en-US"/>
            <a:t> mean (for people </a:t>
          </a:r>
          <a:r>
            <a:rPr lang="en-US">
              <a:latin typeface="Aptos Display" panose="020F0302020204030204"/>
            </a:rPr>
            <a:t>without</a:t>
          </a:r>
          <a:r>
            <a:rPr lang="en-US"/>
            <a:t> heart disease): </a:t>
          </a:r>
          <a:r>
            <a:rPr lang="en-US">
              <a:latin typeface="Aptos Display" panose="020F0302020204030204"/>
            </a:rPr>
            <a:t>132</a:t>
          </a:r>
          <a:endParaRPr lang="en-US"/>
        </a:p>
      </dgm:t>
    </dgm:pt>
    <dgm:pt modelId="{455AAAAB-68E2-4668-A75B-9D47CD034FB8}" type="parTrans" cxnId="{0E7E8BB5-F570-4A42-A67E-A3013CE6621C}">
      <dgm:prSet/>
      <dgm:spPr/>
      <dgm:t>
        <a:bodyPr/>
        <a:lstStyle/>
        <a:p>
          <a:endParaRPr lang="en-US"/>
        </a:p>
      </dgm:t>
    </dgm:pt>
    <dgm:pt modelId="{1996AE09-0215-499C-838B-88EC13C4F471}" type="sibTrans" cxnId="{0E7E8BB5-F570-4A42-A67E-A3013CE6621C}">
      <dgm:prSet/>
      <dgm:spPr/>
      <dgm:t>
        <a:bodyPr/>
        <a:lstStyle/>
        <a:p>
          <a:endParaRPr lang="en-US"/>
        </a:p>
      </dgm:t>
    </dgm:pt>
    <dgm:pt modelId="{87EC671D-8FE8-4492-9889-156B097E640B}">
      <dgm:prSet/>
      <dgm:spPr/>
      <dgm:t>
        <a:bodyPr/>
        <a:lstStyle/>
        <a:p>
          <a:r>
            <a:rPr lang="en-US"/>
            <a:t>Standard deviation: ± 0.209</a:t>
          </a:r>
        </a:p>
      </dgm:t>
    </dgm:pt>
    <dgm:pt modelId="{BA84A56E-1FC5-49D5-8AE9-313A04D30D28}" type="parTrans" cxnId="{84376F48-7FF3-444B-9DEA-47C6BC353FEB}">
      <dgm:prSet/>
      <dgm:spPr/>
      <dgm:t>
        <a:bodyPr/>
        <a:lstStyle/>
        <a:p>
          <a:endParaRPr lang="en-US"/>
        </a:p>
      </dgm:t>
    </dgm:pt>
    <dgm:pt modelId="{29D211C1-F479-4931-AE9F-1889AE72EF5B}" type="sibTrans" cxnId="{84376F48-7FF3-444B-9DEA-47C6BC353FEB}">
      <dgm:prSet/>
      <dgm:spPr/>
      <dgm:t>
        <a:bodyPr/>
        <a:lstStyle/>
        <a:p>
          <a:endParaRPr lang="en-US"/>
        </a:p>
      </dgm:t>
    </dgm:pt>
    <dgm:pt modelId="{32A8A8B5-D502-4DC5-A41D-0812A3B4E145}">
      <dgm:prSet/>
      <dgm:spPr/>
      <dgm:t>
        <a:bodyPr/>
        <a:lstStyle/>
        <a:p>
          <a:pPr rtl="0"/>
          <a:r>
            <a:rPr lang="en-US">
              <a:latin typeface="Aptos Display" panose="020F0302020204030204"/>
            </a:rPr>
            <a:t>RestingBP mean</a:t>
          </a:r>
          <a:r>
            <a:rPr lang="en-US"/>
            <a:t> (for people </a:t>
          </a:r>
          <a:r>
            <a:rPr lang="en-US">
              <a:latin typeface="Aptos Display" panose="020F0302020204030204"/>
            </a:rPr>
            <a:t>with</a:t>
          </a:r>
          <a:r>
            <a:rPr lang="en-US"/>
            <a:t> heart disease):</a:t>
          </a:r>
          <a:r>
            <a:rPr lang="en-US">
              <a:latin typeface="Aptos Display" panose="020F0302020204030204"/>
            </a:rPr>
            <a:t> 133</a:t>
          </a:r>
          <a:endParaRPr lang="en-US"/>
        </a:p>
      </dgm:t>
    </dgm:pt>
    <dgm:pt modelId="{27AA145A-4747-427B-A072-E1EC3AE70A5F}" type="parTrans" cxnId="{D9C3B882-1833-436E-A03D-C995A38FBF7A}">
      <dgm:prSet/>
      <dgm:spPr/>
      <dgm:t>
        <a:bodyPr/>
        <a:lstStyle/>
        <a:p>
          <a:endParaRPr lang="en-US"/>
        </a:p>
      </dgm:t>
    </dgm:pt>
    <dgm:pt modelId="{D608A1D1-A541-487F-9B01-489AF0B98D9C}" type="sibTrans" cxnId="{D9C3B882-1833-436E-A03D-C995A38FBF7A}">
      <dgm:prSet/>
      <dgm:spPr/>
      <dgm:t>
        <a:bodyPr/>
        <a:lstStyle/>
        <a:p>
          <a:endParaRPr lang="en-US"/>
        </a:p>
      </dgm:t>
    </dgm:pt>
    <dgm:pt modelId="{0428B3AD-C087-42AA-9D20-385C84A948A0}">
      <dgm:prSet/>
      <dgm:spPr/>
      <dgm:t>
        <a:bodyPr/>
        <a:lstStyle/>
        <a:p>
          <a:r>
            <a:rPr lang="en-US"/>
            <a:t>Standard deviation: ± 0.123</a:t>
          </a:r>
        </a:p>
      </dgm:t>
    </dgm:pt>
    <dgm:pt modelId="{E6E2888F-B56D-4CD2-9657-A8B277774C08}" type="parTrans" cxnId="{18ADAB9E-3557-4CD9-B28E-3FDDDAC067DF}">
      <dgm:prSet/>
      <dgm:spPr/>
      <dgm:t>
        <a:bodyPr/>
        <a:lstStyle/>
        <a:p>
          <a:endParaRPr lang="en-US"/>
        </a:p>
      </dgm:t>
    </dgm:pt>
    <dgm:pt modelId="{59C0737E-2B6E-4C33-B16F-1E05F3B26176}" type="sibTrans" cxnId="{18ADAB9E-3557-4CD9-B28E-3FDDDAC067DF}">
      <dgm:prSet/>
      <dgm:spPr/>
      <dgm:t>
        <a:bodyPr/>
        <a:lstStyle/>
        <a:p>
          <a:endParaRPr lang="en-US"/>
        </a:p>
      </dgm:t>
    </dgm:pt>
    <dgm:pt modelId="{87C12D65-F56C-4DD5-A190-8DA79BFB92B2}">
      <dgm:prSet/>
      <dgm:spPr/>
      <dgm:t>
        <a:bodyPr/>
        <a:lstStyle/>
        <a:p>
          <a:pPr rtl="0"/>
          <a:r>
            <a:rPr lang="en-US"/>
            <a:t>Total </a:t>
          </a:r>
          <a:r>
            <a:rPr lang="en-US">
              <a:latin typeface="Aptos Display" panose="020F0302020204030204"/>
            </a:rPr>
            <a:t>RestingBP mean</a:t>
          </a:r>
          <a:r>
            <a:rPr lang="en-US"/>
            <a:t>: </a:t>
          </a:r>
          <a:r>
            <a:rPr lang="en-US">
              <a:latin typeface="Aptos Display" panose="020F0302020204030204"/>
            </a:rPr>
            <a:t>132</a:t>
          </a:r>
          <a:endParaRPr lang="en-US"/>
        </a:p>
      </dgm:t>
    </dgm:pt>
    <dgm:pt modelId="{F314A7FD-97DD-47C1-BA2D-92E8BBFCDFF4}" type="parTrans" cxnId="{D968E385-8292-4499-9D1B-30C2B046AF3F}">
      <dgm:prSet/>
      <dgm:spPr/>
      <dgm:t>
        <a:bodyPr/>
        <a:lstStyle/>
        <a:p>
          <a:endParaRPr lang="en-US"/>
        </a:p>
      </dgm:t>
    </dgm:pt>
    <dgm:pt modelId="{C91BE343-32DB-4601-9CD5-3B5258E9BA9C}" type="sibTrans" cxnId="{D968E385-8292-4499-9D1B-30C2B046AF3F}">
      <dgm:prSet/>
      <dgm:spPr/>
      <dgm:t>
        <a:bodyPr/>
        <a:lstStyle/>
        <a:p>
          <a:endParaRPr lang="en-US"/>
        </a:p>
      </dgm:t>
    </dgm:pt>
    <dgm:pt modelId="{04711EBF-8C25-498D-B25C-EE013EE05F13}">
      <dgm:prSet/>
      <dgm:spPr/>
      <dgm:t>
        <a:bodyPr/>
        <a:lstStyle/>
        <a:p>
          <a:r>
            <a:rPr lang="en-US"/>
            <a:t>Standard deviation: ± 0.145</a:t>
          </a:r>
        </a:p>
      </dgm:t>
    </dgm:pt>
    <dgm:pt modelId="{4E74A7FF-293B-49F7-B35D-194978513569}" type="parTrans" cxnId="{3F05BAC5-9528-49C2-B11C-3F1257048148}">
      <dgm:prSet/>
      <dgm:spPr/>
      <dgm:t>
        <a:bodyPr/>
        <a:lstStyle/>
        <a:p>
          <a:endParaRPr lang="en-US"/>
        </a:p>
      </dgm:t>
    </dgm:pt>
    <dgm:pt modelId="{C8033910-B167-44E0-87BB-EA76244B8B3D}" type="sibTrans" cxnId="{3F05BAC5-9528-49C2-B11C-3F1257048148}">
      <dgm:prSet/>
      <dgm:spPr/>
      <dgm:t>
        <a:bodyPr/>
        <a:lstStyle/>
        <a:p>
          <a:endParaRPr lang="en-US"/>
        </a:p>
      </dgm:t>
    </dgm:pt>
    <dgm:pt modelId="{26CD0276-B4E2-45A8-8A9C-7620ACFC34CA}" type="pres">
      <dgm:prSet presAssocID="{30590458-5C7D-48B5-BB7A-7427C2CEB074}" presName="linear" presStyleCnt="0">
        <dgm:presLayoutVars>
          <dgm:animLvl val="lvl"/>
          <dgm:resizeHandles val="exact"/>
        </dgm:presLayoutVars>
      </dgm:prSet>
      <dgm:spPr/>
    </dgm:pt>
    <dgm:pt modelId="{03D5ACD3-469F-4B03-B339-D9FDF1AC5DEB}" type="pres">
      <dgm:prSet presAssocID="{CA5B4F59-FA77-4FC0-BBA1-84BCC02B12B1}" presName="parentText" presStyleLbl="node1" presStyleIdx="0" presStyleCnt="3">
        <dgm:presLayoutVars>
          <dgm:chMax val="0"/>
          <dgm:bulletEnabled val="1"/>
        </dgm:presLayoutVars>
      </dgm:prSet>
      <dgm:spPr/>
    </dgm:pt>
    <dgm:pt modelId="{030EB721-3712-4D77-90D1-A84BE16F0B8D}" type="pres">
      <dgm:prSet presAssocID="{CA5B4F59-FA77-4FC0-BBA1-84BCC02B12B1}" presName="childText" presStyleLbl="revTx" presStyleIdx="0" presStyleCnt="3">
        <dgm:presLayoutVars>
          <dgm:bulletEnabled val="1"/>
        </dgm:presLayoutVars>
      </dgm:prSet>
      <dgm:spPr/>
    </dgm:pt>
    <dgm:pt modelId="{9424AB90-FD77-4CF8-BEBF-BFE435F27E16}" type="pres">
      <dgm:prSet presAssocID="{32A8A8B5-D502-4DC5-A41D-0812A3B4E145}" presName="parentText" presStyleLbl="node1" presStyleIdx="1" presStyleCnt="3">
        <dgm:presLayoutVars>
          <dgm:chMax val="0"/>
          <dgm:bulletEnabled val="1"/>
        </dgm:presLayoutVars>
      </dgm:prSet>
      <dgm:spPr/>
    </dgm:pt>
    <dgm:pt modelId="{39393A59-7602-4745-AD8E-500254D5B592}" type="pres">
      <dgm:prSet presAssocID="{32A8A8B5-D502-4DC5-A41D-0812A3B4E145}" presName="childText" presStyleLbl="revTx" presStyleIdx="1" presStyleCnt="3">
        <dgm:presLayoutVars>
          <dgm:bulletEnabled val="1"/>
        </dgm:presLayoutVars>
      </dgm:prSet>
      <dgm:spPr/>
    </dgm:pt>
    <dgm:pt modelId="{CFF9A03B-3F10-4581-AE22-FBF526DBEDED}" type="pres">
      <dgm:prSet presAssocID="{87C12D65-F56C-4DD5-A190-8DA79BFB92B2}" presName="parentText" presStyleLbl="node1" presStyleIdx="2" presStyleCnt="3">
        <dgm:presLayoutVars>
          <dgm:chMax val="0"/>
          <dgm:bulletEnabled val="1"/>
        </dgm:presLayoutVars>
      </dgm:prSet>
      <dgm:spPr/>
    </dgm:pt>
    <dgm:pt modelId="{423FEA37-50D2-48C4-9448-AD182CED0E17}" type="pres">
      <dgm:prSet presAssocID="{87C12D65-F56C-4DD5-A190-8DA79BFB92B2}" presName="childText" presStyleLbl="revTx" presStyleIdx="2" presStyleCnt="3">
        <dgm:presLayoutVars>
          <dgm:bulletEnabled val="1"/>
        </dgm:presLayoutVars>
      </dgm:prSet>
      <dgm:spPr/>
    </dgm:pt>
  </dgm:ptLst>
  <dgm:cxnLst>
    <dgm:cxn modelId="{84376F48-7FF3-444B-9DEA-47C6BC353FEB}" srcId="{CA5B4F59-FA77-4FC0-BBA1-84BCC02B12B1}" destId="{87EC671D-8FE8-4492-9889-156B097E640B}" srcOrd="0" destOrd="0" parTransId="{BA84A56E-1FC5-49D5-8AE9-313A04D30D28}" sibTransId="{29D211C1-F479-4931-AE9F-1889AE72EF5B}"/>
    <dgm:cxn modelId="{29902A6C-417C-43EA-BB54-D56A2CD8F4A7}" type="presOf" srcId="{32A8A8B5-D502-4DC5-A41D-0812A3B4E145}" destId="{9424AB90-FD77-4CF8-BEBF-BFE435F27E16}" srcOrd="0" destOrd="0" presId="urn:microsoft.com/office/officeart/2005/8/layout/vList2"/>
    <dgm:cxn modelId="{D9C3B882-1833-436E-A03D-C995A38FBF7A}" srcId="{30590458-5C7D-48B5-BB7A-7427C2CEB074}" destId="{32A8A8B5-D502-4DC5-A41D-0812A3B4E145}" srcOrd="1" destOrd="0" parTransId="{27AA145A-4747-427B-A072-E1EC3AE70A5F}" sibTransId="{D608A1D1-A541-487F-9B01-489AF0B98D9C}"/>
    <dgm:cxn modelId="{D968E385-8292-4499-9D1B-30C2B046AF3F}" srcId="{30590458-5C7D-48B5-BB7A-7427C2CEB074}" destId="{87C12D65-F56C-4DD5-A190-8DA79BFB92B2}" srcOrd="2" destOrd="0" parTransId="{F314A7FD-97DD-47C1-BA2D-92E8BBFCDFF4}" sibTransId="{C91BE343-32DB-4601-9CD5-3B5258E9BA9C}"/>
    <dgm:cxn modelId="{3B24D18C-D4E9-4600-97F0-5BD89DEB98ED}" type="presOf" srcId="{04711EBF-8C25-498D-B25C-EE013EE05F13}" destId="{423FEA37-50D2-48C4-9448-AD182CED0E17}" srcOrd="0" destOrd="0" presId="urn:microsoft.com/office/officeart/2005/8/layout/vList2"/>
    <dgm:cxn modelId="{73FB489D-1F1C-49BC-9E48-E7ACC17AADD2}" type="presOf" srcId="{30590458-5C7D-48B5-BB7A-7427C2CEB074}" destId="{26CD0276-B4E2-45A8-8A9C-7620ACFC34CA}" srcOrd="0" destOrd="0" presId="urn:microsoft.com/office/officeart/2005/8/layout/vList2"/>
    <dgm:cxn modelId="{18ADAB9E-3557-4CD9-B28E-3FDDDAC067DF}" srcId="{32A8A8B5-D502-4DC5-A41D-0812A3B4E145}" destId="{0428B3AD-C087-42AA-9D20-385C84A948A0}" srcOrd="0" destOrd="0" parTransId="{E6E2888F-B56D-4CD2-9657-A8B277774C08}" sibTransId="{59C0737E-2B6E-4C33-B16F-1E05F3B26176}"/>
    <dgm:cxn modelId="{0E7E8BB5-F570-4A42-A67E-A3013CE6621C}" srcId="{30590458-5C7D-48B5-BB7A-7427C2CEB074}" destId="{CA5B4F59-FA77-4FC0-BBA1-84BCC02B12B1}" srcOrd="0" destOrd="0" parTransId="{455AAAAB-68E2-4668-A75B-9D47CD034FB8}" sibTransId="{1996AE09-0215-499C-838B-88EC13C4F471}"/>
    <dgm:cxn modelId="{5FC7CFC2-5166-49D2-A475-EB270CA52904}" type="presOf" srcId="{0428B3AD-C087-42AA-9D20-385C84A948A0}" destId="{39393A59-7602-4745-AD8E-500254D5B592}" srcOrd="0" destOrd="0" presId="urn:microsoft.com/office/officeart/2005/8/layout/vList2"/>
    <dgm:cxn modelId="{3F05BAC5-9528-49C2-B11C-3F1257048148}" srcId="{87C12D65-F56C-4DD5-A190-8DA79BFB92B2}" destId="{04711EBF-8C25-498D-B25C-EE013EE05F13}" srcOrd="0" destOrd="0" parTransId="{4E74A7FF-293B-49F7-B35D-194978513569}" sibTransId="{C8033910-B167-44E0-87BB-EA76244B8B3D}"/>
    <dgm:cxn modelId="{DA55AEDF-5C56-4DFF-B969-CF0DB6248998}" type="presOf" srcId="{87C12D65-F56C-4DD5-A190-8DA79BFB92B2}" destId="{CFF9A03B-3F10-4581-AE22-FBF526DBEDED}" srcOrd="0" destOrd="0" presId="urn:microsoft.com/office/officeart/2005/8/layout/vList2"/>
    <dgm:cxn modelId="{952CB7E4-EF37-41EF-84BE-35944150A52A}" type="presOf" srcId="{CA5B4F59-FA77-4FC0-BBA1-84BCC02B12B1}" destId="{03D5ACD3-469F-4B03-B339-D9FDF1AC5DEB}" srcOrd="0" destOrd="0" presId="urn:microsoft.com/office/officeart/2005/8/layout/vList2"/>
    <dgm:cxn modelId="{5F97B5FA-192E-4138-981F-161ECC4FB317}" type="presOf" srcId="{87EC671D-8FE8-4492-9889-156B097E640B}" destId="{030EB721-3712-4D77-90D1-A84BE16F0B8D}" srcOrd="0" destOrd="0" presId="urn:microsoft.com/office/officeart/2005/8/layout/vList2"/>
    <dgm:cxn modelId="{8C3F5499-FCA0-4166-80CC-EAB35EB62DCE}" type="presParOf" srcId="{26CD0276-B4E2-45A8-8A9C-7620ACFC34CA}" destId="{03D5ACD3-469F-4B03-B339-D9FDF1AC5DEB}" srcOrd="0" destOrd="0" presId="urn:microsoft.com/office/officeart/2005/8/layout/vList2"/>
    <dgm:cxn modelId="{82B22D05-60BF-4FC6-9106-6B95719CB482}" type="presParOf" srcId="{26CD0276-B4E2-45A8-8A9C-7620ACFC34CA}" destId="{030EB721-3712-4D77-90D1-A84BE16F0B8D}" srcOrd="1" destOrd="0" presId="urn:microsoft.com/office/officeart/2005/8/layout/vList2"/>
    <dgm:cxn modelId="{61C8DBE3-2EE7-4709-B132-3716AC0C64C2}" type="presParOf" srcId="{26CD0276-B4E2-45A8-8A9C-7620ACFC34CA}" destId="{9424AB90-FD77-4CF8-BEBF-BFE435F27E16}" srcOrd="2" destOrd="0" presId="urn:microsoft.com/office/officeart/2005/8/layout/vList2"/>
    <dgm:cxn modelId="{516033F3-9209-41D1-83A5-93952DBB0A7E}" type="presParOf" srcId="{26CD0276-B4E2-45A8-8A9C-7620ACFC34CA}" destId="{39393A59-7602-4745-AD8E-500254D5B592}" srcOrd="3" destOrd="0" presId="urn:microsoft.com/office/officeart/2005/8/layout/vList2"/>
    <dgm:cxn modelId="{490F8F3B-FC9E-4392-B408-EA2F47D9593E}" type="presParOf" srcId="{26CD0276-B4E2-45A8-8A9C-7620ACFC34CA}" destId="{CFF9A03B-3F10-4581-AE22-FBF526DBEDED}" srcOrd="4" destOrd="0" presId="urn:microsoft.com/office/officeart/2005/8/layout/vList2"/>
    <dgm:cxn modelId="{8B45AF32-13EE-4DA8-A362-598208CECA45}" type="presParOf" srcId="{26CD0276-B4E2-45A8-8A9C-7620ACFC34CA}" destId="{423FEA37-50D2-48C4-9448-AD182CED0E17}"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0590458-5C7D-48B5-BB7A-7427C2CEB07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A5B4F59-FA77-4FC0-BBA1-84BCC02B12B1}">
      <dgm:prSet/>
      <dgm:spPr/>
      <dgm:t>
        <a:bodyPr/>
        <a:lstStyle/>
        <a:p>
          <a:pPr rtl="0"/>
          <a:r>
            <a:rPr lang="en-US">
              <a:latin typeface="Aptos Display" panose="020F0302020204030204"/>
            </a:rPr>
            <a:t>MaxHR mean</a:t>
          </a:r>
          <a:r>
            <a:rPr lang="en-US"/>
            <a:t> (for people </a:t>
          </a:r>
          <a:r>
            <a:rPr lang="en-US">
              <a:latin typeface="Aptos Display" panose="020F0302020204030204"/>
            </a:rPr>
            <a:t>without</a:t>
          </a:r>
          <a:r>
            <a:rPr lang="en-US"/>
            <a:t> heart disease): </a:t>
          </a:r>
          <a:r>
            <a:rPr lang="en-US">
              <a:latin typeface="Aptos Display" panose="020F0302020204030204"/>
            </a:rPr>
            <a:t>134</a:t>
          </a:r>
          <a:endParaRPr lang="en-US"/>
        </a:p>
      </dgm:t>
    </dgm:pt>
    <dgm:pt modelId="{455AAAAB-68E2-4668-A75B-9D47CD034FB8}" type="parTrans" cxnId="{0E7E8BB5-F570-4A42-A67E-A3013CE6621C}">
      <dgm:prSet/>
      <dgm:spPr/>
      <dgm:t>
        <a:bodyPr/>
        <a:lstStyle/>
        <a:p>
          <a:endParaRPr lang="en-US"/>
        </a:p>
      </dgm:t>
    </dgm:pt>
    <dgm:pt modelId="{1996AE09-0215-499C-838B-88EC13C4F471}" type="sibTrans" cxnId="{0E7E8BB5-F570-4A42-A67E-A3013CE6621C}">
      <dgm:prSet/>
      <dgm:spPr/>
      <dgm:t>
        <a:bodyPr/>
        <a:lstStyle/>
        <a:p>
          <a:endParaRPr lang="en-US"/>
        </a:p>
      </dgm:t>
    </dgm:pt>
    <dgm:pt modelId="{87EC671D-8FE8-4492-9889-156B097E640B}">
      <dgm:prSet/>
      <dgm:spPr/>
      <dgm:t>
        <a:bodyPr/>
        <a:lstStyle/>
        <a:p>
          <a:r>
            <a:rPr lang="en-US"/>
            <a:t>Standard deviation: ± 0.209</a:t>
          </a:r>
        </a:p>
      </dgm:t>
    </dgm:pt>
    <dgm:pt modelId="{BA84A56E-1FC5-49D5-8AE9-313A04D30D28}" type="parTrans" cxnId="{84376F48-7FF3-444B-9DEA-47C6BC353FEB}">
      <dgm:prSet/>
      <dgm:spPr/>
      <dgm:t>
        <a:bodyPr/>
        <a:lstStyle/>
        <a:p>
          <a:endParaRPr lang="en-US"/>
        </a:p>
      </dgm:t>
    </dgm:pt>
    <dgm:pt modelId="{29D211C1-F479-4931-AE9F-1889AE72EF5B}" type="sibTrans" cxnId="{84376F48-7FF3-444B-9DEA-47C6BC353FEB}">
      <dgm:prSet/>
      <dgm:spPr/>
      <dgm:t>
        <a:bodyPr/>
        <a:lstStyle/>
        <a:p>
          <a:endParaRPr lang="en-US"/>
        </a:p>
      </dgm:t>
    </dgm:pt>
    <dgm:pt modelId="{32A8A8B5-D502-4DC5-A41D-0812A3B4E145}">
      <dgm:prSet/>
      <dgm:spPr/>
      <dgm:t>
        <a:bodyPr/>
        <a:lstStyle/>
        <a:p>
          <a:pPr rtl="0"/>
          <a:r>
            <a:rPr lang="en-US">
              <a:latin typeface="Aptos Display" panose="020F0302020204030204"/>
            </a:rPr>
            <a:t>MaxHR mean</a:t>
          </a:r>
          <a:r>
            <a:rPr lang="en-US"/>
            <a:t> (for people </a:t>
          </a:r>
          <a:r>
            <a:rPr lang="en-US">
              <a:latin typeface="Aptos Display" panose="020F0302020204030204"/>
            </a:rPr>
            <a:t>with</a:t>
          </a:r>
          <a:r>
            <a:rPr lang="en-US"/>
            <a:t> heart disease):</a:t>
          </a:r>
          <a:r>
            <a:rPr lang="en-US">
              <a:latin typeface="Aptos Display" panose="020F0302020204030204"/>
            </a:rPr>
            <a:t> 139</a:t>
          </a:r>
          <a:endParaRPr lang="en-US"/>
        </a:p>
      </dgm:t>
    </dgm:pt>
    <dgm:pt modelId="{27AA145A-4747-427B-A072-E1EC3AE70A5F}" type="parTrans" cxnId="{D9C3B882-1833-436E-A03D-C995A38FBF7A}">
      <dgm:prSet/>
      <dgm:spPr/>
      <dgm:t>
        <a:bodyPr/>
        <a:lstStyle/>
        <a:p>
          <a:endParaRPr lang="en-US"/>
        </a:p>
      </dgm:t>
    </dgm:pt>
    <dgm:pt modelId="{D608A1D1-A541-487F-9B01-489AF0B98D9C}" type="sibTrans" cxnId="{D9C3B882-1833-436E-A03D-C995A38FBF7A}">
      <dgm:prSet/>
      <dgm:spPr/>
      <dgm:t>
        <a:bodyPr/>
        <a:lstStyle/>
        <a:p>
          <a:endParaRPr lang="en-US"/>
        </a:p>
      </dgm:t>
    </dgm:pt>
    <dgm:pt modelId="{0428B3AD-C087-42AA-9D20-385C84A948A0}">
      <dgm:prSet/>
      <dgm:spPr/>
      <dgm:t>
        <a:bodyPr/>
        <a:lstStyle/>
        <a:p>
          <a:r>
            <a:rPr lang="en-US"/>
            <a:t>Standard deviation: ± 0.123</a:t>
          </a:r>
        </a:p>
      </dgm:t>
    </dgm:pt>
    <dgm:pt modelId="{E6E2888F-B56D-4CD2-9657-A8B277774C08}" type="parTrans" cxnId="{18ADAB9E-3557-4CD9-B28E-3FDDDAC067DF}">
      <dgm:prSet/>
      <dgm:spPr/>
      <dgm:t>
        <a:bodyPr/>
        <a:lstStyle/>
        <a:p>
          <a:endParaRPr lang="en-US"/>
        </a:p>
      </dgm:t>
    </dgm:pt>
    <dgm:pt modelId="{59C0737E-2B6E-4C33-B16F-1E05F3B26176}" type="sibTrans" cxnId="{18ADAB9E-3557-4CD9-B28E-3FDDDAC067DF}">
      <dgm:prSet/>
      <dgm:spPr/>
      <dgm:t>
        <a:bodyPr/>
        <a:lstStyle/>
        <a:p>
          <a:endParaRPr lang="en-US"/>
        </a:p>
      </dgm:t>
    </dgm:pt>
    <dgm:pt modelId="{87C12D65-F56C-4DD5-A190-8DA79BFB92B2}">
      <dgm:prSet/>
      <dgm:spPr/>
      <dgm:t>
        <a:bodyPr/>
        <a:lstStyle/>
        <a:p>
          <a:pPr rtl="0"/>
          <a:r>
            <a:rPr lang="en-US"/>
            <a:t>Total </a:t>
          </a:r>
          <a:r>
            <a:rPr lang="en-US">
              <a:latin typeface="Aptos Display" panose="020F0302020204030204"/>
            </a:rPr>
            <a:t>MaxHR mean</a:t>
          </a:r>
          <a:r>
            <a:rPr lang="en-US"/>
            <a:t>: </a:t>
          </a:r>
          <a:r>
            <a:rPr lang="en-US">
              <a:latin typeface="Aptos Display" panose="020F0302020204030204"/>
            </a:rPr>
            <a:t>137</a:t>
          </a:r>
          <a:endParaRPr lang="en-US"/>
        </a:p>
      </dgm:t>
    </dgm:pt>
    <dgm:pt modelId="{F314A7FD-97DD-47C1-BA2D-92E8BBFCDFF4}" type="parTrans" cxnId="{D968E385-8292-4499-9D1B-30C2B046AF3F}">
      <dgm:prSet/>
      <dgm:spPr/>
      <dgm:t>
        <a:bodyPr/>
        <a:lstStyle/>
        <a:p>
          <a:endParaRPr lang="en-US"/>
        </a:p>
      </dgm:t>
    </dgm:pt>
    <dgm:pt modelId="{C91BE343-32DB-4601-9CD5-3B5258E9BA9C}" type="sibTrans" cxnId="{D968E385-8292-4499-9D1B-30C2B046AF3F}">
      <dgm:prSet/>
      <dgm:spPr/>
      <dgm:t>
        <a:bodyPr/>
        <a:lstStyle/>
        <a:p>
          <a:endParaRPr lang="en-US"/>
        </a:p>
      </dgm:t>
    </dgm:pt>
    <dgm:pt modelId="{04711EBF-8C25-498D-B25C-EE013EE05F13}">
      <dgm:prSet/>
      <dgm:spPr/>
      <dgm:t>
        <a:bodyPr/>
        <a:lstStyle/>
        <a:p>
          <a:r>
            <a:rPr lang="en-US"/>
            <a:t>Standard deviation: ± 0.145</a:t>
          </a:r>
        </a:p>
      </dgm:t>
    </dgm:pt>
    <dgm:pt modelId="{4E74A7FF-293B-49F7-B35D-194978513569}" type="parTrans" cxnId="{3F05BAC5-9528-49C2-B11C-3F1257048148}">
      <dgm:prSet/>
      <dgm:spPr/>
      <dgm:t>
        <a:bodyPr/>
        <a:lstStyle/>
        <a:p>
          <a:endParaRPr lang="en-US"/>
        </a:p>
      </dgm:t>
    </dgm:pt>
    <dgm:pt modelId="{C8033910-B167-44E0-87BB-EA76244B8B3D}" type="sibTrans" cxnId="{3F05BAC5-9528-49C2-B11C-3F1257048148}">
      <dgm:prSet/>
      <dgm:spPr/>
      <dgm:t>
        <a:bodyPr/>
        <a:lstStyle/>
        <a:p>
          <a:endParaRPr lang="en-US"/>
        </a:p>
      </dgm:t>
    </dgm:pt>
    <dgm:pt modelId="{26CD0276-B4E2-45A8-8A9C-7620ACFC34CA}" type="pres">
      <dgm:prSet presAssocID="{30590458-5C7D-48B5-BB7A-7427C2CEB074}" presName="linear" presStyleCnt="0">
        <dgm:presLayoutVars>
          <dgm:animLvl val="lvl"/>
          <dgm:resizeHandles val="exact"/>
        </dgm:presLayoutVars>
      </dgm:prSet>
      <dgm:spPr/>
    </dgm:pt>
    <dgm:pt modelId="{03D5ACD3-469F-4B03-B339-D9FDF1AC5DEB}" type="pres">
      <dgm:prSet presAssocID="{CA5B4F59-FA77-4FC0-BBA1-84BCC02B12B1}" presName="parentText" presStyleLbl="node1" presStyleIdx="0" presStyleCnt="3">
        <dgm:presLayoutVars>
          <dgm:chMax val="0"/>
          <dgm:bulletEnabled val="1"/>
        </dgm:presLayoutVars>
      </dgm:prSet>
      <dgm:spPr/>
    </dgm:pt>
    <dgm:pt modelId="{030EB721-3712-4D77-90D1-A84BE16F0B8D}" type="pres">
      <dgm:prSet presAssocID="{CA5B4F59-FA77-4FC0-BBA1-84BCC02B12B1}" presName="childText" presStyleLbl="revTx" presStyleIdx="0" presStyleCnt="3">
        <dgm:presLayoutVars>
          <dgm:bulletEnabled val="1"/>
        </dgm:presLayoutVars>
      </dgm:prSet>
      <dgm:spPr/>
    </dgm:pt>
    <dgm:pt modelId="{9424AB90-FD77-4CF8-BEBF-BFE435F27E16}" type="pres">
      <dgm:prSet presAssocID="{32A8A8B5-D502-4DC5-A41D-0812A3B4E145}" presName="parentText" presStyleLbl="node1" presStyleIdx="1" presStyleCnt="3">
        <dgm:presLayoutVars>
          <dgm:chMax val="0"/>
          <dgm:bulletEnabled val="1"/>
        </dgm:presLayoutVars>
      </dgm:prSet>
      <dgm:spPr/>
    </dgm:pt>
    <dgm:pt modelId="{39393A59-7602-4745-AD8E-500254D5B592}" type="pres">
      <dgm:prSet presAssocID="{32A8A8B5-D502-4DC5-A41D-0812A3B4E145}" presName="childText" presStyleLbl="revTx" presStyleIdx="1" presStyleCnt="3">
        <dgm:presLayoutVars>
          <dgm:bulletEnabled val="1"/>
        </dgm:presLayoutVars>
      </dgm:prSet>
      <dgm:spPr/>
    </dgm:pt>
    <dgm:pt modelId="{CFF9A03B-3F10-4581-AE22-FBF526DBEDED}" type="pres">
      <dgm:prSet presAssocID="{87C12D65-F56C-4DD5-A190-8DA79BFB92B2}" presName="parentText" presStyleLbl="node1" presStyleIdx="2" presStyleCnt="3">
        <dgm:presLayoutVars>
          <dgm:chMax val="0"/>
          <dgm:bulletEnabled val="1"/>
        </dgm:presLayoutVars>
      </dgm:prSet>
      <dgm:spPr/>
    </dgm:pt>
    <dgm:pt modelId="{423FEA37-50D2-48C4-9448-AD182CED0E17}" type="pres">
      <dgm:prSet presAssocID="{87C12D65-F56C-4DD5-A190-8DA79BFB92B2}" presName="childText" presStyleLbl="revTx" presStyleIdx="2" presStyleCnt="3">
        <dgm:presLayoutVars>
          <dgm:bulletEnabled val="1"/>
        </dgm:presLayoutVars>
      </dgm:prSet>
      <dgm:spPr/>
    </dgm:pt>
  </dgm:ptLst>
  <dgm:cxnLst>
    <dgm:cxn modelId="{84376F48-7FF3-444B-9DEA-47C6BC353FEB}" srcId="{CA5B4F59-FA77-4FC0-BBA1-84BCC02B12B1}" destId="{87EC671D-8FE8-4492-9889-156B097E640B}" srcOrd="0" destOrd="0" parTransId="{BA84A56E-1FC5-49D5-8AE9-313A04D30D28}" sibTransId="{29D211C1-F479-4931-AE9F-1889AE72EF5B}"/>
    <dgm:cxn modelId="{29902A6C-417C-43EA-BB54-D56A2CD8F4A7}" type="presOf" srcId="{32A8A8B5-D502-4DC5-A41D-0812A3B4E145}" destId="{9424AB90-FD77-4CF8-BEBF-BFE435F27E16}" srcOrd="0" destOrd="0" presId="urn:microsoft.com/office/officeart/2005/8/layout/vList2"/>
    <dgm:cxn modelId="{D9C3B882-1833-436E-A03D-C995A38FBF7A}" srcId="{30590458-5C7D-48B5-BB7A-7427C2CEB074}" destId="{32A8A8B5-D502-4DC5-A41D-0812A3B4E145}" srcOrd="1" destOrd="0" parTransId="{27AA145A-4747-427B-A072-E1EC3AE70A5F}" sibTransId="{D608A1D1-A541-487F-9B01-489AF0B98D9C}"/>
    <dgm:cxn modelId="{D968E385-8292-4499-9D1B-30C2B046AF3F}" srcId="{30590458-5C7D-48B5-BB7A-7427C2CEB074}" destId="{87C12D65-F56C-4DD5-A190-8DA79BFB92B2}" srcOrd="2" destOrd="0" parTransId="{F314A7FD-97DD-47C1-BA2D-92E8BBFCDFF4}" sibTransId="{C91BE343-32DB-4601-9CD5-3B5258E9BA9C}"/>
    <dgm:cxn modelId="{3B24D18C-D4E9-4600-97F0-5BD89DEB98ED}" type="presOf" srcId="{04711EBF-8C25-498D-B25C-EE013EE05F13}" destId="{423FEA37-50D2-48C4-9448-AD182CED0E17}" srcOrd="0" destOrd="0" presId="urn:microsoft.com/office/officeart/2005/8/layout/vList2"/>
    <dgm:cxn modelId="{73FB489D-1F1C-49BC-9E48-E7ACC17AADD2}" type="presOf" srcId="{30590458-5C7D-48B5-BB7A-7427C2CEB074}" destId="{26CD0276-B4E2-45A8-8A9C-7620ACFC34CA}" srcOrd="0" destOrd="0" presId="urn:microsoft.com/office/officeart/2005/8/layout/vList2"/>
    <dgm:cxn modelId="{18ADAB9E-3557-4CD9-B28E-3FDDDAC067DF}" srcId="{32A8A8B5-D502-4DC5-A41D-0812A3B4E145}" destId="{0428B3AD-C087-42AA-9D20-385C84A948A0}" srcOrd="0" destOrd="0" parTransId="{E6E2888F-B56D-4CD2-9657-A8B277774C08}" sibTransId="{59C0737E-2B6E-4C33-B16F-1E05F3B26176}"/>
    <dgm:cxn modelId="{0E7E8BB5-F570-4A42-A67E-A3013CE6621C}" srcId="{30590458-5C7D-48B5-BB7A-7427C2CEB074}" destId="{CA5B4F59-FA77-4FC0-BBA1-84BCC02B12B1}" srcOrd="0" destOrd="0" parTransId="{455AAAAB-68E2-4668-A75B-9D47CD034FB8}" sibTransId="{1996AE09-0215-499C-838B-88EC13C4F471}"/>
    <dgm:cxn modelId="{5FC7CFC2-5166-49D2-A475-EB270CA52904}" type="presOf" srcId="{0428B3AD-C087-42AA-9D20-385C84A948A0}" destId="{39393A59-7602-4745-AD8E-500254D5B592}" srcOrd="0" destOrd="0" presId="urn:microsoft.com/office/officeart/2005/8/layout/vList2"/>
    <dgm:cxn modelId="{3F05BAC5-9528-49C2-B11C-3F1257048148}" srcId="{87C12D65-F56C-4DD5-A190-8DA79BFB92B2}" destId="{04711EBF-8C25-498D-B25C-EE013EE05F13}" srcOrd="0" destOrd="0" parTransId="{4E74A7FF-293B-49F7-B35D-194978513569}" sibTransId="{C8033910-B167-44E0-87BB-EA76244B8B3D}"/>
    <dgm:cxn modelId="{DA55AEDF-5C56-4DFF-B969-CF0DB6248998}" type="presOf" srcId="{87C12D65-F56C-4DD5-A190-8DA79BFB92B2}" destId="{CFF9A03B-3F10-4581-AE22-FBF526DBEDED}" srcOrd="0" destOrd="0" presId="urn:microsoft.com/office/officeart/2005/8/layout/vList2"/>
    <dgm:cxn modelId="{952CB7E4-EF37-41EF-84BE-35944150A52A}" type="presOf" srcId="{CA5B4F59-FA77-4FC0-BBA1-84BCC02B12B1}" destId="{03D5ACD3-469F-4B03-B339-D9FDF1AC5DEB}" srcOrd="0" destOrd="0" presId="urn:microsoft.com/office/officeart/2005/8/layout/vList2"/>
    <dgm:cxn modelId="{5F97B5FA-192E-4138-981F-161ECC4FB317}" type="presOf" srcId="{87EC671D-8FE8-4492-9889-156B097E640B}" destId="{030EB721-3712-4D77-90D1-A84BE16F0B8D}" srcOrd="0" destOrd="0" presId="urn:microsoft.com/office/officeart/2005/8/layout/vList2"/>
    <dgm:cxn modelId="{8C3F5499-FCA0-4166-80CC-EAB35EB62DCE}" type="presParOf" srcId="{26CD0276-B4E2-45A8-8A9C-7620ACFC34CA}" destId="{03D5ACD3-469F-4B03-B339-D9FDF1AC5DEB}" srcOrd="0" destOrd="0" presId="urn:microsoft.com/office/officeart/2005/8/layout/vList2"/>
    <dgm:cxn modelId="{82B22D05-60BF-4FC6-9106-6B95719CB482}" type="presParOf" srcId="{26CD0276-B4E2-45A8-8A9C-7620ACFC34CA}" destId="{030EB721-3712-4D77-90D1-A84BE16F0B8D}" srcOrd="1" destOrd="0" presId="urn:microsoft.com/office/officeart/2005/8/layout/vList2"/>
    <dgm:cxn modelId="{61C8DBE3-2EE7-4709-B132-3716AC0C64C2}" type="presParOf" srcId="{26CD0276-B4E2-45A8-8A9C-7620ACFC34CA}" destId="{9424AB90-FD77-4CF8-BEBF-BFE435F27E16}" srcOrd="2" destOrd="0" presId="urn:microsoft.com/office/officeart/2005/8/layout/vList2"/>
    <dgm:cxn modelId="{516033F3-9209-41D1-83A5-93952DBB0A7E}" type="presParOf" srcId="{26CD0276-B4E2-45A8-8A9C-7620ACFC34CA}" destId="{39393A59-7602-4745-AD8E-500254D5B592}" srcOrd="3" destOrd="0" presId="urn:microsoft.com/office/officeart/2005/8/layout/vList2"/>
    <dgm:cxn modelId="{490F8F3B-FC9E-4392-B408-EA2F47D9593E}" type="presParOf" srcId="{26CD0276-B4E2-45A8-8A9C-7620ACFC34CA}" destId="{CFF9A03B-3F10-4581-AE22-FBF526DBEDED}" srcOrd="4" destOrd="0" presId="urn:microsoft.com/office/officeart/2005/8/layout/vList2"/>
    <dgm:cxn modelId="{8B45AF32-13EE-4DA8-A362-598208CECA45}" type="presParOf" srcId="{26CD0276-B4E2-45A8-8A9C-7620ACFC34CA}" destId="{423FEA37-50D2-48C4-9448-AD182CED0E17}"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0590458-5C7D-48B5-BB7A-7427C2CEB07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4711EBF-8C25-498D-B25C-EE013EE05F13}">
      <dgm:prSet/>
      <dgm:spPr/>
      <dgm:t>
        <a:bodyPr/>
        <a:lstStyle/>
        <a:p>
          <a:pPr rtl="0"/>
          <a:r>
            <a:rPr lang="en-US">
              <a:latin typeface="Aptos Display" panose="020F0302020204030204"/>
            </a:rPr>
            <a:t>ST Slope Mode: Flat</a:t>
          </a:r>
          <a:endParaRPr lang="en-US"/>
        </a:p>
      </dgm:t>
    </dgm:pt>
    <dgm:pt modelId="{4E74A7FF-293B-49F7-B35D-194978513569}" type="parTrans" cxnId="{3F05BAC5-9528-49C2-B11C-3F1257048148}">
      <dgm:prSet/>
      <dgm:spPr/>
      <dgm:t>
        <a:bodyPr/>
        <a:lstStyle/>
        <a:p>
          <a:endParaRPr lang="en-US"/>
        </a:p>
      </dgm:t>
    </dgm:pt>
    <dgm:pt modelId="{C8033910-B167-44E0-87BB-EA76244B8B3D}" type="sibTrans" cxnId="{3F05BAC5-9528-49C2-B11C-3F1257048148}">
      <dgm:prSet/>
      <dgm:spPr/>
      <dgm:t>
        <a:bodyPr/>
        <a:lstStyle/>
        <a:p>
          <a:endParaRPr lang="en-US"/>
        </a:p>
      </dgm:t>
    </dgm:pt>
    <dgm:pt modelId="{639DECC7-242A-47E2-81C0-29D94E4418B0}">
      <dgm:prSet/>
      <dgm:spPr/>
      <dgm:t>
        <a:bodyPr/>
        <a:lstStyle/>
        <a:p>
          <a:pPr rtl="0"/>
          <a:r>
            <a:rPr lang="en-US"/>
            <a:t>Chest Pain Type </a:t>
          </a:r>
          <a:r>
            <a:rPr lang="en-US">
              <a:latin typeface="Aptos Display" panose="020F0302020204030204"/>
            </a:rPr>
            <a:t>mode:</a:t>
          </a:r>
          <a:r>
            <a:rPr lang="en-US"/>
            <a:t> ASY</a:t>
          </a:r>
        </a:p>
      </dgm:t>
    </dgm:pt>
    <dgm:pt modelId="{5D353DC9-FD89-4A9C-ACA9-59E6CACEAFD4}" type="parTrans" cxnId="{68152071-E0D4-40D4-AD5D-D676CE3B20BA}">
      <dgm:prSet/>
      <dgm:spPr/>
      <dgm:t>
        <a:bodyPr/>
        <a:lstStyle/>
        <a:p>
          <a:endParaRPr lang="en-US"/>
        </a:p>
      </dgm:t>
    </dgm:pt>
    <dgm:pt modelId="{AE759D8D-A37C-4E6B-80B9-EF3464011B3F}" type="sibTrans" cxnId="{68152071-E0D4-40D4-AD5D-D676CE3B20BA}">
      <dgm:prSet/>
      <dgm:spPr/>
      <dgm:t>
        <a:bodyPr/>
        <a:lstStyle/>
        <a:p>
          <a:endParaRPr lang="en-US"/>
        </a:p>
      </dgm:t>
    </dgm:pt>
    <dgm:pt modelId="{243F5742-A1E3-4F2A-9169-153F503C6C89}">
      <dgm:prSet phldr="0"/>
      <dgm:spPr/>
      <dgm:t>
        <a:bodyPr/>
        <a:lstStyle/>
        <a:p>
          <a:pPr rtl="0"/>
          <a:r>
            <a:rPr lang="en-US">
              <a:latin typeface="Aptos Display" panose="020F0302020204030204"/>
            </a:rPr>
            <a:t>With heart disease</a:t>
          </a:r>
        </a:p>
      </dgm:t>
    </dgm:pt>
    <dgm:pt modelId="{6CA922EF-4F49-49BA-96CA-72B83EED336B}" type="parTrans" cxnId="{8E5411A1-7787-4B00-AE19-A1143E78A46E}">
      <dgm:prSet/>
      <dgm:spPr/>
    </dgm:pt>
    <dgm:pt modelId="{76AF9847-8FFD-4AC5-8178-4355779981B4}" type="sibTrans" cxnId="{8E5411A1-7787-4B00-AE19-A1143E78A46E}">
      <dgm:prSet/>
      <dgm:spPr/>
    </dgm:pt>
    <dgm:pt modelId="{95CF4C75-876B-4598-BB19-85FEFA45CE45}">
      <dgm:prSet phldr="0"/>
      <dgm:spPr/>
      <dgm:t>
        <a:bodyPr/>
        <a:lstStyle/>
        <a:p>
          <a:pPr rtl="0"/>
          <a:r>
            <a:rPr lang="en-US">
              <a:latin typeface="Aptos Display" panose="020F0302020204030204"/>
            </a:rPr>
            <a:t>With heart disease</a:t>
          </a:r>
        </a:p>
      </dgm:t>
    </dgm:pt>
    <dgm:pt modelId="{F62358B9-8AB3-4E9D-A7C9-E5C2072FC840}" type="parTrans" cxnId="{87B2AF4F-600D-944F-BA8B-2BDDE10B0A9A}">
      <dgm:prSet/>
      <dgm:spPr/>
    </dgm:pt>
    <dgm:pt modelId="{3EDDCE92-1E7E-4C7F-B38F-825CF031DCB5}" type="sibTrans" cxnId="{87B2AF4F-600D-944F-BA8B-2BDDE10B0A9A}">
      <dgm:prSet/>
      <dgm:spPr/>
    </dgm:pt>
    <dgm:pt modelId="{A6236F92-467A-4E9E-869B-927D3BD76D4B}">
      <dgm:prSet phldr="0"/>
      <dgm:spPr/>
      <dgm:t>
        <a:bodyPr/>
        <a:lstStyle/>
        <a:p>
          <a:pPr rtl="0"/>
          <a:r>
            <a:rPr lang="en-US">
              <a:latin typeface="Aptos Display" panose="020F0302020204030204"/>
            </a:rPr>
            <a:t>Resting ECG: Normal</a:t>
          </a:r>
        </a:p>
      </dgm:t>
    </dgm:pt>
    <dgm:pt modelId="{5C38A771-72B0-4CBF-88A1-07EFAF267F4F}" type="parTrans" cxnId="{E09B252C-725B-C14E-87B5-0B709BC3F83F}">
      <dgm:prSet/>
      <dgm:spPr/>
    </dgm:pt>
    <dgm:pt modelId="{B588A398-76FB-4824-8E8C-DF4317DFC8AF}" type="sibTrans" cxnId="{E09B252C-725B-C14E-87B5-0B709BC3F83F}">
      <dgm:prSet/>
      <dgm:spPr/>
    </dgm:pt>
    <dgm:pt modelId="{64B958BA-EF98-4A62-9AC5-771D1987F79E}">
      <dgm:prSet phldr="0"/>
      <dgm:spPr/>
      <dgm:t>
        <a:bodyPr/>
        <a:lstStyle/>
        <a:p>
          <a:pPr rtl="0"/>
          <a:r>
            <a:rPr lang="en-US">
              <a:latin typeface="Aptos Display" panose="020F0302020204030204"/>
            </a:rPr>
            <a:t>With heart disease</a:t>
          </a:r>
        </a:p>
      </dgm:t>
    </dgm:pt>
    <dgm:pt modelId="{A546CAF8-E1AA-4131-8126-D8029FA21AD8}" type="parTrans" cxnId="{6FE89B79-4CDD-694D-AA64-4D95DA34AAB6}">
      <dgm:prSet/>
      <dgm:spPr/>
    </dgm:pt>
    <dgm:pt modelId="{D9023F99-58DE-4B71-A283-72F6053D0BC8}" type="sibTrans" cxnId="{6FE89B79-4CDD-694D-AA64-4D95DA34AAB6}">
      <dgm:prSet/>
      <dgm:spPr/>
    </dgm:pt>
    <dgm:pt modelId="{26CD0276-B4E2-45A8-8A9C-7620ACFC34CA}" type="pres">
      <dgm:prSet presAssocID="{30590458-5C7D-48B5-BB7A-7427C2CEB074}" presName="linear" presStyleCnt="0">
        <dgm:presLayoutVars>
          <dgm:animLvl val="lvl"/>
          <dgm:resizeHandles val="exact"/>
        </dgm:presLayoutVars>
      </dgm:prSet>
      <dgm:spPr/>
    </dgm:pt>
    <dgm:pt modelId="{DB8BDEC6-B720-486D-A2CA-C06C00E0AA93}" type="pres">
      <dgm:prSet presAssocID="{04711EBF-8C25-498D-B25C-EE013EE05F13}" presName="parentText" presStyleLbl="node1" presStyleIdx="0" presStyleCnt="3">
        <dgm:presLayoutVars>
          <dgm:chMax val="0"/>
          <dgm:bulletEnabled val="1"/>
        </dgm:presLayoutVars>
      </dgm:prSet>
      <dgm:spPr/>
    </dgm:pt>
    <dgm:pt modelId="{88A15C24-81CC-4196-A3DE-46503090B037}" type="pres">
      <dgm:prSet presAssocID="{04711EBF-8C25-498D-B25C-EE013EE05F13}" presName="childText" presStyleLbl="revTx" presStyleIdx="0" presStyleCnt="3">
        <dgm:presLayoutVars>
          <dgm:bulletEnabled val="1"/>
        </dgm:presLayoutVars>
      </dgm:prSet>
      <dgm:spPr/>
    </dgm:pt>
    <dgm:pt modelId="{A37B6A74-FB70-4FA9-B1C7-BE8221F3C036}" type="pres">
      <dgm:prSet presAssocID="{A6236F92-467A-4E9E-869B-927D3BD76D4B}" presName="parentText" presStyleLbl="node1" presStyleIdx="1" presStyleCnt="3">
        <dgm:presLayoutVars>
          <dgm:chMax val="0"/>
          <dgm:bulletEnabled val="1"/>
        </dgm:presLayoutVars>
      </dgm:prSet>
      <dgm:spPr/>
    </dgm:pt>
    <dgm:pt modelId="{4F76A1AF-72C2-4C56-BF21-9C88D3442D47}" type="pres">
      <dgm:prSet presAssocID="{A6236F92-467A-4E9E-869B-927D3BD76D4B}" presName="childText" presStyleLbl="revTx" presStyleIdx="1" presStyleCnt="3">
        <dgm:presLayoutVars>
          <dgm:bulletEnabled val="1"/>
        </dgm:presLayoutVars>
      </dgm:prSet>
      <dgm:spPr/>
    </dgm:pt>
    <dgm:pt modelId="{98265C11-34D4-42EE-BB2A-9CAAF04B58B7}" type="pres">
      <dgm:prSet presAssocID="{639DECC7-242A-47E2-81C0-29D94E4418B0}" presName="parentText" presStyleLbl="node1" presStyleIdx="2" presStyleCnt="3">
        <dgm:presLayoutVars>
          <dgm:chMax val="0"/>
          <dgm:bulletEnabled val="1"/>
        </dgm:presLayoutVars>
      </dgm:prSet>
      <dgm:spPr/>
    </dgm:pt>
    <dgm:pt modelId="{05912243-4859-41B2-8253-79D7C164E144}" type="pres">
      <dgm:prSet presAssocID="{639DECC7-242A-47E2-81C0-29D94E4418B0}" presName="childText" presStyleLbl="revTx" presStyleIdx="2" presStyleCnt="3">
        <dgm:presLayoutVars>
          <dgm:bulletEnabled val="1"/>
        </dgm:presLayoutVars>
      </dgm:prSet>
      <dgm:spPr/>
    </dgm:pt>
  </dgm:ptLst>
  <dgm:cxnLst>
    <dgm:cxn modelId="{D328CB2A-8391-324A-9E29-8D66A349484A}" type="presOf" srcId="{95CF4C75-876B-4598-BB19-85FEFA45CE45}" destId="{88A15C24-81CC-4196-A3DE-46503090B037}" srcOrd="0" destOrd="0" presId="urn:microsoft.com/office/officeart/2005/8/layout/vList2"/>
    <dgm:cxn modelId="{E09B252C-725B-C14E-87B5-0B709BC3F83F}" srcId="{30590458-5C7D-48B5-BB7A-7427C2CEB074}" destId="{A6236F92-467A-4E9E-869B-927D3BD76D4B}" srcOrd="1" destOrd="0" parTransId="{5C38A771-72B0-4CBF-88A1-07EFAF267F4F}" sibTransId="{B588A398-76FB-4824-8E8C-DF4317DFC8AF}"/>
    <dgm:cxn modelId="{45D9965E-141E-8543-9CA0-26CC81CDF28D}" type="presOf" srcId="{243F5742-A1E3-4F2A-9169-153F503C6C89}" destId="{05912243-4859-41B2-8253-79D7C164E144}" srcOrd="0" destOrd="0" presId="urn:microsoft.com/office/officeart/2005/8/layout/vList2"/>
    <dgm:cxn modelId="{87B2AF4F-600D-944F-BA8B-2BDDE10B0A9A}" srcId="{04711EBF-8C25-498D-B25C-EE013EE05F13}" destId="{95CF4C75-876B-4598-BB19-85FEFA45CE45}" srcOrd="0" destOrd="0" parTransId="{F62358B9-8AB3-4E9D-A7C9-E5C2072FC840}" sibTransId="{3EDDCE92-1E7E-4C7F-B38F-825CF031DCB5}"/>
    <dgm:cxn modelId="{68152071-E0D4-40D4-AD5D-D676CE3B20BA}" srcId="{30590458-5C7D-48B5-BB7A-7427C2CEB074}" destId="{639DECC7-242A-47E2-81C0-29D94E4418B0}" srcOrd="2" destOrd="0" parTransId="{5D353DC9-FD89-4A9C-ACA9-59E6CACEAFD4}" sibTransId="{AE759D8D-A37C-4E6B-80B9-EF3464011B3F}"/>
    <dgm:cxn modelId="{6FE89B79-4CDD-694D-AA64-4D95DA34AAB6}" srcId="{A6236F92-467A-4E9E-869B-927D3BD76D4B}" destId="{64B958BA-EF98-4A62-9AC5-771D1987F79E}" srcOrd="0" destOrd="0" parTransId="{A546CAF8-E1AA-4131-8126-D8029FA21AD8}" sibTransId="{D9023F99-58DE-4B71-A283-72F6053D0BC8}"/>
    <dgm:cxn modelId="{73FB489D-1F1C-49BC-9E48-E7ACC17AADD2}" type="presOf" srcId="{30590458-5C7D-48B5-BB7A-7427C2CEB074}" destId="{26CD0276-B4E2-45A8-8A9C-7620ACFC34CA}" srcOrd="0" destOrd="0" presId="urn:microsoft.com/office/officeart/2005/8/layout/vList2"/>
    <dgm:cxn modelId="{8E5411A1-7787-4B00-AE19-A1143E78A46E}" srcId="{639DECC7-242A-47E2-81C0-29D94E4418B0}" destId="{243F5742-A1E3-4F2A-9169-153F503C6C89}" srcOrd="0" destOrd="0" parTransId="{6CA922EF-4F49-49BA-96CA-72B83EED336B}" sibTransId="{76AF9847-8FFD-4AC5-8178-4355779981B4}"/>
    <dgm:cxn modelId="{3A81B4AA-79DE-3D4B-A1EB-0D2C8A24156D}" type="presOf" srcId="{64B958BA-EF98-4A62-9AC5-771D1987F79E}" destId="{4F76A1AF-72C2-4C56-BF21-9C88D3442D47}" srcOrd="0" destOrd="0" presId="urn:microsoft.com/office/officeart/2005/8/layout/vList2"/>
    <dgm:cxn modelId="{3F05BAC5-9528-49C2-B11C-3F1257048148}" srcId="{30590458-5C7D-48B5-BB7A-7427C2CEB074}" destId="{04711EBF-8C25-498D-B25C-EE013EE05F13}" srcOrd="0" destOrd="0" parTransId="{4E74A7FF-293B-49F7-B35D-194978513569}" sibTransId="{C8033910-B167-44E0-87BB-EA76244B8B3D}"/>
    <dgm:cxn modelId="{F1344AC7-6E43-2B4E-85CB-1AFE4AEFC771}" type="presOf" srcId="{639DECC7-242A-47E2-81C0-29D94E4418B0}" destId="{98265C11-34D4-42EE-BB2A-9CAAF04B58B7}" srcOrd="0" destOrd="0" presId="urn:microsoft.com/office/officeart/2005/8/layout/vList2"/>
    <dgm:cxn modelId="{CBA1FEF0-52FB-4947-9FFA-E5E66A8BC12D}" type="presOf" srcId="{A6236F92-467A-4E9E-869B-927D3BD76D4B}" destId="{A37B6A74-FB70-4FA9-B1C7-BE8221F3C036}" srcOrd="0" destOrd="0" presId="urn:microsoft.com/office/officeart/2005/8/layout/vList2"/>
    <dgm:cxn modelId="{691DC0F8-C787-AC45-9BCE-08C78CFC1B70}" type="presOf" srcId="{04711EBF-8C25-498D-B25C-EE013EE05F13}" destId="{DB8BDEC6-B720-486D-A2CA-C06C00E0AA93}" srcOrd="0" destOrd="0" presId="urn:microsoft.com/office/officeart/2005/8/layout/vList2"/>
    <dgm:cxn modelId="{EF249157-7476-D940-9973-0F803224E02E}" type="presParOf" srcId="{26CD0276-B4E2-45A8-8A9C-7620ACFC34CA}" destId="{DB8BDEC6-B720-486D-A2CA-C06C00E0AA93}" srcOrd="0" destOrd="0" presId="urn:microsoft.com/office/officeart/2005/8/layout/vList2"/>
    <dgm:cxn modelId="{AF3F1917-A040-F24E-8A5C-D5E94B6AD07A}" type="presParOf" srcId="{26CD0276-B4E2-45A8-8A9C-7620ACFC34CA}" destId="{88A15C24-81CC-4196-A3DE-46503090B037}" srcOrd="1" destOrd="0" presId="urn:microsoft.com/office/officeart/2005/8/layout/vList2"/>
    <dgm:cxn modelId="{48E2ACB4-5318-EF4A-BB36-F32EDB9A2C1A}" type="presParOf" srcId="{26CD0276-B4E2-45A8-8A9C-7620ACFC34CA}" destId="{A37B6A74-FB70-4FA9-B1C7-BE8221F3C036}" srcOrd="2" destOrd="0" presId="urn:microsoft.com/office/officeart/2005/8/layout/vList2"/>
    <dgm:cxn modelId="{3F44E5D5-8013-3242-998E-E2C12C2EFD15}" type="presParOf" srcId="{26CD0276-B4E2-45A8-8A9C-7620ACFC34CA}" destId="{4F76A1AF-72C2-4C56-BF21-9C88D3442D47}" srcOrd="3" destOrd="0" presId="urn:microsoft.com/office/officeart/2005/8/layout/vList2"/>
    <dgm:cxn modelId="{1B4497C9-F823-2349-BC0D-ED697F8F178F}" type="presParOf" srcId="{26CD0276-B4E2-45A8-8A9C-7620ACFC34CA}" destId="{98265C11-34D4-42EE-BB2A-9CAAF04B58B7}" srcOrd="4" destOrd="0" presId="urn:microsoft.com/office/officeart/2005/8/layout/vList2"/>
    <dgm:cxn modelId="{9D60AAEA-4B4F-D147-A24B-DCF768D011CF}" type="presParOf" srcId="{26CD0276-B4E2-45A8-8A9C-7620ACFC34CA}" destId="{05912243-4859-41B2-8253-79D7C164E144}"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F5ED968-ED6B-4C8F-A429-FB6839D4659B}"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7DC1D840-E06B-45CE-ADA2-DADAB62B4FE8}">
      <dgm:prSet/>
      <dgm:spPr/>
      <dgm:t>
        <a:bodyPr/>
        <a:lstStyle/>
        <a:p>
          <a:pPr rtl="0"/>
          <a:r>
            <a:rPr lang="en-US"/>
            <a:t>Our hypothesis that cholesterol will have a positive correlation was </a:t>
          </a:r>
          <a:r>
            <a:rPr lang="en-US" b="1"/>
            <a:t>not supported</a:t>
          </a:r>
          <a:r>
            <a:rPr lang="en-US"/>
            <a:t> by this dataset as there was a </a:t>
          </a:r>
          <a:r>
            <a:rPr lang="en-US">
              <a:latin typeface="Aptos Display" panose="020F0302020204030204"/>
            </a:rPr>
            <a:t>slightly negative</a:t>
          </a:r>
          <a:r>
            <a:rPr lang="en-US"/>
            <a:t> correlation between cholesterol and heart disease.</a:t>
          </a:r>
        </a:p>
      </dgm:t>
    </dgm:pt>
    <dgm:pt modelId="{9614A713-7BA1-4D73-ACA8-3DB2C435EFAC}" type="parTrans" cxnId="{F115A248-238A-4DB4-868C-4FF3DF8E9B65}">
      <dgm:prSet/>
      <dgm:spPr/>
      <dgm:t>
        <a:bodyPr/>
        <a:lstStyle/>
        <a:p>
          <a:endParaRPr lang="en-US"/>
        </a:p>
      </dgm:t>
    </dgm:pt>
    <dgm:pt modelId="{2ABC454A-C9F0-4675-ACC3-3A1230987E7F}" type="sibTrans" cxnId="{F115A248-238A-4DB4-868C-4FF3DF8E9B65}">
      <dgm:prSet/>
      <dgm:spPr/>
      <dgm:t>
        <a:bodyPr/>
        <a:lstStyle/>
        <a:p>
          <a:endParaRPr lang="en-US"/>
        </a:p>
      </dgm:t>
    </dgm:pt>
    <dgm:pt modelId="{0A59F324-B921-4835-92B7-3CF959AEC8BD}">
      <dgm:prSet/>
      <dgm:spPr/>
      <dgm:t>
        <a:bodyPr/>
        <a:lstStyle/>
        <a:p>
          <a:pPr rtl="0"/>
          <a:r>
            <a:rPr lang="en-US"/>
            <a:t>However, many outside studies prove that high levels of cholesterol increase your risk of heart disease.</a:t>
          </a:r>
          <a:r>
            <a:rPr lang="en-US">
              <a:latin typeface="Aptos Display" panose="020F0302020204030204"/>
            </a:rPr>
            <a:t> And the mean cholesterol of those without heart disease was lower.</a:t>
          </a:r>
          <a:endParaRPr lang="en-US"/>
        </a:p>
      </dgm:t>
    </dgm:pt>
    <dgm:pt modelId="{0201E7E3-C71A-4C6A-A949-4124F4D4CD68}" type="parTrans" cxnId="{80111619-097D-40D9-8E9E-EC0846A52989}">
      <dgm:prSet/>
      <dgm:spPr/>
      <dgm:t>
        <a:bodyPr/>
        <a:lstStyle/>
        <a:p>
          <a:endParaRPr lang="en-US"/>
        </a:p>
      </dgm:t>
    </dgm:pt>
    <dgm:pt modelId="{7970D3CD-7EB8-4708-90C2-38B49271AD63}" type="sibTrans" cxnId="{80111619-097D-40D9-8E9E-EC0846A52989}">
      <dgm:prSet/>
      <dgm:spPr/>
      <dgm:t>
        <a:bodyPr/>
        <a:lstStyle/>
        <a:p>
          <a:endParaRPr lang="en-US"/>
        </a:p>
      </dgm:t>
    </dgm:pt>
    <dgm:pt modelId="{D6332E6B-850A-4C9A-8714-A907764301C7}">
      <dgm:prSet/>
      <dgm:spPr/>
      <dgm:t>
        <a:bodyPr/>
        <a:lstStyle/>
        <a:p>
          <a:pPr rtl="0"/>
          <a:r>
            <a:rPr lang="en-US"/>
            <a:t>We believe the data showed a negative correlation because the dataset </a:t>
          </a:r>
          <a:r>
            <a:rPr lang="en-US">
              <a:latin typeface="Aptos Display" panose="020F0302020204030204"/>
            </a:rPr>
            <a:t>had 117 "0" values for people without heart disease. </a:t>
          </a:r>
          <a:endParaRPr lang="en-US"/>
        </a:p>
      </dgm:t>
    </dgm:pt>
    <dgm:pt modelId="{375CC470-569D-4359-86A7-D51E8C7C000B}" type="parTrans" cxnId="{5A2575BB-2F33-4248-862D-4FE64A64CC1D}">
      <dgm:prSet/>
      <dgm:spPr/>
      <dgm:t>
        <a:bodyPr/>
        <a:lstStyle/>
        <a:p>
          <a:endParaRPr lang="en-US"/>
        </a:p>
      </dgm:t>
    </dgm:pt>
    <dgm:pt modelId="{155736EA-8F60-42F7-8FF3-85BFA19E2AF8}" type="sibTrans" cxnId="{5A2575BB-2F33-4248-862D-4FE64A64CC1D}">
      <dgm:prSet/>
      <dgm:spPr/>
      <dgm:t>
        <a:bodyPr/>
        <a:lstStyle/>
        <a:p>
          <a:endParaRPr lang="en-US"/>
        </a:p>
      </dgm:t>
    </dgm:pt>
    <dgm:pt modelId="{10574C36-148A-4A0C-9C3F-86ECD1580B25}" type="pres">
      <dgm:prSet presAssocID="{EF5ED968-ED6B-4C8F-A429-FB6839D4659B}" presName="outerComposite" presStyleCnt="0">
        <dgm:presLayoutVars>
          <dgm:chMax val="5"/>
          <dgm:dir/>
          <dgm:resizeHandles val="exact"/>
        </dgm:presLayoutVars>
      </dgm:prSet>
      <dgm:spPr/>
    </dgm:pt>
    <dgm:pt modelId="{2B630472-8370-491D-9742-19A968431D3B}" type="pres">
      <dgm:prSet presAssocID="{EF5ED968-ED6B-4C8F-A429-FB6839D4659B}" presName="dummyMaxCanvas" presStyleCnt="0">
        <dgm:presLayoutVars/>
      </dgm:prSet>
      <dgm:spPr/>
    </dgm:pt>
    <dgm:pt modelId="{219410C8-04F2-4688-BA00-A70ABF9D8DA4}" type="pres">
      <dgm:prSet presAssocID="{EF5ED968-ED6B-4C8F-A429-FB6839D4659B}" presName="ThreeNodes_1" presStyleLbl="node1" presStyleIdx="0" presStyleCnt="3">
        <dgm:presLayoutVars>
          <dgm:bulletEnabled val="1"/>
        </dgm:presLayoutVars>
      </dgm:prSet>
      <dgm:spPr/>
    </dgm:pt>
    <dgm:pt modelId="{0BA80481-1CBE-4529-838D-F8F63C8C89C7}" type="pres">
      <dgm:prSet presAssocID="{EF5ED968-ED6B-4C8F-A429-FB6839D4659B}" presName="ThreeNodes_2" presStyleLbl="node1" presStyleIdx="1" presStyleCnt="3">
        <dgm:presLayoutVars>
          <dgm:bulletEnabled val="1"/>
        </dgm:presLayoutVars>
      </dgm:prSet>
      <dgm:spPr/>
    </dgm:pt>
    <dgm:pt modelId="{28A8D41D-F5AC-44C6-BF95-D3FC5BCDA39A}" type="pres">
      <dgm:prSet presAssocID="{EF5ED968-ED6B-4C8F-A429-FB6839D4659B}" presName="ThreeNodes_3" presStyleLbl="node1" presStyleIdx="2" presStyleCnt="3">
        <dgm:presLayoutVars>
          <dgm:bulletEnabled val="1"/>
        </dgm:presLayoutVars>
      </dgm:prSet>
      <dgm:spPr/>
    </dgm:pt>
    <dgm:pt modelId="{EE5F6FEF-C33D-4566-9397-6EBE4E87F558}" type="pres">
      <dgm:prSet presAssocID="{EF5ED968-ED6B-4C8F-A429-FB6839D4659B}" presName="ThreeConn_1-2" presStyleLbl="fgAccFollowNode1" presStyleIdx="0" presStyleCnt="2">
        <dgm:presLayoutVars>
          <dgm:bulletEnabled val="1"/>
        </dgm:presLayoutVars>
      </dgm:prSet>
      <dgm:spPr/>
    </dgm:pt>
    <dgm:pt modelId="{20B222E2-36DC-410A-BD30-43139199F6DF}" type="pres">
      <dgm:prSet presAssocID="{EF5ED968-ED6B-4C8F-A429-FB6839D4659B}" presName="ThreeConn_2-3" presStyleLbl="fgAccFollowNode1" presStyleIdx="1" presStyleCnt="2">
        <dgm:presLayoutVars>
          <dgm:bulletEnabled val="1"/>
        </dgm:presLayoutVars>
      </dgm:prSet>
      <dgm:spPr/>
    </dgm:pt>
    <dgm:pt modelId="{6A38D3F9-5C71-4541-AA7B-D5F9F842DEE6}" type="pres">
      <dgm:prSet presAssocID="{EF5ED968-ED6B-4C8F-A429-FB6839D4659B}" presName="ThreeNodes_1_text" presStyleLbl="node1" presStyleIdx="2" presStyleCnt="3">
        <dgm:presLayoutVars>
          <dgm:bulletEnabled val="1"/>
        </dgm:presLayoutVars>
      </dgm:prSet>
      <dgm:spPr/>
    </dgm:pt>
    <dgm:pt modelId="{6A05C8FB-D032-4716-AA5E-D15812F27CA4}" type="pres">
      <dgm:prSet presAssocID="{EF5ED968-ED6B-4C8F-A429-FB6839D4659B}" presName="ThreeNodes_2_text" presStyleLbl="node1" presStyleIdx="2" presStyleCnt="3">
        <dgm:presLayoutVars>
          <dgm:bulletEnabled val="1"/>
        </dgm:presLayoutVars>
      </dgm:prSet>
      <dgm:spPr/>
    </dgm:pt>
    <dgm:pt modelId="{93071677-0F4C-49D2-AD34-9D0516FCA10A}" type="pres">
      <dgm:prSet presAssocID="{EF5ED968-ED6B-4C8F-A429-FB6839D4659B}" presName="ThreeNodes_3_text" presStyleLbl="node1" presStyleIdx="2" presStyleCnt="3">
        <dgm:presLayoutVars>
          <dgm:bulletEnabled val="1"/>
        </dgm:presLayoutVars>
      </dgm:prSet>
      <dgm:spPr/>
    </dgm:pt>
  </dgm:ptLst>
  <dgm:cxnLst>
    <dgm:cxn modelId="{80111619-097D-40D9-8E9E-EC0846A52989}" srcId="{EF5ED968-ED6B-4C8F-A429-FB6839D4659B}" destId="{0A59F324-B921-4835-92B7-3CF959AEC8BD}" srcOrd="1" destOrd="0" parTransId="{0201E7E3-C71A-4C6A-A949-4124F4D4CD68}" sibTransId="{7970D3CD-7EB8-4708-90C2-38B49271AD63}"/>
    <dgm:cxn modelId="{F115A248-238A-4DB4-868C-4FF3DF8E9B65}" srcId="{EF5ED968-ED6B-4C8F-A429-FB6839D4659B}" destId="{7DC1D840-E06B-45CE-ADA2-DADAB62B4FE8}" srcOrd="0" destOrd="0" parTransId="{9614A713-7BA1-4D73-ACA8-3DB2C435EFAC}" sibTransId="{2ABC454A-C9F0-4675-ACC3-3A1230987E7F}"/>
    <dgm:cxn modelId="{55554F7C-422F-4C13-9C1F-0256001EA756}" type="presOf" srcId="{0A59F324-B921-4835-92B7-3CF959AEC8BD}" destId="{6A05C8FB-D032-4716-AA5E-D15812F27CA4}" srcOrd="1" destOrd="0" presId="urn:microsoft.com/office/officeart/2005/8/layout/vProcess5"/>
    <dgm:cxn modelId="{7F0FC87F-8115-4565-8E00-DB4FD10ADF47}" type="presOf" srcId="{EF5ED968-ED6B-4C8F-A429-FB6839D4659B}" destId="{10574C36-148A-4A0C-9C3F-86ECD1580B25}" srcOrd="0" destOrd="0" presId="urn:microsoft.com/office/officeart/2005/8/layout/vProcess5"/>
    <dgm:cxn modelId="{024EBEB6-89A9-41BD-ADB9-1C41DB91727C}" type="presOf" srcId="{2ABC454A-C9F0-4675-ACC3-3A1230987E7F}" destId="{EE5F6FEF-C33D-4566-9397-6EBE4E87F558}" srcOrd="0" destOrd="0" presId="urn:microsoft.com/office/officeart/2005/8/layout/vProcess5"/>
    <dgm:cxn modelId="{7EA30DBA-3996-4618-8806-D419D32F6EC3}" type="presOf" srcId="{D6332E6B-850A-4C9A-8714-A907764301C7}" destId="{93071677-0F4C-49D2-AD34-9D0516FCA10A}" srcOrd="1" destOrd="0" presId="urn:microsoft.com/office/officeart/2005/8/layout/vProcess5"/>
    <dgm:cxn modelId="{5A2575BB-2F33-4248-862D-4FE64A64CC1D}" srcId="{EF5ED968-ED6B-4C8F-A429-FB6839D4659B}" destId="{D6332E6B-850A-4C9A-8714-A907764301C7}" srcOrd="2" destOrd="0" parTransId="{375CC470-569D-4359-86A7-D51E8C7C000B}" sibTransId="{155736EA-8F60-42F7-8FF3-85BFA19E2AF8}"/>
    <dgm:cxn modelId="{BA54B8D2-E24D-4E02-A6F8-988D87F7E2DF}" type="presOf" srcId="{7970D3CD-7EB8-4708-90C2-38B49271AD63}" destId="{20B222E2-36DC-410A-BD30-43139199F6DF}" srcOrd="0" destOrd="0" presId="urn:microsoft.com/office/officeart/2005/8/layout/vProcess5"/>
    <dgm:cxn modelId="{528853DF-41EE-4198-B541-4E52F35EC749}" type="presOf" srcId="{7DC1D840-E06B-45CE-ADA2-DADAB62B4FE8}" destId="{6A38D3F9-5C71-4541-AA7B-D5F9F842DEE6}" srcOrd="1" destOrd="0" presId="urn:microsoft.com/office/officeart/2005/8/layout/vProcess5"/>
    <dgm:cxn modelId="{691E77E7-E50C-43AA-B89C-F2C50577C2D3}" type="presOf" srcId="{0A59F324-B921-4835-92B7-3CF959AEC8BD}" destId="{0BA80481-1CBE-4529-838D-F8F63C8C89C7}" srcOrd="0" destOrd="0" presId="urn:microsoft.com/office/officeart/2005/8/layout/vProcess5"/>
    <dgm:cxn modelId="{EB2665ED-EB8F-42D0-B660-29DE4B07EB99}" type="presOf" srcId="{D6332E6B-850A-4C9A-8714-A907764301C7}" destId="{28A8D41D-F5AC-44C6-BF95-D3FC5BCDA39A}" srcOrd="0" destOrd="0" presId="urn:microsoft.com/office/officeart/2005/8/layout/vProcess5"/>
    <dgm:cxn modelId="{EB2BBBEE-9D70-4653-AC85-359697F44846}" type="presOf" srcId="{7DC1D840-E06B-45CE-ADA2-DADAB62B4FE8}" destId="{219410C8-04F2-4688-BA00-A70ABF9D8DA4}" srcOrd="0" destOrd="0" presId="urn:microsoft.com/office/officeart/2005/8/layout/vProcess5"/>
    <dgm:cxn modelId="{99E622EE-1089-430E-BC77-8B7882C4D9A2}" type="presParOf" srcId="{10574C36-148A-4A0C-9C3F-86ECD1580B25}" destId="{2B630472-8370-491D-9742-19A968431D3B}" srcOrd="0" destOrd="0" presId="urn:microsoft.com/office/officeart/2005/8/layout/vProcess5"/>
    <dgm:cxn modelId="{4FFD61EF-8EB6-4C0A-873A-24564342F55C}" type="presParOf" srcId="{10574C36-148A-4A0C-9C3F-86ECD1580B25}" destId="{219410C8-04F2-4688-BA00-A70ABF9D8DA4}" srcOrd="1" destOrd="0" presId="urn:microsoft.com/office/officeart/2005/8/layout/vProcess5"/>
    <dgm:cxn modelId="{0B3E6312-EC6D-4A94-9E9F-8659D0606561}" type="presParOf" srcId="{10574C36-148A-4A0C-9C3F-86ECD1580B25}" destId="{0BA80481-1CBE-4529-838D-F8F63C8C89C7}" srcOrd="2" destOrd="0" presId="urn:microsoft.com/office/officeart/2005/8/layout/vProcess5"/>
    <dgm:cxn modelId="{0B88AD3F-7B3B-4CD5-B453-D39D512E6AB0}" type="presParOf" srcId="{10574C36-148A-4A0C-9C3F-86ECD1580B25}" destId="{28A8D41D-F5AC-44C6-BF95-D3FC5BCDA39A}" srcOrd="3" destOrd="0" presId="urn:microsoft.com/office/officeart/2005/8/layout/vProcess5"/>
    <dgm:cxn modelId="{10DD4900-B067-40D8-92E3-991A69ED1D9B}" type="presParOf" srcId="{10574C36-148A-4A0C-9C3F-86ECD1580B25}" destId="{EE5F6FEF-C33D-4566-9397-6EBE4E87F558}" srcOrd="4" destOrd="0" presId="urn:microsoft.com/office/officeart/2005/8/layout/vProcess5"/>
    <dgm:cxn modelId="{B234FE5E-AEBD-47E1-9672-DC65FF00A3C5}" type="presParOf" srcId="{10574C36-148A-4A0C-9C3F-86ECD1580B25}" destId="{20B222E2-36DC-410A-BD30-43139199F6DF}" srcOrd="5" destOrd="0" presId="urn:microsoft.com/office/officeart/2005/8/layout/vProcess5"/>
    <dgm:cxn modelId="{63BFAE44-A2F8-4107-B1DD-07FC2A61C0EE}" type="presParOf" srcId="{10574C36-148A-4A0C-9C3F-86ECD1580B25}" destId="{6A38D3F9-5C71-4541-AA7B-D5F9F842DEE6}" srcOrd="6" destOrd="0" presId="urn:microsoft.com/office/officeart/2005/8/layout/vProcess5"/>
    <dgm:cxn modelId="{B9F4989A-F424-4A4C-ABBC-A3D31438899D}" type="presParOf" srcId="{10574C36-148A-4A0C-9C3F-86ECD1580B25}" destId="{6A05C8FB-D032-4716-AA5E-D15812F27CA4}" srcOrd="7" destOrd="0" presId="urn:microsoft.com/office/officeart/2005/8/layout/vProcess5"/>
    <dgm:cxn modelId="{125FED6F-4535-49C0-84E7-6635CE7BA7F4}" type="presParOf" srcId="{10574C36-148A-4A0C-9C3F-86ECD1580B25}" destId="{93071677-0F4C-49D2-AD34-9D0516FCA10A}"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F5ED968-ED6B-4C8F-A429-FB6839D4659B}"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7DC1D840-E06B-45CE-ADA2-DADAB62B4FE8}">
      <dgm:prSet/>
      <dgm:spPr/>
      <dgm:t>
        <a:bodyPr/>
        <a:lstStyle/>
        <a:p>
          <a:pPr rtl="0"/>
          <a:r>
            <a:rPr lang="en-US">
              <a:solidFill>
                <a:schemeClr val="bg1"/>
              </a:solidFill>
              <a:latin typeface="Arial"/>
              <a:cs typeface="Arial"/>
            </a:rPr>
            <a:t>Our hypothesis that sex will have no influence was </a:t>
          </a:r>
          <a:r>
            <a:rPr lang="en-US" b="0">
              <a:solidFill>
                <a:schemeClr val="bg1"/>
              </a:solidFill>
              <a:latin typeface="Arial"/>
              <a:cs typeface="Arial"/>
            </a:rPr>
            <a:t>not supported</a:t>
          </a:r>
          <a:r>
            <a:rPr lang="en-US">
              <a:solidFill>
                <a:schemeClr val="bg1"/>
              </a:solidFill>
              <a:latin typeface="Arial"/>
              <a:cs typeface="Arial"/>
            </a:rPr>
            <a:t> by our dataset as there was a negative correlation for females and there was a positive correlation for males.</a:t>
          </a:r>
        </a:p>
      </dgm:t>
    </dgm:pt>
    <dgm:pt modelId="{9614A713-7BA1-4D73-ACA8-3DB2C435EFAC}" type="parTrans" cxnId="{F115A248-238A-4DB4-868C-4FF3DF8E9B65}">
      <dgm:prSet/>
      <dgm:spPr/>
      <dgm:t>
        <a:bodyPr/>
        <a:lstStyle/>
        <a:p>
          <a:endParaRPr lang="en-US"/>
        </a:p>
      </dgm:t>
    </dgm:pt>
    <dgm:pt modelId="{2ABC454A-C9F0-4675-ACC3-3A1230987E7F}" type="sibTrans" cxnId="{F115A248-238A-4DB4-868C-4FF3DF8E9B65}">
      <dgm:prSet/>
      <dgm:spPr/>
      <dgm:t>
        <a:bodyPr/>
        <a:lstStyle/>
        <a:p>
          <a:endParaRPr lang="en-US"/>
        </a:p>
      </dgm:t>
    </dgm:pt>
    <dgm:pt modelId="{0A59F324-B921-4835-92B7-3CF959AEC8BD}">
      <dgm:prSet/>
      <dgm:spPr/>
      <dgm:t>
        <a:bodyPr/>
        <a:lstStyle/>
        <a:p>
          <a:r>
            <a:rPr lang="en-US">
              <a:solidFill>
                <a:schemeClr val="bg1"/>
              </a:solidFill>
              <a:latin typeface="Arial"/>
              <a:cs typeface="Arial"/>
            </a:rPr>
            <a:t>However there was a significant difference in amount of females and males in the study. (725 males and 193 females)</a:t>
          </a:r>
        </a:p>
      </dgm:t>
    </dgm:pt>
    <dgm:pt modelId="{0201E7E3-C71A-4C6A-A949-4124F4D4CD68}" type="parTrans" cxnId="{80111619-097D-40D9-8E9E-EC0846A52989}">
      <dgm:prSet/>
      <dgm:spPr/>
      <dgm:t>
        <a:bodyPr/>
        <a:lstStyle/>
        <a:p>
          <a:endParaRPr lang="en-US"/>
        </a:p>
      </dgm:t>
    </dgm:pt>
    <dgm:pt modelId="{7970D3CD-7EB8-4708-90C2-38B49271AD63}" type="sibTrans" cxnId="{80111619-097D-40D9-8E9E-EC0846A52989}">
      <dgm:prSet/>
      <dgm:spPr/>
      <dgm:t>
        <a:bodyPr/>
        <a:lstStyle/>
        <a:p>
          <a:endParaRPr lang="en-US"/>
        </a:p>
      </dgm:t>
    </dgm:pt>
    <dgm:pt modelId="{D6332E6B-850A-4C9A-8714-A907764301C7}">
      <dgm:prSet/>
      <dgm:spPr/>
      <dgm:t>
        <a:bodyPr/>
        <a:lstStyle/>
        <a:p>
          <a:pPr rtl="0"/>
          <a:r>
            <a:rPr lang="en-US">
              <a:solidFill>
                <a:schemeClr val="bg1"/>
              </a:solidFill>
              <a:latin typeface="Arial"/>
              <a:cs typeface="Arial"/>
            </a:rPr>
            <a:t>And 44% of the males and 46% of the females had heart disease so a relatively similar amount of females and males had heart disease</a:t>
          </a:r>
        </a:p>
      </dgm:t>
    </dgm:pt>
    <dgm:pt modelId="{375CC470-569D-4359-86A7-D51E8C7C000B}" type="parTrans" cxnId="{5A2575BB-2F33-4248-862D-4FE64A64CC1D}">
      <dgm:prSet/>
      <dgm:spPr/>
      <dgm:t>
        <a:bodyPr/>
        <a:lstStyle/>
        <a:p>
          <a:endParaRPr lang="en-US"/>
        </a:p>
      </dgm:t>
    </dgm:pt>
    <dgm:pt modelId="{155736EA-8F60-42F7-8FF3-85BFA19E2AF8}" type="sibTrans" cxnId="{5A2575BB-2F33-4248-862D-4FE64A64CC1D}">
      <dgm:prSet/>
      <dgm:spPr/>
      <dgm:t>
        <a:bodyPr/>
        <a:lstStyle/>
        <a:p>
          <a:endParaRPr lang="en-US"/>
        </a:p>
      </dgm:t>
    </dgm:pt>
    <dgm:pt modelId="{10574C36-148A-4A0C-9C3F-86ECD1580B25}" type="pres">
      <dgm:prSet presAssocID="{EF5ED968-ED6B-4C8F-A429-FB6839D4659B}" presName="outerComposite" presStyleCnt="0">
        <dgm:presLayoutVars>
          <dgm:chMax val="5"/>
          <dgm:dir/>
          <dgm:resizeHandles val="exact"/>
        </dgm:presLayoutVars>
      </dgm:prSet>
      <dgm:spPr/>
    </dgm:pt>
    <dgm:pt modelId="{2B630472-8370-491D-9742-19A968431D3B}" type="pres">
      <dgm:prSet presAssocID="{EF5ED968-ED6B-4C8F-A429-FB6839D4659B}" presName="dummyMaxCanvas" presStyleCnt="0">
        <dgm:presLayoutVars/>
      </dgm:prSet>
      <dgm:spPr/>
    </dgm:pt>
    <dgm:pt modelId="{219410C8-04F2-4688-BA00-A70ABF9D8DA4}" type="pres">
      <dgm:prSet presAssocID="{EF5ED968-ED6B-4C8F-A429-FB6839D4659B}" presName="ThreeNodes_1" presStyleLbl="node1" presStyleIdx="0" presStyleCnt="3">
        <dgm:presLayoutVars>
          <dgm:bulletEnabled val="1"/>
        </dgm:presLayoutVars>
      </dgm:prSet>
      <dgm:spPr/>
    </dgm:pt>
    <dgm:pt modelId="{0BA80481-1CBE-4529-838D-F8F63C8C89C7}" type="pres">
      <dgm:prSet presAssocID="{EF5ED968-ED6B-4C8F-A429-FB6839D4659B}" presName="ThreeNodes_2" presStyleLbl="node1" presStyleIdx="1" presStyleCnt="3">
        <dgm:presLayoutVars>
          <dgm:bulletEnabled val="1"/>
        </dgm:presLayoutVars>
      </dgm:prSet>
      <dgm:spPr/>
    </dgm:pt>
    <dgm:pt modelId="{28A8D41D-F5AC-44C6-BF95-D3FC5BCDA39A}" type="pres">
      <dgm:prSet presAssocID="{EF5ED968-ED6B-4C8F-A429-FB6839D4659B}" presName="ThreeNodes_3" presStyleLbl="node1" presStyleIdx="2" presStyleCnt="3">
        <dgm:presLayoutVars>
          <dgm:bulletEnabled val="1"/>
        </dgm:presLayoutVars>
      </dgm:prSet>
      <dgm:spPr/>
    </dgm:pt>
    <dgm:pt modelId="{EE5F6FEF-C33D-4566-9397-6EBE4E87F558}" type="pres">
      <dgm:prSet presAssocID="{EF5ED968-ED6B-4C8F-A429-FB6839D4659B}" presName="ThreeConn_1-2" presStyleLbl="fgAccFollowNode1" presStyleIdx="0" presStyleCnt="2">
        <dgm:presLayoutVars>
          <dgm:bulletEnabled val="1"/>
        </dgm:presLayoutVars>
      </dgm:prSet>
      <dgm:spPr/>
    </dgm:pt>
    <dgm:pt modelId="{20B222E2-36DC-410A-BD30-43139199F6DF}" type="pres">
      <dgm:prSet presAssocID="{EF5ED968-ED6B-4C8F-A429-FB6839D4659B}" presName="ThreeConn_2-3" presStyleLbl="fgAccFollowNode1" presStyleIdx="1" presStyleCnt="2">
        <dgm:presLayoutVars>
          <dgm:bulletEnabled val="1"/>
        </dgm:presLayoutVars>
      </dgm:prSet>
      <dgm:spPr/>
    </dgm:pt>
    <dgm:pt modelId="{6A38D3F9-5C71-4541-AA7B-D5F9F842DEE6}" type="pres">
      <dgm:prSet presAssocID="{EF5ED968-ED6B-4C8F-A429-FB6839D4659B}" presName="ThreeNodes_1_text" presStyleLbl="node1" presStyleIdx="2" presStyleCnt="3">
        <dgm:presLayoutVars>
          <dgm:bulletEnabled val="1"/>
        </dgm:presLayoutVars>
      </dgm:prSet>
      <dgm:spPr/>
    </dgm:pt>
    <dgm:pt modelId="{6A05C8FB-D032-4716-AA5E-D15812F27CA4}" type="pres">
      <dgm:prSet presAssocID="{EF5ED968-ED6B-4C8F-A429-FB6839D4659B}" presName="ThreeNodes_2_text" presStyleLbl="node1" presStyleIdx="2" presStyleCnt="3">
        <dgm:presLayoutVars>
          <dgm:bulletEnabled val="1"/>
        </dgm:presLayoutVars>
      </dgm:prSet>
      <dgm:spPr/>
    </dgm:pt>
    <dgm:pt modelId="{93071677-0F4C-49D2-AD34-9D0516FCA10A}" type="pres">
      <dgm:prSet presAssocID="{EF5ED968-ED6B-4C8F-A429-FB6839D4659B}" presName="ThreeNodes_3_text" presStyleLbl="node1" presStyleIdx="2" presStyleCnt="3">
        <dgm:presLayoutVars>
          <dgm:bulletEnabled val="1"/>
        </dgm:presLayoutVars>
      </dgm:prSet>
      <dgm:spPr/>
    </dgm:pt>
  </dgm:ptLst>
  <dgm:cxnLst>
    <dgm:cxn modelId="{80111619-097D-40D9-8E9E-EC0846A52989}" srcId="{EF5ED968-ED6B-4C8F-A429-FB6839D4659B}" destId="{0A59F324-B921-4835-92B7-3CF959AEC8BD}" srcOrd="1" destOrd="0" parTransId="{0201E7E3-C71A-4C6A-A949-4124F4D4CD68}" sibTransId="{7970D3CD-7EB8-4708-90C2-38B49271AD63}"/>
    <dgm:cxn modelId="{F115A248-238A-4DB4-868C-4FF3DF8E9B65}" srcId="{EF5ED968-ED6B-4C8F-A429-FB6839D4659B}" destId="{7DC1D840-E06B-45CE-ADA2-DADAB62B4FE8}" srcOrd="0" destOrd="0" parTransId="{9614A713-7BA1-4D73-ACA8-3DB2C435EFAC}" sibTransId="{2ABC454A-C9F0-4675-ACC3-3A1230987E7F}"/>
    <dgm:cxn modelId="{55554F7C-422F-4C13-9C1F-0256001EA756}" type="presOf" srcId="{0A59F324-B921-4835-92B7-3CF959AEC8BD}" destId="{6A05C8FB-D032-4716-AA5E-D15812F27CA4}" srcOrd="1" destOrd="0" presId="urn:microsoft.com/office/officeart/2005/8/layout/vProcess5"/>
    <dgm:cxn modelId="{7F0FC87F-8115-4565-8E00-DB4FD10ADF47}" type="presOf" srcId="{EF5ED968-ED6B-4C8F-A429-FB6839D4659B}" destId="{10574C36-148A-4A0C-9C3F-86ECD1580B25}" srcOrd="0" destOrd="0" presId="urn:microsoft.com/office/officeart/2005/8/layout/vProcess5"/>
    <dgm:cxn modelId="{024EBEB6-89A9-41BD-ADB9-1C41DB91727C}" type="presOf" srcId="{2ABC454A-C9F0-4675-ACC3-3A1230987E7F}" destId="{EE5F6FEF-C33D-4566-9397-6EBE4E87F558}" srcOrd="0" destOrd="0" presId="urn:microsoft.com/office/officeart/2005/8/layout/vProcess5"/>
    <dgm:cxn modelId="{7EA30DBA-3996-4618-8806-D419D32F6EC3}" type="presOf" srcId="{D6332E6B-850A-4C9A-8714-A907764301C7}" destId="{93071677-0F4C-49D2-AD34-9D0516FCA10A}" srcOrd="1" destOrd="0" presId="urn:microsoft.com/office/officeart/2005/8/layout/vProcess5"/>
    <dgm:cxn modelId="{5A2575BB-2F33-4248-862D-4FE64A64CC1D}" srcId="{EF5ED968-ED6B-4C8F-A429-FB6839D4659B}" destId="{D6332E6B-850A-4C9A-8714-A907764301C7}" srcOrd="2" destOrd="0" parTransId="{375CC470-569D-4359-86A7-D51E8C7C000B}" sibTransId="{155736EA-8F60-42F7-8FF3-85BFA19E2AF8}"/>
    <dgm:cxn modelId="{BA54B8D2-E24D-4E02-A6F8-988D87F7E2DF}" type="presOf" srcId="{7970D3CD-7EB8-4708-90C2-38B49271AD63}" destId="{20B222E2-36DC-410A-BD30-43139199F6DF}" srcOrd="0" destOrd="0" presId="urn:microsoft.com/office/officeart/2005/8/layout/vProcess5"/>
    <dgm:cxn modelId="{528853DF-41EE-4198-B541-4E52F35EC749}" type="presOf" srcId="{7DC1D840-E06B-45CE-ADA2-DADAB62B4FE8}" destId="{6A38D3F9-5C71-4541-AA7B-D5F9F842DEE6}" srcOrd="1" destOrd="0" presId="urn:microsoft.com/office/officeart/2005/8/layout/vProcess5"/>
    <dgm:cxn modelId="{691E77E7-E50C-43AA-B89C-F2C50577C2D3}" type="presOf" srcId="{0A59F324-B921-4835-92B7-3CF959AEC8BD}" destId="{0BA80481-1CBE-4529-838D-F8F63C8C89C7}" srcOrd="0" destOrd="0" presId="urn:microsoft.com/office/officeart/2005/8/layout/vProcess5"/>
    <dgm:cxn modelId="{EB2665ED-EB8F-42D0-B660-29DE4B07EB99}" type="presOf" srcId="{D6332E6B-850A-4C9A-8714-A907764301C7}" destId="{28A8D41D-F5AC-44C6-BF95-D3FC5BCDA39A}" srcOrd="0" destOrd="0" presId="urn:microsoft.com/office/officeart/2005/8/layout/vProcess5"/>
    <dgm:cxn modelId="{EB2BBBEE-9D70-4653-AC85-359697F44846}" type="presOf" srcId="{7DC1D840-E06B-45CE-ADA2-DADAB62B4FE8}" destId="{219410C8-04F2-4688-BA00-A70ABF9D8DA4}" srcOrd="0" destOrd="0" presId="urn:microsoft.com/office/officeart/2005/8/layout/vProcess5"/>
    <dgm:cxn modelId="{99E622EE-1089-430E-BC77-8B7882C4D9A2}" type="presParOf" srcId="{10574C36-148A-4A0C-9C3F-86ECD1580B25}" destId="{2B630472-8370-491D-9742-19A968431D3B}" srcOrd="0" destOrd="0" presId="urn:microsoft.com/office/officeart/2005/8/layout/vProcess5"/>
    <dgm:cxn modelId="{4FFD61EF-8EB6-4C0A-873A-24564342F55C}" type="presParOf" srcId="{10574C36-148A-4A0C-9C3F-86ECD1580B25}" destId="{219410C8-04F2-4688-BA00-A70ABF9D8DA4}" srcOrd="1" destOrd="0" presId="urn:microsoft.com/office/officeart/2005/8/layout/vProcess5"/>
    <dgm:cxn modelId="{0B3E6312-EC6D-4A94-9E9F-8659D0606561}" type="presParOf" srcId="{10574C36-148A-4A0C-9C3F-86ECD1580B25}" destId="{0BA80481-1CBE-4529-838D-F8F63C8C89C7}" srcOrd="2" destOrd="0" presId="urn:microsoft.com/office/officeart/2005/8/layout/vProcess5"/>
    <dgm:cxn modelId="{0B88AD3F-7B3B-4CD5-B453-D39D512E6AB0}" type="presParOf" srcId="{10574C36-148A-4A0C-9C3F-86ECD1580B25}" destId="{28A8D41D-F5AC-44C6-BF95-D3FC5BCDA39A}" srcOrd="3" destOrd="0" presId="urn:microsoft.com/office/officeart/2005/8/layout/vProcess5"/>
    <dgm:cxn modelId="{10DD4900-B067-40D8-92E3-991A69ED1D9B}" type="presParOf" srcId="{10574C36-148A-4A0C-9C3F-86ECD1580B25}" destId="{EE5F6FEF-C33D-4566-9397-6EBE4E87F558}" srcOrd="4" destOrd="0" presId="urn:microsoft.com/office/officeart/2005/8/layout/vProcess5"/>
    <dgm:cxn modelId="{B234FE5E-AEBD-47E1-9672-DC65FF00A3C5}" type="presParOf" srcId="{10574C36-148A-4A0C-9C3F-86ECD1580B25}" destId="{20B222E2-36DC-410A-BD30-43139199F6DF}" srcOrd="5" destOrd="0" presId="urn:microsoft.com/office/officeart/2005/8/layout/vProcess5"/>
    <dgm:cxn modelId="{63BFAE44-A2F8-4107-B1DD-07FC2A61C0EE}" type="presParOf" srcId="{10574C36-148A-4A0C-9C3F-86ECD1580B25}" destId="{6A38D3F9-5C71-4541-AA7B-D5F9F842DEE6}" srcOrd="6" destOrd="0" presId="urn:microsoft.com/office/officeart/2005/8/layout/vProcess5"/>
    <dgm:cxn modelId="{B9F4989A-F424-4A4C-ABBC-A3D31438899D}" type="presParOf" srcId="{10574C36-148A-4A0C-9C3F-86ECD1580B25}" destId="{6A05C8FB-D032-4716-AA5E-D15812F27CA4}" srcOrd="7" destOrd="0" presId="urn:microsoft.com/office/officeart/2005/8/layout/vProcess5"/>
    <dgm:cxn modelId="{125FED6F-4535-49C0-84E7-6635CE7BA7F4}" type="presParOf" srcId="{10574C36-148A-4A0C-9C3F-86ECD1580B25}" destId="{93071677-0F4C-49D2-AD34-9D0516FCA10A}"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D5ACD3-469F-4B03-B339-D9FDF1AC5DEB}">
      <dsp:nvSpPr>
        <dsp:cNvPr id="0" name=""/>
        <dsp:cNvSpPr/>
      </dsp:nvSpPr>
      <dsp:spPr>
        <a:xfrm>
          <a:off x="0" y="201429"/>
          <a:ext cx="10515600" cy="786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Cholesterol mean (for people </a:t>
          </a:r>
          <a:r>
            <a:rPr lang="en-US" sz="3200" kern="1200">
              <a:latin typeface="Aptos Display" panose="020F0302020204030204"/>
            </a:rPr>
            <a:t>without</a:t>
          </a:r>
          <a:r>
            <a:rPr lang="en-US" sz="3200" kern="1200"/>
            <a:t> heart disease): </a:t>
          </a:r>
          <a:r>
            <a:rPr lang="en-US" sz="3200" kern="1200">
              <a:latin typeface="Aptos Display" panose="020F0302020204030204"/>
            </a:rPr>
            <a:t>177</a:t>
          </a:r>
          <a:endParaRPr lang="en-US" sz="3200" kern="1200"/>
        </a:p>
      </dsp:txBody>
      <dsp:txXfrm>
        <a:off x="38381" y="239810"/>
        <a:ext cx="10438838" cy="709478"/>
      </dsp:txXfrm>
    </dsp:sp>
    <dsp:sp modelId="{030EB721-3712-4D77-90D1-A84BE16F0B8D}">
      <dsp:nvSpPr>
        <dsp:cNvPr id="0" name=""/>
        <dsp:cNvSpPr/>
      </dsp:nvSpPr>
      <dsp:spPr>
        <a:xfrm>
          <a:off x="0" y="987669"/>
          <a:ext cx="10515600" cy="529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US" sz="2500" kern="1200"/>
            <a:t>Standard deviation: ± 0.209</a:t>
          </a:r>
        </a:p>
      </dsp:txBody>
      <dsp:txXfrm>
        <a:off x="0" y="987669"/>
        <a:ext cx="10515600" cy="529920"/>
      </dsp:txXfrm>
    </dsp:sp>
    <dsp:sp modelId="{9424AB90-FD77-4CF8-BEBF-BFE435F27E16}">
      <dsp:nvSpPr>
        <dsp:cNvPr id="0" name=""/>
        <dsp:cNvSpPr/>
      </dsp:nvSpPr>
      <dsp:spPr>
        <a:xfrm>
          <a:off x="0" y="1517589"/>
          <a:ext cx="10515600" cy="786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Cholesterol mean (for people </a:t>
          </a:r>
          <a:r>
            <a:rPr lang="en-US" sz="3200" kern="1200">
              <a:latin typeface="Aptos Display" panose="020F0302020204030204"/>
            </a:rPr>
            <a:t>with</a:t>
          </a:r>
          <a:r>
            <a:rPr lang="en-US" sz="3200" kern="1200"/>
            <a:t> heart disease): </a:t>
          </a:r>
          <a:r>
            <a:rPr lang="en-US" sz="3200" kern="1200">
              <a:latin typeface="Aptos Display" panose="020F0302020204030204"/>
            </a:rPr>
            <a:t>217</a:t>
          </a:r>
          <a:endParaRPr lang="en-US" sz="3200" kern="1200"/>
        </a:p>
      </dsp:txBody>
      <dsp:txXfrm>
        <a:off x="38381" y="1555970"/>
        <a:ext cx="10438838" cy="709478"/>
      </dsp:txXfrm>
    </dsp:sp>
    <dsp:sp modelId="{39393A59-7602-4745-AD8E-500254D5B592}">
      <dsp:nvSpPr>
        <dsp:cNvPr id="0" name=""/>
        <dsp:cNvSpPr/>
      </dsp:nvSpPr>
      <dsp:spPr>
        <a:xfrm>
          <a:off x="0" y="2303829"/>
          <a:ext cx="10515600" cy="529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US" sz="2500" kern="1200"/>
            <a:t>Standard deviation: ± 0.123</a:t>
          </a:r>
        </a:p>
      </dsp:txBody>
      <dsp:txXfrm>
        <a:off x="0" y="2303829"/>
        <a:ext cx="10515600" cy="529920"/>
      </dsp:txXfrm>
    </dsp:sp>
    <dsp:sp modelId="{CFF9A03B-3F10-4581-AE22-FBF526DBEDED}">
      <dsp:nvSpPr>
        <dsp:cNvPr id="0" name=""/>
        <dsp:cNvSpPr/>
      </dsp:nvSpPr>
      <dsp:spPr>
        <a:xfrm>
          <a:off x="0" y="2833749"/>
          <a:ext cx="10515600" cy="786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Total Cholesterol mean: 198</a:t>
          </a:r>
        </a:p>
      </dsp:txBody>
      <dsp:txXfrm>
        <a:off x="38381" y="2872130"/>
        <a:ext cx="10438838" cy="709478"/>
      </dsp:txXfrm>
    </dsp:sp>
    <dsp:sp modelId="{423FEA37-50D2-48C4-9448-AD182CED0E17}">
      <dsp:nvSpPr>
        <dsp:cNvPr id="0" name=""/>
        <dsp:cNvSpPr/>
      </dsp:nvSpPr>
      <dsp:spPr>
        <a:xfrm>
          <a:off x="0" y="3619989"/>
          <a:ext cx="10515600" cy="529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US" sz="2500" kern="1200"/>
            <a:t>Standard deviation: ± 0.145</a:t>
          </a:r>
        </a:p>
      </dsp:txBody>
      <dsp:txXfrm>
        <a:off x="0" y="3619989"/>
        <a:ext cx="10515600" cy="5299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D5ACD3-469F-4B03-B339-D9FDF1AC5DEB}">
      <dsp:nvSpPr>
        <dsp:cNvPr id="0" name=""/>
        <dsp:cNvSpPr/>
      </dsp:nvSpPr>
      <dsp:spPr>
        <a:xfrm>
          <a:off x="0" y="78039"/>
          <a:ext cx="10515600" cy="8353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latin typeface="Aptos Display" panose="020F0302020204030204"/>
            </a:rPr>
            <a:t>RestingBP</a:t>
          </a:r>
          <a:r>
            <a:rPr lang="en-US" sz="3400" kern="1200"/>
            <a:t> mean (for people </a:t>
          </a:r>
          <a:r>
            <a:rPr lang="en-US" sz="3400" kern="1200">
              <a:latin typeface="Aptos Display" panose="020F0302020204030204"/>
            </a:rPr>
            <a:t>without</a:t>
          </a:r>
          <a:r>
            <a:rPr lang="en-US" sz="3400" kern="1200"/>
            <a:t> heart disease): </a:t>
          </a:r>
          <a:r>
            <a:rPr lang="en-US" sz="3400" kern="1200">
              <a:latin typeface="Aptos Display" panose="020F0302020204030204"/>
            </a:rPr>
            <a:t>132</a:t>
          </a:r>
          <a:endParaRPr lang="en-US" sz="3400" kern="1200"/>
        </a:p>
      </dsp:txBody>
      <dsp:txXfrm>
        <a:off x="40780" y="118819"/>
        <a:ext cx="10434040" cy="753820"/>
      </dsp:txXfrm>
    </dsp:sp>
    <dsp:sp modelId="{030EB721-3712-4D77-90D1-A84BE16F0B8D}">
      <dsp:nvSpPr>
        <dsp:cNvPr id="0" name=""/>
        <dsp:cNvSpPr/>
      </dsp:nvSpPr>
      <dsp:spPr>
        <a:xfrm>
          <a:off x="0" y="913419"/>
          <a:ext cx="10515600" cy="563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en-US" sz="2700" kern="1200"/>
            <a:t>Standard deviation: ± 0.209</a:t>
          </a:r>
        </a:p>
      </dsp:txBody>
      <dsp:txXfrm>
        <a:off x="0" y="913419"/>
        <a:ext cx="10515600" cy="563040"/>
      </dsp:txXfrm>
    </dsp:sp>
    <dsp:sp modelId="{9424AB90-FD77-4CF8-BEBF-BFE435F27E16}">
      <dsp:nvSpPr>
        <dsp:cNvPr id="0" name=""/>
        <dsp:cNvSpPr/>
      </dsp:nvSpPr>
      <dsp:spPr>
        <a:xfrm>
          <a:off x="0" y="1476459"/>
          <a:ext cx="10515600" cy="8353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rtl="0">
            <a:lnSpc>
              <a:spcPct val="90000"/>
            </a:lnSpc>
            <a:spcBef>
              <a:spcPct val="0"/>
            </a:spcBef>
            <a:spcAft>
              <a:spcPct val="35000"/>
            </a:spcAft>
            <a:buNone/>
          </a:pPr>
          <a:r>
            <a:rPr lang="en-US" sz="3400" kern="1200">
              <a:latin typeface="Aptos Display" panose="020F0302020204030204"/>
            </a:rPr>
            <a:t>RestingBP mean</a:t>
          </a:r>
          <a:r>
            <a:rPr lang="en-US" sz="3400" kern="1200"/>
            <a:t> (for people </a:t>
          </a:r>
          <a:r>
            <a:rPr lang="en-US" sz="3400" kern="1200">
              <a:latin typeface="Aptos Display" panose="020F0302020204030204"/>
            </a:rPr>
            <a:t>with</a:t>
          </a:r>
          <a:r>
            <a:rPr lang="en-US" sz="3400" kern="1200"/>
            <a:t> heart disease):</a:t>
          </a:r>
          <a:r>
            <a:rPr lang="en-US" sz="3400" kern="1200">
              <a:latin typeface="Aptos Display" panose="020F0302020204030204"/>
            </a:rPr>
            <a:t> 133</a:t>
          </a:r>
          <a:endParaRPr lang="en-US" sz="3400" kern="1200"/>
        </a:p>
      </dsp:txBody>
      <dsp:txXfrm>
        <a:off x="40780" y="1517239"/>
        <a:ext cx="10434040" cy="753820"/>
      </dsp:txXfrm>
    </dsp:sp>
    <dsp:sp modelId="{39393A59-7602-4745-AD8E-500254D5B592}">
      <dsp:nvSpPr>
        <dsp:cNvPr id="0" name=""/>
        <dsp:cNvSpPr/>
      </dsp:nvSpPr>
      <dsp:spPr>
        <a:xfrm>
          <a:off x="0" y="2311839"/>
          <a:ext cx="10515600" cy="563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en-US" sz="2700" kern="1200"/>
            <a:t>Standard deviation: ± 0.123</a:t>
          </a:r>
        </a:p>
      </dsp:txBody>
      <dsp:txXfrm>
        <a:off x="0" y="2311839"/>
        <a:ext cx="10515600" cy="563040"/>
      </dsp:txXfrm>
    </dsp:sp>
    <dsp:sp modelId="{CFF9A03B-3F10-4581-AE22-FBF526DBEDED}">
      <dsp:nvSpPr>
        <dsp:cNvPr id="0" name=""/>
        <dsp:cNvSpPr/>
      </dsp:nvSpPr>
      <dsp:spPr>
        <a:xfrm>
          <a:off x="0" y="2874879"/>
          <a:ext cx="10515600" cy="8353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rtl="0">
            <a:lnSpc>
              <a:spcPct val="90000"/>
            </a:lnSpc>
            <a:spcBef>
              <a:spcPct val="0"/>
            </a:spcBef>
            <a:spcAft>
              <a:spcPct val="35000"/>
            </a:spcAft>
            <a:buNone/>
          </a:pPr>
          <a:r>
            <a:rPr lang="en-US" sz="3400" kern="1200"/>
            <a:t>Total </a:t>
          </a:r>
          <a:r>
            <a:rPr lang="en-US" sz="3400" kern="1200">
              <a:latin typeface="Aptos Display" panose="020F0302020204030204"/>
            </a:rPr>
            <a:t>RestingBP mean</a:t>
          </a:r>
          <a:r>
            <a:rPr lang="en-US" sz="3400" kern="1200"/>
            <a:t>: </a:t>
          </a:r>
          <a:r>
            <a:rPr lang="en-US" sz="3400" kern="1200">
              <a:latin typeface="Aptos Display" panose="020F0302020204030204"/>
            </a:rPr>
            <a:t>132</a:t>
          </a:r>
          <a:endParaRPr lang="en-US" sz="3400" kern="1200"/>
        </a:p>
      </dsp:txBody>
      <dsp:txXfrm>
        <a:off x="40780" y="2915659"/>
        <a:ext cx="10434040" cy="753820"/>
      </dsp:txXfrm>
    </dsp:sp>
    <dsp:sp modelId="{423FEA37-50D2-48C4-9448-AD182CED0E17}">
      <dsp:nvSpPr>
        <dsp:cNvPr id="0" name=""/>
        <dsp:cNvSpPr/>
      </dsp:nvSpPr>
      <dsp:spPr>
        <a:xfrm>
          <a:off x="0" y="3710259"/>
          <a:ext cx="10515600" cy="563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en-US" sz="2700" kern="1200"/>
            <a:t>Standard deviation: ± 0.145</a:t>
          </a:r>
        </a:p>
      </dsp:txBody>
      <dsp:txXfrm>
        <a:off x="0" y="3710259"/>
        <a:ext cx="10515600" cy="5630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D5ACD3-469F-4B03-B339-D9FDF1AC5DEB}">
      <dsp:nvSpPr>
        <dsp:cNvPr id="0" name=""/>
        <dsp:cNvSpPr/>
      </dsp:nvSpPr>
      <dsp:spPr>
        <a:xfrm>
          <a:off x="0" y="16344"/>
          <a:ext cx="10515600" cy="85994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rtl="0">
            <a:lnSpc>
              <a:spcPct val="90000"/>
            </a:lnSpc>
            <a:spcBef>
              <a:spcPct val="0"/>
            </a:spcBef>
            <a:spcAft>
              <a:spcPct val="35000"/>
            </a:spcAft>
            <a:buNone/>
          </a:pPr>
          <a:r>
            <a:rPr lang="en-US" sz="3500" kern="1200">
              <a:latin typeface="Aptos Display" panose="020F0302020204030204"/>
            </a:rPr>
            <a:t>MaxHR mean</a:t>
          </a:r>
          <a:r>
            <a:rPr lang="en-US" sz="3500" kern="1200"/>
            <a:t> (for people </a:t>
          </a:r>
          <a:r>
            <a:rPr lang="en-US" sz="3500" kern="1200">
              <a:latin typeface="Aptos Display" panose="020F0302020204030204"/>
            </a:rPr>
            <a:t>without</a:t>
          </a:r>
          <a:r>
            <a:rPr lang="en-US" sz="3500" kern="1200"/>
            <a:t> heart disease): </a:t>
          </a:r>
          <a:r>
            <a:rPr lang="en-US" sz="3500" kern="1200">
              <a:latin typeface="Aptos Display" panose="020F0302020204030204"/>
            </a:rPr>
            <a:t>134</a:t>
          </a:r>
          <a:endParaRPr lang="en-US" sz="3500" kern="1200"/>
        </a:p>
      </dsp:txBody>
      <dsp:txXfrm>
        <a:off x="41979" y="58323"/>
        <a:ext cx="10431642" cy="775991"/>
      </dsp:txXfrm>
    </dsp:sp>
    <dsp:sp modelId="{030EB721-3712-4D77-90D1-A84BE16F0B8D}">
      <dsp:nvSpPr>
        <dsp:cNvPr id="0" name=""/>
        <dsp:cNvSpPr/>
      </dsp:nvSpPr>
      <dsp:spPr>
        <a:xfrm>
          <a:off x="0" y="876294"/>
          <a:ext cx="10515600" cy="579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kern="1200"/>
            <a:t>Standard deviation: ± 0.209</a:t>
          </a:r>
        </a:p>
      </dsp:txBody>
      <dsp:txXfrm>
        <a:off x="0" y="876294"/>
        <a:ext cx="10515600" cy="579600"/>
      </dsp:txXfrm>
    </dsp:sp>
    <dsp:sp modelId="{9424AB90-FD77-4CF8-BEBF-BFE435F27E16}">
      <dsp:nvSpPr>
        <dsp:cNvPr id="0" name=""/>
        <dsp:cNvSpPr/>
      </dsp:nvSpPr>
      <dsp:spPr>
        <a:xfrm>
          <a:off x="0" y="1455894"/>
          <a:ext cx="10515600" cy="85994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rtl="0">
            <a:lnSpc>
              <a:spcPct val="90000"/>
            </a:lnSpc>
            <a:spcBef>
              <a:spcPct val="0"/>
            </a:spcBef>
            <a:spcAft>
              <a:spcPct val="35000"/>
            </a:spcAft>
            <a:buNone/>
          </a:pPr>
          <a:r>
            <a:rPr lang="en-US" sz="3500" kern="1200">
              <a:latin typeface="Aptos Display" panose="020F0302020204030204"/>
            </a:rPr>
            <a:t>MaxHR mean</a:t>
          </a:r>
          <a:r>
            <a:rPr lang="en-US" sz="3500" kern="1200"/>
            <a:t> (for people </a:t>
          </a:r>
          <a:r>
            <a:rPr lang="en-US" sz="3500" kern="1200">
              <a:latin typeface="Aptos Display" panose="020F0302020204030204"/>
            </a:rPr>
            <a:t>with</a:t>
          </a:r>
          <a:r>
            <a:rPr lang="en-US" sz="3500" kern="1200"/>
            <a:t> heart disease):</a:t>
          </a:r>
          <a:r>
            <a:rPr lang="en-US" sz="3500" kern="1200">
              <a:latin typeface="Aptos Display" panose="020F0302020204030204"/>
            </a:rPr>
            <a:t> 139</a:t>
          </a:r>
          <a:endParaRPr lang="en-US" sz="3500" kern="1200"/>
        </a:p>
      </dsp:txBody>
      <dsp:txXfrm>
        <a:off x="41979" y="1497873"/>
        <a:ext cx="10431642" cy="775991"/>
      </dsp:txXfrm>
    </dsp:sp>
    <dsp:sp modelId="{39393A59-7602-4745-AD8E-500254D5B592}">
      <dsp:nvSpPr>
        <dsp:cNvPr id="0" name=""/>
        <dsp:cNvSpPr/>
      </dsp:nvSpPr>
      <dsp:spPr>
        <a:xfrm>
          <a:off x="0" y="2315844"/>
          <a:ext cx="10515600" cy="579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kern="1200"/>
            <a:t>Standard deviation: ± 0.123</a:t>
          </a:r>
        </a:p>
      </dsp:txBody>
      <dsp:txXfrm>
        <a:off x="0" y="2315844"/>
        <a:ext cx="10515600" cy="579600"/>
      </dsp:txXfrm>
    </dsp:sp>
    <dsp:sp modelId="{CFF9A03B-3F10-4581-AE22-FBF526DBEDED}">
      <dsp:nvSpPr>
        <dsp:cNvPr id="0" name=""/>
        <dsp:cNvSpPr/>
      </dsp:nvSpPr>
      <dsp:spPr>
        <a:xfrm>
          <a:off x="0" y="2895444"/>
          <a:ext cx="10515600" cy="85994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rtl="0">
            <a:lnSpc>
              <a:spcPct val="90000"/>
            </a:lnSpc>
            <a:spcBef>
              <a:spcPct val="0"/>
            </a:spcBef>
            <a:spcAft>
              <a:spcPct val="35000"/>
            </a:spcAft>
            <a:buNone/>
          </a:pPr>
          <a:r>
            <a:rPr lang="en-US" sz="3500" kern="1200"/>
            <a:t>Total </a:t>
          </a:r>
          <a:r>
            <a:rPr lang="en-US" sz="3500" kern="1200">
              <a:latin typeface="Aptos Display" panose="020F0302020204030204"/>
            </a:rPr>
            <a:t>MaxHR mean</a:t>
          </a:r>
          <a:r>
            <a:rPr lang="en-US" sz="3500" kern="1200"/>
            <a:t>: </a:t>
          </a:r>
          <a:r>
            <a:rPr lang="en-US" sz="3500" kern="1200">
              <a:latin typeface="Aptos Display" panose="020F0302020204030204"/>
            </a:rPr>
            <a:t>137</a:t>
          </a:r>
          <a:endParaRPr lang="en-US" sz="3500" kern="1200"/>
        </a:p>
      </dsp:txBody>
      <dsp:txXfrm>
        <a:off x="41979" y="2937423"/>
        <a:ext cx="10431642" cy="775991"/>
      </dsp:txXfrm>
    </dsp:sp>
    <dsp:sp modelId="{423FEA37-50D2-48C4-9448-AD182CED0E17}">
      <dsp:nvSpPr>
        <dsp:cNvPr id="0" name=""/>
        <dsp:cNvSpPr/>
      </dsp:nvSpPr>
      <dsp:spPr>
        <a:xfrm>
          <a:off x="0" y="3755394"/>
          <a:ext cx="10515600" cy="579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kern="1200"/>
            <a:t>Standard deviation: ± 0.145</a:t>
          </a:r>
        </a:p>
      </dsp:txBody>
      <dsp:txXfrm>
        <a:off x="0" y="3755394"/>
        <a:ext cx="10515600" cy="5796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8BDEC6-B720-486D-A2CA-C06C00E0AA93}">
      <dsp:nvSpPr>
        <dsp:cNvPr id="0" name=""/>
        <dsp:cNvSpPr/>
      </dsp:nvSpPr>
      <dsp:spPr>
        <a:xfrm>
          <a:off x="0" y="16344"/>
          <a:ext cx="10515600" cy="85994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rtl="0">
            <a:lnSpc>
              <a:spcPct val="90000"/>
            </a:lnSpc>
            <a:spcBef>
              <a:spcPct val="0"/>
            </a:spcBef>
            <a:spcAft>
              <a:spcPct val="35000"/>
            </a:spcAft>
            <a:buNone/>
          </a:pPr>
          <a:r>
            <a:rPr lang="en-US" sz="3500" kern="1200">
              <a:latin typeface="Aptos Display" panose="020F0302020204030204"/>
            </a:rPr>
            <a:t>ST Slope Mode: Flat</a:t>
          </a:r>
          <a:endParaRPr lang="en-US" sz="3500" kern="1200"/>
        </a:p>
      </dsp:txBody>
      <dsp:txXfrm>
        <a:off x="41979" y="58323"/>
        <a:ext cx="10431642" cy="775991"/>
      </dsp:txXfrm>
    </dsp:sp>
    <dsp:sp modelId="{88A15C24-81CC-4196-A3DE-46503090B037}">
      <dsp:nvSpPr>
        <dsp:cNvPr id="0" name=""/>
        <dsp:cNvSpPr/>
      </dsp:nvSpPr>
      <dsp:spPr>
        <a:xfrm>
          <a:off x="0" y="876294"/>
          <a:ext cx="10515600" cy="579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4450" rIns="248920" bIns="44450" numCol="1" spcCol="1270" anchor="t" anchorCtr="0">
          <a:noAutofit/>
        </a:bodyPr>
        <a:lstStyle/>
        <a:p>
          <a:pPr marL="228600" lvl="1" indent="-228600" algn="l" defTabSz="1200150" rtl="0">
            <a:lnSpc>
              <a:spcPct val="90000"/>
            </a:lnSpc>
            <a:spcBef>
              <a:spcPct val="0"/>
            </a:spcBef>
            <a:spcAft>
              <a:spcPct val="20000"/>
            </a:spcAft>
            <a:buChar char="•"/>
          </a:pPr>
          <a:r>
            <a:rPr lang="en-US" sz="2700" kern="1200">
              <a:latin typeface="Aptos Display" panose="020F0302020204030204"/>
            </a:rPr>
            <a:t>With heart disease</a:t>
          </a:r>
        </a:p>
      </dsp:txBody>
      <dsp:txXfrm>
        <a:off x="0" y="876294"/>
        <a:ext cx="10515600" cy="579600"/>
      </dsp:txXfrm>
    </dsp:sp>
    <dsp:sp modelId="{A37B6A74-FB70-4FA9-B1C7-BE8221F3C036}">
      <dsp:nvSpPr>
        <dsp:cNvPr id="0" name=""/>
        <dsp:cNvSpPr/>
      </dsp:nvSpPr>
      <dsp:spPr>
        <a:xfrm>
          <a:off x="0" y="1455894"/>
          <a:ext cx="10515600" cy="85994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rtl="0">
            <a:lnSpc>
              <a:spcPct val="90000"/>
            </a:lnSpc>
            <a:spcBef>
              <a:spcPct val="0"/>
            </a:spcBef>
            <a:spcAft>
              <a:spcPct val="35000"/>
            </a:spcAft>
            <a:buNone/>
          </a:pPr>
          <a:r>
            <a:rPr lang="en-US" sz="3500" kern="1200">
              <a:latin typeface="Aptos Display" panose="020F0302020204030204"/>
            </a:rPr>
            <a:t>Resting ECG: Normal</a:t>
          </a:r>
        </a:p>
      </dsp:txBody>
      <dsp:txXfrm>
        <a:off x="41979" y="1497873"/>
        <a:ext cx="10431642" cy="775991"/>
      </dsp:txXfrm>
    </dsp:sp>
    <dsp:sp modelId="{4F76A1AF-72C2-4C56-BF21-9C88D3442D47}">
      <dsp:nvSpPr>
        <dsp:cNvPr id="0" name=""/>
        <dsp:cNvSpPr/>
      </dsp:nvSpPr>
      <dsp:spPr>
        <a:xfrm>
          <a:off x="0" y="2315844"/>
          <a:ext cx="10515600" cy="579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4450" rIns="248920" bIns="44450" numCol="1" spcCol="1270" anchor="t" anchorCtr="0">
          <a:noAutofit/>
        </a:bodyPr>
        <a:lstStyle/>
        <a:p>
          <a:pPr marL="228600" lvl="1" indent="-228600" algn="l" defTabSz="1200150" rtl="0">
            <a:lnSpc>
              <a:spcPct val="90000"/>
            </a:lnSpc>
            <a:spcBef>
              <a:spcPct val="0"/>
            </a:spcBef>
            <a:spcAft>
              <a:spcPct val="20000"/>
            </a:spcAft>
            <a:buChar char="•"/>
          </a:pPr>
          <a:r>
            <a:rPr lang="en-US" sz="2700" kern="1200">
              <a:latin typeface="Aptos Display" panose="020F0302020204030204"/>
            </a:rPr>
            <a:t>With heart disease</a:t>
          </a:r>
        </a:p>
      </dsp:txBody>
      <dsp:txXfrm>
        <a:off x="0" y="2315844"/>
        <a:ext cx="10515600" cy="579600"/>
      </dsp:txXfrm>
    </dsp:sp>
    <dsp:sp modelId="{98265C11-34D4-42EE-BB2A-9CAAF04B58B7}">
      <dsp:nvSpPr>
        <dsp:cNvPr id="0" name=""/>
        <dsp:cNvSpPr/>
      </dsp:nvSpPr>
      <dsp:spPr>
        <a:xfrm>
          <a:off x="0" y="2895444"/>
          <a:ext cx="10515600" cy="85994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rtl="0">
            <a:lnSpc>
              <a:spcPct val="90000"/>
            </a:lnSpc>
            <a:spcBef>
              <a:spcPct val="0"/>
            </a:spcBef>
            <a:spcAft>
              <a:spcPct val="35000"/>
            </a:spcAft>
            <a:buNone/>
          </a:pPr>
          <a:r>
            <a:rPr lang="en-US" sz="3500" kern="1200"/>
            <a:t>Chest Pain Type </a:t>
          </a:r>
          <a:r>
            <a:rPr lang="en-US" sz="3500" kern="1200">
              <a:latin typeface="Aptos Display" panose="020F0302020204030204"/>
            </a:rPr>
            <a:t>mode:</a:t>
          </a:r>
          <a:r>
            <a:rPr lang="en-US" sz="3500" kern="1200"/>
            <a:t> ASY</a:t>
          </a:r>
        </a:p>
      </dsp:txBody>
      <dsp:txXfrm>
        <a:off x="41979" y="2937423"/>
        <a:ext cx="10431642" cy="775991"/>
      </dsp:txXfrm>
    </dsp:sp>
    <dsp:sp modelId="{05912243-4859-41B2-8253-79D7C164E144}">
      <dsp:nvSpPr>
        <dsp:cNvPr id="0" name=""/>
        <dsp:cNvSpPr/>
      </dsp:nvSpPr>
      <dsp:spPr>
        <a:xfrm>
          <a:off x="0" y="3755394"/>
          <a:ext cx="10515600" cy="579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4450" rIns="248920" bIns="44450" numCol="1" spcCol="1270" anchor="t" anchorCtr="0">
          <a:noAutofit/>
        </a:bodyPr>
        <a:lstStyle/>
        <a:p>
          <a:pPr marL="228600" lvl="1" indent="-228600" algn="l" defTabSz="1200150" rtl="0">
            <a:lnSpc>
              <a:spcPct val="90000"/>
            </a:lnSpc>
            <a:spcBef>
              <a:spcPct val="0"/>
            </a:spcBef>
            <a:spcAft>
              <a:spcPct val="20000"/>
            </a:spcAft>
            <a:buChar char="•"/>
          </a:pPr>
          <a:r>
            <a:rPr lang="en-US" sz="2700" kern="1200">
              <a:latin typeface="Aptos Display" panose="020F0302020204030204"/>
            </a:rPr>
            <a:t>With heart disease</a:t>
          </a:r>
        </a:p>
      </dsp:txBody>
      <dsp:txXfrm>
        <a:off x="0" y="3755394"/>
        <a:ext cx="10515600" cy="5796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9410C8-04F2-4688-BA00-A70ABF9D8DA4}">
      <dsp:nvSpPr>
        <dsp:cNvPr id="0" name=""/>
        <dsp:cNvSpPr/>
      </dsp:nvSpPr>
      <dsp:spPr>
        <a:xfrm>
          <a:off x="0" y="0"/>
          <a:ext cx="8697315" cy="1300276"/>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kern="1200"/>
            <a:t>Our hypothesis that cholesterol will have a positive correlation was </a:t>
          </a:r>
          <a:r>
            <a:rPr lang="en-US" sz="1900" b="1" kern="1200"/>
            <a:t>not supported</a:t>
          </a:r>
          <a:r>
            <a:rPr lang="en-US" sz="1900" kern="1200"/>
            <a:t> by this dataset as there was a </a:t>
          </a:r>
          <a:r>
            <a:rPr lang="en-US" sz="1900" kern="1200">
              <a:latin typeface="Aptos Display" panose="020F0302020204030204"/>
            </a:rPr>
            <a:t>slightly negative</a:t>
          </a:r>
          <a:r>
            <a:rPr lang="en-US" sz="1900" kern="1200"/>
            <a:t> correlation between cholesterol and heart disease.</a:t>
          </a:r>
        </a:p>
      </dsp:txBody>
      <dsp:txXfrm>
        <a:off x="38084" y="38084"/>
        <a:ext cx="7294215" cy="1224108"/>
      </dsp:txXfrm>
    </dsp:sp>
    <dsp:sp modelId="{0BA80481-1CBE-4529-838D-F8F63C8C89C7}">
      <dsp:nvSpPr>
        <dsp:cNvPr id="0" name=""/>
        <dsp:cNvSpPr/>
      </dsp:nvSpPr>
      <dsp:spPr>
        <a:xfrm>
          <a:off x="767410" y="1516989"/>
          <a:ext cx="8697315" cy="1300276"/>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kern="1200"/>
            <a:t>However, many outside studies prove that high levels of cholesterol increase your risk of heart disease.</a:t>
          </a:r>
          <a:r>
            <a:rPr lang="en-US" sz="1900" kern="1200">
              <a:latin typeface="Aptos Display" panose="020F0302020204030204"/>
            </a:rPr>
            <a:t> And the mean cholesterol of those without heart disease was lower.</a:t>
          </a:r>
          <a:endParaRPr lang="en-US" sz="1900" kern="1200"/>
        </a:p>
      </dsp:txBody>
      <dsp:txXfrm>
        <a:off x="805494" y="1555073"/>
        <a:ext cx="7008557" cy="1224108"/>
      </dsp:txXfrm>
    </dsp:sp>
    <dsp:sp modelId="{28A8D41D-F5AC-44C6-BF95-D3FC5BCDA39A}">
      <dsp:nvSpPr>
        <dsp:cNvPr id="0" name=""/>
        <dsp:cNvSpPr/>
      </dsp:nvSpPr>
      <dsp:spPr>
        <a:xfrm>
          <a:off x="1534820" y="3033979"/>
          <a:ext cx="8697315" cy="1300276"/>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kern="1200"/>
            <a:t>We believe the data showed a negative correlation because the dataset </a:t>
          </a:r>
          <a:r>
            <a:rPr lang="en-US" sz="1900" kern="1200">
              <a:latin typeface="Aptos Display" panose="020F0302020204030204"/>
            </a:rPr>
            <a:t>had 117 "0" values for people without heart disease. </a:t>
          </a:r>
          <a:endParaRPr lang="en-US" sz="1900" kern="1200"/>
        </a:p>
      </dsp:txBody>
      <dsp:txXfrm>
        <a:off x="1572904" y="3072063"/>
        <a:ext cx="7008557" cy="1224108"/>
      </dsp:txXfrm>
    </dsp:sp>
    <dsp:sp modelId="{EE5F6FEF-C33D-4566-9397-6EBE4E87F558}">
      <dsp:nvSpPr>
        <dsp:cNvPr id="0" name=""/>
        <dsp:cNvSpPr/>
      </dsp:nvSpPr>
      <dsp:spPr>
        <a:xfrm>
          <a:off x="7852135" y="986043"/>
          <a:ext cx="845179" cy="845179"/>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042300" y="986043"/>
        <a:ext cx="464849" cy="635997"/>
      </dsp:txXfrm>
    </dsp:sp>
    <dsp:sp modelId="{20B222E2-36DC-410A-BD30-43139199F6DF}">
      <dsp:nvSpPr>
        <dsp:cNvPr id="0" name=""/>
        <dsp:cNvSpPr/>
      </dsp:nvSpPr>
      <dsp:spPr>
        <a:xfrm>
          <a:off x="8619545" y="2494364"/>
          <a:ext cx="845179" cy="845179"/>
        </a:xfrm>
        <a:prstGeom prst="downArrow">
          <a:avLst>
            <a:gd name="adj1" fmla="val 55000"/>
            <a:gd name="adj2" fmla="val 45000"/>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809710" y="2494364"/>
        <a:ext cx="464849" cy="63599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9410C8-04F2-4688-BA00-A70ABF9D8DA4}">
      <dsp:nvSpPr>
        <dsp:cNvPr id="0" name=""/>
        <dsp:cNvSpPr/>
      </dsp:nvSpPr>
      <dsp:spPr>
        <a:xfrm>
          <a:off x="0" y="0"/>
          <a:ext cx="8697315" cy="1300276"/>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a:solidFill>
                <a:schemeClr val="bg1"/>
              </a:solidFill>
              <a:latin typeface="Arial"/>
              <a:cs typeface="Arial"/>
            </a:rPr>
            <a:t>Our hypothesis that sex will have no influence was </a:t>
          </a:r>
          <a:r>
            <a:rPr lang="en-US" sz="2000" b="0" kern="1200">
              <a:solidFill>
                <a:schemeClr val="bg1"/>
              </a:solidFill>
              <a:latin typeface="Arial"/>
              <a:cs typeface="Arial"/>
            </a:rPr>
            <a:t>not supported</a:t>
          </a:r>
          <a:r>
            <a:rPr lang="en-US" sz="2000" kern="1200">
              <a:solidFill>
                <a:schemeClr val="bg1"/>
              </a:solidFill>
              <a:latin typeface="Arial"/>
              <a:cs typeface="Arial"/>
            </a:rPr>
            <a:t> by our dataset as there was a negative correlation for females and there was a positive correlation for males.</a:t>
          </a:r>
        </a:p>
      </dsp:txBody>
      <dsp:txXfrm>
        <a:off x="38084" y="38084"/>
        <a:ext cx="7294215" cy="1224108"/>
      </dsp:txXfrm>
    </dsp:sp>
    <dsp:sp modelId="{0BA80481-1CBE-4529-838D-F8F63C8C89C7}">
      <dsp:nvSpPr>
        <dsp:cNvPr id="0" name=""/>
        <dsp:cNvSpPr/>
      </dsp:nvSpPr>
      <dsp:spPr>
        <a:xfrm>
          <a:off x="767410" y="1516989"/>
          <a:ext cx="8697315" cy="1300276"/>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solidFill>
                <a:schemeClr val="bg1"/>
              </a:solidFill>
              <a:latin typeface="Arial"/>
              <a:cs typeface="Arial"/>
            </a:rPr>
            <a:t>However there was a significant difference in amount of females and males in the study. (725 males and 193 females)</a:t>
          </a:r>
        </a:p>
      </dsp:txBody>
      <dsp:txXfrm>
        <a:off x="805494" y="1555073"/>
        <a:ext cx="7008557" cy="1224108"/>
      </dsp:txXfrm>
    </dsp:sp>
    <dsp:sp modelId="{28A8D41D-F5AC-44C6-BF95-D3FC5BCDA39A}">
      <dsp:nvSpPr>
        <dsp:cNvPr id="0" name=""/>
        <dsp:cNvSpPr/>
      </dsp:nvSpPr>
      <dsp:spPr>
        <a:xfrm>
          <a:off x="1534820" y="3033979"/>
          <a:ext cx="8697315" cy="1300276"/>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a:solidFill>
                <a:schemeClr val="bg1"/>
              </a:solidFill>
              <a:latin typeface="Arial"/>
              <a:cs typeface="Arial"/>
            </a:rPr>
            <a:t>And 44% of the males and 46% of the females had heart disease so a relatively similar amount of females and males had heart disease</a:t>
          </a:r>
        </a:p>
      </dsp:txBody>
      <dsp:txXfrm>
        <a:off x="1572904" y="3072063"/>
        <a:ext cx="7008557" cy="1224108"/>
      </dsp:txXfrm>
    </dsp:sp>
    <dsp:sp modelId="{EE5F6FEF-C33D-4566-9397-6EBE4E87F558}">
      <dsp:nvSpPr>
        <dsp:cNvPr id="0" name=""/>
        <dsp:cNvSpPr/>
      </dsp:nvSpPr>
      <dsp:spPr>
        <a:xfrm>
          <a:off x="7852135" y="986043"/>
          <a:ext cx="845179" cy="845179"/>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042300" y="986043"/>
        <a:ext cx="464849" cy="635997"/>
      </dsp:txXfrm>
    </dsp:sp>
    <dsp:sp modelId="{20B222E2-36DC-410A-BD30-43139199F6DF}">
      <dsp:nvSpPr>
        <dsp:cNvPr id="0" name=""/>
        <dsp:cNvSpPr/>
      </dsp:nvSpPr>
      <dsp:spPr>
        <a:xfrm>
          <a:off x="8619545" y="2494364"/>
          <a:ext cx="845179" cy="845179"/>
        </a:xfrm>
        <a:prstGeom prst="downArrow">
          <a:avLst>
            <a:gd name="adj1" fmla="val 55000"/>
            <a:gd name="adj2" fmla="val 45000"/>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809710" y="2494364"/>
        <a:ext cx="464849" cy="63599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goqatar.com/92701" TargetMode="External"/><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6.xml.rels><?xml version="1.0" encoding="UTF-8" standalone="yes"?>
<Relationships xmlns="http://schemas.openxmlformats.org/package/2006/relationships"><Relationship Id="rId3" Type="http://schemas.openxmlformats.org/officeDocument/2006/relationships/hyperlink" Target="http://www.pngall.com/disease-png"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8320351-9FA2-4A26-885B-BB8F3E490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68CD2EFB-78C2-4C6E-A6B9-4ED12FAD5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Heartshaped platelets suspended in the air">
            <a:extLst>
              <a:ext uri="{FF2B5EF4-FFF2-40B4-BE49-F238E27FC236}">
                <a16:creationId xmlns:a16="http://schemas.microsoft.com/office/drawing/2014/main" id="{E72E2D7F-2D78-B024-C36D-60C32FB255B1}"/>
              </a:ext>
            </a:extLst>
          </p:cNvPr>
          <p:cNvPicPr>
            <a:picLocks noChangeAspect="1"/>
          </p:cNvPicPr>
          <p:nvPr/>
        </p:nvPicPr>
        <p:blipFill rotWithShape="1">
          <a:blip r:embed="rId2">
            <a:alphaModFix amt="60000"/>
          </a:blip>
          <a:srcRect t="8460" r="-2" b="16539"/>
          <a:stretch/>
        </p:blipFill>
        <p:spPr>
          <a:xfrm>
            <a:off x="-1" y="10"/>
            <a:ext cx="12192001" cy="6857990"/>
          </a:xfrm>
          <a:prstGeom prst="rect">
            <a:avLst/>
          </a:prstGeom>
        </p:spPr>
      </p:pic>
      <p:sp>
        <p:nvSpPr>
          <p:cNvPr id="2" name="Title 1"/>
          <p:cNvSpPr>
            <a:spLocks noGrp="1"/>
          </p:cNvSpPr>
          <p:nvPr>
            <p:ph type="ctrTitle"/>
          </p:nvPr>
        </p:nvSpPr>
        <p:spPr>
          <a:xfrm>
            <a:off x="841248" y="600427"/>
            <a:ext cx="9875520" cy="3299902"/>
          </a:xfrm>
        </p:spPr>
        <p:txBody>
          <a:bodyPr>
            <a:normAutofit/>
          </a:bodyPr>
          <a:lstStyle/>
          <a:p>
            <a:pPr algn="l"/>
            <a:r>
              <a:rPr lang="en-US" sz="8200">
                <a:solidFill>
                  <a:srgbClr val="FFFFFF"/>
                </a:solidFill>
              </a:rPr>
              <a:t>Heart Disease</a:t>
            </a:r>
          </a:p>
        </p:txBody>
      </p:sp>
      <p:sp>
        <p:nvSpPr>
          <p:cNvPr id="3" name="Subtitle 2"/>
          <p:cNvSpPr>
            <a:spLocks noGrp="1"/>
          </p:cNvSpPr>
          <p:nvPr>
            <p:ph type="subTitle" idx="1"/>
          </p:nvPr>
        </p:nvSpPr>
        <p:spPr>
          <a:xfrm>
            <a:off x="859536" y="4072045"/>
            <a:ext cx="9875520" cy="1414355"/>
          </a:xfrm>
        </p:spPr>
        <p:txBody>
          <a:bodyPr vert="horz" lIns="91440" tIns="45720" rIns="91440" bIns="45720" rtlCol="0">
            <a:normAutofit/>
          </a:bodyPr>
          <a:lstStyle/>
          <a:p>
            <a:pPr algn="l"/>
            <a:r>
              <a:rPr lang="en-US">
                <a:solidFill>
                  <a:srgbClr val="FFFFFF"/>
                </a:solidFill>
              </a:rPr>
              <a:t>DS1010 Spring 2024</a:t>
            </a:r>
          </a:p>
          <a:p>
            <a:pPr algn="l"/>
            <a:r>
              <a:rPr lang="en-US">
                <a:solidFill>
                  <a:srgbClr val="FFFFFF"/>
                </a:solidFill>
              </a:rPr>
              <a:t>Ronak Wani, Hannah Han, Aravind Sathappan</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Heart disease medicine cut out icon | Free stock photo - 402389">
            <a:extLst>
              <a:ext uri="{FF2B5EF4-FFF2-40B4-BE49-F238E27FC236}">
                <a16:creationId xmlns:a16="http://schemas.microsoft.com/office/drawing/2014/main" id="{9FB76CB4-DC91-CCE9-59C2-E9BEA34C1F4F}"/>
              </a:ext>
            </a:extLst>
          </p:cNvPr>
          <p:cNvPicPr>
            <a:picLocks noChangeAspect="1"/>
          </p:cNvPicPr>
          <p:nvPr/>
        </p:nvPicPr>
        <p:blipFill rotWithShape="1">
          <a:blip r:embed="rId2">
            <a:alphaModFix amt="40000"/>
          </a:blip>
          <a:srcRect t="21144" b="22606"/>
          <a:stretch/>
        </p:blipFill>
        <p:spPr>
          <a:xfrm>
            <a:off x="20" y="10"/>
            <a:ext cx="12191979" cy="6857990"/>
          </a:xfrm>
          <a:prstGeom prst="rect">
            <a:avLst/>
          </a:prstGeom>
        </p:spPr>
      </p:pic>
      <p:sp>
        <p:nvSpPr>
          <p:cNvPr id="2" name="Title 1">
            <a:extLst>
              <a:ext uri="{FF2B5EF4-FFF2-40B4-BE49-F238E27FC236}">
                <a16:creationId xmlns:a16="http://schemas.microsoft.com/office/drawing/2014/main" id="{3F7CC649-F16A-E678-DB85-E85973227EBF}"/>
              </a:ext>
            </a:extLst>
          </p:cNvPr>
          <p:cNvSpPr>
            <a:spLocks noGrp="1"/>
          </p:cNvSpPr>
          <p:nvPr>
            <p:ph type="title"/>
          </p:nvPr>
        </p:nvSpPr>
        <p:spPr>
          <a:xfrm>
            <a:off x="841249" y="941832"/>
            <a:ext cx="10506456" cy="2057400"/>
          </a:xfrm>
        </p:spPr>
        <p:txBody>
          <a:bodyPr anchor="b">
            <a:normAutofit/>
          </a:bodyPr>
          <a:lstStyle/>
          <a:p>
            <a:r>
              <a:rPr lang="en-US" sz="5000">
                <a:solidFill>
                  <a:schemeClr val="bg1"/>
                </a:solidFill>
              </a:rPr>
              <a:t>Table of Contents</a:t>
            </a:r>
          </a:p>
        </p:txBody>
      </p:sp>
      <p:sp>
        <p:nvSpPr>
          <p:cNvPr id="26" name="Rectangle 25">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8" name="Rectangle 2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Content Placeholder 2">
            <a:extLst>
              <a:ext uri="{FF2B5EF4-FFF2-40B4-BE49-F238E27FC236}">
                <a16:creationId xmlns:a16="http://schemas.microsoft.com/office/drawing/2014/main" id="{743A598B-DD0D-D532-A810-063C1AC22558}"/>
              </a:ext>
            </a:extLst>
          </p:cNvPr>
          <p:cNvSpPr>
            <a:spLocks noGrp="1"/>
          </p:cNvSpPr>
          <p:nvPr>
            <p:ph idx="1"/>
          </p:nvPr>
        </p:nvSpPr>
        <p:spPr>
          <a:xfrm>
            <a:off x="841248" y="3502152"/>
            <a:ext cx="10506456" cy="2670048"/>
          </a:xfrm>
        </p:spPr>
        <p:txBody>
          <a:bodyPr vert="horz" lIns="91440" tIns="45720" rIns="91440" bIns="45720" rtlCol="0">
            <a:normAutofit/>
          </a:bodyPr>
          <a:lstStyle/>
          <a:p>
            <a:r>
              <a:rPr lang="en-US" sz="1700">
                <a:solidFill>
                  <a:schemeClr val="bg1"/>
                </a:solidFill>
                <a:ea typeface="+mn-lt"/>
                <a:cs typeface="+mn-lt"/>
              </a:rPr>
              <a:t>The Data</a:t>
            </a:r>
          </a:p>
          <a:p>
            <a:r>
              <a:rPr lang="en-US" sz="1700">
                <a:solidFill>
                  <a:schemeClr val="bg1"/>
                </a:solidFill>
                <a:ea typeface="+mn-lt"/>
                <a:cs typeface="+mn-lt"/>
              </a:rPr>
              <a:t>Limitations &amp; Inconsistencies</a:t>
            </a:r>
          </a:p>
          <a:p>
            <a:r>
              <a:rPr lang="en-US" sz="1700">
                <a:solidFill>
                  <a:schemeClr val="bg1"/>
                </a:solidFill>
                <a:ea typeface="+mn-lt"/>
                <a:cs typeface="+mn-lt"/>
              </a:rPr>
              <a:t>Means, Medians &amp; Modes</a:t>
            </a:r>
          </a:p>
          <a:p>
            <a:r>
              <a:rPr lang="en-US" sz="1700">
                <a:solidFill>
                  <a:schemeClr val="bg1"/>
                </a:solidFill>
                <a:ea typeface="+mn-lt"/>
                <a:cs typeface="+mn-lt"/>
              </a:rPr>
              <a:t>Hypothesis</a:t>
            </a:r>
          </a:p>
          <a:p>
            <a:r>
              <a:rPr lang="en-US" sz="1700">
                <a:solidFill>
                  <a:schemeClr val="bg1"/>
                </a:solidFill>
                <a:ea typeface="+mn-lt"/>
                <a:cs typeface="+mn-lt"/>
              </a:rPr>
              <a:t>Target Audience</a:t>
            </a:r>
          </a:p>
          <a:p>
            <a:r>
              <a:rPr lang="en-US" sz="1700">
                <a:solidFill>
                  <a:schemeClr val="bg1"/>
                </a:solidFill>
                <a:ea typeface="+mn-lt"/>
                <a:cs typeface="+mn-lt"/>
              </a:rPr>
              <a:t>Statistical Analysis</a:t>
            </a:r>
          </a:p>
          <a:p>
            <a:r>
              <a:rPr lang="en-US" sz="1700">
                <a:solidFill>
                  <a:schemeClr val="bg1"/>
                </a:solidFill>
                <a:ea typeface="+mn-lt"/>
                <a:cs typeface="+mn-lt"/>
              </a:rPr>
              <a:t>Conclusion</a:t>
            </a:r>
          </a:p>
          <a:p>
            <a:endParaRPr lang="en-US" sz="1700">
              <a:solidFill>
                <a:schemeClr val="bg1"/>
              </a:solidFill>
            </a:endParaRPr>
          </a:p>
        </p:txBody>
      </p:sp>
    </p:spTree>
    <p:extLst>
      <p:ext uri="{BB962C8B-B14F-4D97-AF65-F5344CB8AC3E}">
        <p14:creationId xmlns:p14="http://schemas.microsoft.com/office/powerpoint/2010/main" val="2711715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B594F1-959D-F0CB-1675-9514CF026FA8}"/>
              </a:ext>
            </a:extLst>
          </p:cNvPr>
          <p:cNvSpPr>
            <a:spLocks noGrp="1"/>
          </p:cNvSpPr>
          <p:nvPr>
            <p:ph type="title"/>
          </p:nvPr>
        </p:nvSpPr>
        <p:spPr>
          <a:xfrm>
            <a:off x="1020835" y="348865"/>
            <a:ext cx="10044023" cy="877729"/>
          </a:xfrm>
        </p:spPr>
        <p:txBody>
          <a:bodyPr anchor="ctr">
            <a:normAutofit/>
          </a:bodyPr>
          <a:lstStyle/>
          <a:p>
            <a:r>
              <a:rPr lang="en-US" sz="4000">
                <a:solidFill>
                  <a:srgbClr val="FFFFFF"/>
                </a:solidFill>
              </a:rPr>
              <a:t>The Data</a:t>
            </a:r>
          </a:p>
        </p:txBody>
      </p:sp>
      <p:sp>
        <p:nvSpPr>
          <p:cNvPr id="3" name="Content Placeholder 2">
            <a:extLst>
              <a:ext uri="{FF2B5EF4-FFF2-40B4-BE49-F238E27FC236}">
                <a16:creationId xmlns:a16="http://schemas.microsoft.com/office/drawing/2014/main" id="{A2688DF5-3519-0610-F1D4-6ECD8C0DCB11}"/>
              </a:ext>
            </a:extLst>
          </p:cNvPr>
          <p:cNvSpPr>
            <a:spLocks/>
          </p:cNvSpPr>
          <p:nvPr/>
        </p:nvSpPr>
        <p:spPr>
          <a:xfrm>
            <a:off x="1019848" y="2003722"/>
            <a:ext cx="10154151" cy="1646797"/>
          </a:xfrm>
          <a:prstGeom prst="rect">
            <a:avLst/>
          </a:prstGeom>
        </p:spPr>
        <p:txBody>
          <a:bodyPr vert="horz" lIns="91440" tIns="45720" rIns="91440" bIns="45720" rtlCol="0" anchor="t">
            <a:noAutofit/>
          </a:bodyPr>
          <a:lstStyle/>
          <a:p>
            <a:pPr defTabSz="868680">
              <a:spcAft>
                <a:spcPts val="600"/>
              </a:spcAft>
            </a:pPr>
            <a:r>
              <a:rPr lang="en-US" sz="2000" kern="1200">
                <a:latin typeface="Calibri"/>
                <a:ea typeface="+mn-lt"/>
                <a:cs typeface="+mn-lt"/>
              </a:rPr>
              <a:t>The dataset consists of 919 people and accounts the person's age, sex, chest pain type, resting blood pressure, cholesterol, fasting blood sugar test, resting electrocardiography, max heartrate, exercise Angina, old peak, ST slope, and heart disease. </a:t>
            </a:r>
          </a:p>
          <a:p>
            <a:pPr marL="0" indent="0">
              <a:spcAft>
                <a:spcPts val="600"/>
              </a:spcAft>
              <a:buNone/>
            </a:pPr>
            <a:endParaRPr lang="en-US" sz="2400">
              <a:latin typeface="Calibri"/>
              <a:ea typeface="+mn-lt"/>
              <a:cs typeface="+mn-lt"/>
            </a:endParaRPr>
          </a:p>
        </p:txBody>
      </p:sp>
      <p:sp>
        <p:nvSpPr>
          <p:cNvPr id="7" name="TextBox 6">
            <a:extLst>
              <a:ext uri="{FF2B5EF4-FFF2-40B4-BE49-F238E27FC236}">
                <a16:creationId xmlns:a16="http://schemas.microsoft.com/office/drawing/2014/main" id="{5D1D584F-CBF6-E41A-E1F2-CBAE443F56B0}"/>
              </a:ext>
            </a:extLst>
          </p:cNvPr>
          <p:cNvSpPr txBox="1"/>
          <p:nvPr/>
        </p:nvSpPr>
        <p:spPr>
          <a:xfrm>
            <a:off x="1030754" y="4189074"/>
            <a:ext cx="4618896"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868680">
              <a:spcAft>
                <a:spcPts val="600"/>
              </a:spcAft>
              <a:buFont typeface="Arial"/>
              <a:buChar char="•"/>
            </a:pPr>
            <a:r>
              <a:rPr lang="en-US" kern="1200">
                <a:latin typeface="Calibri"/>
                <a:ea typeface="+mn-lt"/>
                <a:cs typeface="+mn-lt"/>
              </a:rPr>
              <a:t>Age: 28-77 </a:t>
            </a:r>
            <a:endParaRPr lang="en-US" kern="1200">
              <a:latin typeface="Calibri"/>
              <a:ea typeface="Calibri"/>
              <a:cs typeface="Calibri"/>
            </a:endParaRPr>
          </a:p>
          <a:p>
            <a:pPr defTabSz="868680">
              <a:spcAft>
                <a:spcPts val="600"/>
              </a:spcAft>
              <a:buFont typeface="Arial"/>
              <a:buChar char="•"/>
            </a:pPr>
            <a:r>
              <a:rPr lang="en-US" kern="1200">
                <a:latin typeface="Calibri"/>
                <a:ea typeface="+mn-lt"/>
                <a:cs typeface="+mn-lt"/>
              </a:rPr>
              <a:t>Sex: M/F </a:t>
            </a:r>
            <a:endParaRPr lang="en-US" kern="1200">
              <a:latin typeface="Calibri"/>
              <a:ea typeface="Calibri"/>
              <a:cs typeface="Calibri"/>
            </a:endParaRPr>
          </a:p>
          <a:p>
            <a:pPr defTabSz="868680">
              <a:spcAft>
                <a:spcPts val="600"/>
              </a:spcAft>
              <a:buFont typeface="Arial"/>
              <a:buChar char="•"/>
            </a:pPr>
            <a:r>
              <a:rPr lang="en-US" kern="1200">
                <a:latin typeface="Calibri"/>
                <a:ea typeface="+mn-lt"/>
                <a:cs typeface="+mn-lt"/>
              </a:rPr>
              <a:t>ChestPainType: ATA, NAP, ASY, TA </a:t>
            </a:r>
            <a:endParaRPr lang="en-US" kern="1200">
              <a:latin typeface="Calibri"/>
              <a:ea typeface="Calibri"/>
              <a:cs typeface="Calibri"/>
            </a:endParaRPr>
          </a:p>
          <a:p>
            <a:pPr defTabSz="868680">
              <a:spcAft>
                <a:spcPts val="600"/>
              </a:spcAft>
              <a:buFont typeface="Arial"/>
              <a:buChar char="•"/>
            </a:pPr>
            <a:r>
              <a:rPr lang="en-US" kern="1200">
                <a:latin typeface="Calibri"/>
                <a:ea typeface="+mn-lt"/>
                <a:cs typeface="+mn-lt"/>
              </a:rPr>
              <a:t>Resting BP:  </a:t>
            </a:r>
            <a:r>
              <a:rPr lang="en-US">
                <a:latin typeface="Calibri"/>
                <a:ea typeface="+mn-lt"/>
                <a:cs typeface="+mn-lt"/>
              </a:rPr>
              <a:t>mmHg</a:t>
            </a:r>
            <a:r>
              <a:rPr lang="en-US" kern="1200">
                <a:latin typeface="Calibri"/>
                <a:ea typeface="+mn-lt"/>
                <a:cs typeface="+mn-lt"/>
              </a:rPr>
              <a:t> </a:t>
            </a:r>
            <a:endParaRPr lang="en-US" kern="1200">
              <a:latin typeface="Calibri"/>
              <a:ea typeface="Calibri"/>
              <a:cs typeface="Calibri"/>
            </a:endParaRPr>
          </a:p>
          <a:p>
            <a:pPr defTabSz="868680">
              <a:spcAft>
                <a:spcPts val="600"/>
              </a:spcAft>
              <a:buFont typeface="Arial"/>
              <a:buChar char="•"/>
            </a:pPr>
            <a:r>
              <a:rPr lang="en-US" kern="1200">
                <a:latin typeface="Calibri"/>
                <a:ea typeface="+mn-lt"/>
                <a:cs typeface="+mn-lt"/>
              </a:rPr>
              <a:t>Cholesterol: mg/dL </a:t>
            </a:r>
            <a:endParaRPr lang="en-US" kern="1200">
              <a:latin typeface="Calibri"/>
              <a:ea typeface="Calibri"/>
              <a:cs typeface="Calibri"/>
            </a:endParaRPr>
          </a:p>
          <a:p>
            <a:pPr defTabSz="868680">
              <a:spcAft>
                <a:spcPts val="600"/>
              </a:spcAft>
              <a:buFont typeface="Arial"/>
              <a:buChar char="•"/>
            </a:pPr>
            <a:r>
              <a:rPr lang="en-US" kern="1200">
                <a:latin typeface="Calibri"/>
                <a:ea typeface="+mn-lt"/>
                <a:cs typeface="+mn-lt"/>
              </a:rPr>
              <a:t>Fasting BP: 0/1 (low/high) </a:t>
            </a:r>
            <a:endParaRPr lang="en-US" kern="1200">
              <a:latin typeface="Calibri"/>
              <a:ea typeface="Calibri"/>
              <a:cs typeface="Calibri"/>
            </a:endParaRPr>
          </a:p>
          <a:p>
            <a:pPr marL="342900" indent="-342900">
              <a:spcAft>
                <a:spcPts val="600"/>
              </a:spcAft>
              <a:buFont typeface="Arial"/>
              <a:buChar char="•"/>
            </a:pPr>
            <a:endParaRPr lang="en-US" sz="2400">
              <a:solidFill>
                <a:srgbClr val="808080"/>
              </a:solidFill>
              <a:latin typeface="Calibri"/>
              <a:ea typeface="+mn-lt"/>
              <a:cs typeface="Segoe UI"/>
            </a:endParaRPr>
          </a:p>
        </p:txBody>
      </p:sp>
      <p:sp>
        <p:nvSpPr>
          <p:cNvPr id="8" name="TextBox 7">
            <a:extLst>
              <a:ext uri="{FF2B5EF4-FFF2-40B4-BE49-F238E27FC236}">
                <a16:creationId xmlns:a16="http://schemas.microsoft.com/office/drawing/2014/main" id="{6CA90098-3670-2955-331F-155DF0ED8FE7}"/>
              </a:ext>
            </a:extLst>
          </p:cNvPr>
          <p:cNvSpPr txBox="1"/>
          <p:nvPr/>
        </p:nvSpPr>
        <p:spPr>
          <a:xfrm>
            <a:off x="6042495" y="4188882"/>
            <a:ext cx="5142691" cy="21390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17170" indent="-217170" defTabSz="868680">
              <a:spcAft>
                <a:spcPts val="600"/>
              </a:spcAft>
              <a:buFont typeface="Arial,Sans-Serif"/>
              <a:buChar char="•"/>
            </a:pPr>
            <a:r>
              <a:rPr lang="en-US" kern="1200">
                <a:latin typeface="Calibri"/>
                <a:ea typeface="Calibri"/>
                <a:cs typeface="Arial"/>
              </a:rPr>
              <a:t>Resting ECG: Normal/ST</a:t>
            </a:r>
            <a:r>
              <a:rPr lang="en-US">
                <a:latin typeface="Calibri"/>
                <a:ea typeface="Calibri"/>
                <a:cs typeface="Arial"/>
              </a:rPr>
              <a:t>/LVH</a:t>
            </a:r>
            <a:endParaRPr lang="en-US" kern="1200">
              <a:solidFill>
                <a:srgbClr val="555555"/>
              </a:solidFill>
              <a:latin typeface="Calibri"/>
              <a:ea typeface="Calibri"/>
              <a:cs typeface="Arial"/>
            </a:endParaRPr>
          </a:p>
          <a:p>
            <a:pPr marL="217170" indent="-217170" defTabSz="868680">
              <a:spcAft>
                <a:spcPts val="600"/>
              </a:spcAft>
              <a:buFont typeface="Arial,Sans-Serif"/>
              <a:buChar char="•"/>
            </a:pPr>
            <a:r>
              <a:rPr lang="en-US" kern="1200">
                <a:latin typeface="Calibri"/>
                <a:ea typeface="Calibri"/>
                <a:cs typeface="Arial"/>
              </a:rPr>
              <a:t>Max HR: per minute </a:t>
            </a:r>
            <a:r>
              <a:rPr lang="en-US" kern="1200">
                <a:solidFill>
                  <a:srgbClr val="555555"/>
                </a:solidFill>
                <a:latin typeface="Calibri"/>
                <a:ea typeface="Calibri"/>
                <a:cs typeface="Arial"/>
              </a:rPr>
              <a:t>​</a:t>
            </a:r>
          </a:p>
          <a:p>
            <a:pPr marL="217170" indent="-217170" defTabSz="868680">
              <a:spcAft>
                <a:spcPts val="600"/>
              </a:spcAft>
              <a:buFont typeface="Arial,Sans-Serif"/>
              <a:buChar char="•"/>
            </a:pPr>
            <a:r>
              <a:rPr lang="en-US" kern="1200">
                <a:latin typeface="Calibri"/>
                <a:ea typeface="Calibri"/>
                <a:cs typeface="Arial"/>
              </a:rPr>
              <a:t>Exercise Angina: Yes/No </a:t>
            </a:r>
            <a:r>
              <a:rPr lang="en-US" kern="1200">
                <a:solidFill>
                  <a:srgbClr val="555555"/>
                </a:solidFill>
                <a:latin typeface="Calibri"/>
                <a:ea typeface="Calibri"/>
                <a:cs typeface="Arial"/>
              </a:rPr>
              <a:t>​</a:t>
            </a:r>
          </a:p>
          <a:p>
            <a:pPr marL="217170" indent="-217170" defTabSz="868680">
              <a:spcAft>
                <a:spcPts val="600"/>
              </a:spcAft>
              <a:buFont typeface="Arial,Sans-Serif"/>
              <a:buChar char="•"/>
            </a:pPr>
            <a:r>
              <a:rPr lang="en-US" kern="1200">
                <a:latin typeface="Calibri"/>
                <a:ea typeface="Calibri"/>
                <a:cs typeface="Arial"/>
              </a:rPr>
              <a:t>Old Peak: millimeter of ST depression </a:t>
            </a:r>
            <a:r>
              <a:rPr lang="en-US" kern="1200">
                <a:solidFill>
                  <a:srgbClr val="555555"/>
                </a:solidFill>
                <a:latin typeface="Calibri"/>
                <a:ea typeface="Calibri"/>
                <a:cs typeface="Arial"/>
              </a:rPr>
              <a:t>​</a:t>
            </a:r>
          </a:p>
          <a:p>
            <a:pPr marL="217170" indent="-217170" defTabSz="868680">
              <a:spcAft>
                <a:spcPts val="600"/>
              </a:spcAft>
              <a:buFont typeface="Arial,Sans-Serif"/>
              <a:buChar char="•"/>
            </a:pPr>
            <a:r>
              <a:rPr lang="en-US" kern="1200">
                <a:latin typeface="Calibri"/>
                <a:ea typeface="Calibri"/>
                <a:cs typeface="Arial"/>
              </a:rPr>
              <a:t>ST Slope: Up/Flat/Down </a:t>
            </a:r>
            <a:r>
              <a:rPr lang="en-US" kern="1200">
                <a:solidFill>
                  <a:srgbClr val="555555"/>
                </a:solidFill>
                <a:latin typeface="Calibri"/>
                <a:ea typeface="Calibri"/>
                <a:cs typeface="Arial"/>
              </a:rPr>
              <a:t>​</a:t>
            </a:r>
          </a:p>
          <a:p>
            <a:pPr marL="217170" indent="-217170" defTabSz="868680">
              <a:spcAft>
                <a:spcPts val="600"/>
              </a:spcAft>
              <a:buFont typeface="Arial,Sans-Serif"/>
              <a:buChar char="•"/>
            </a:pPr>
            <a:r>
              <a:rPr lang="en-US" kern="1200">
                <a:latin typeface="Calibri"/>
                <a:ea typeface="Calibri"/>
                <a:cs typeface="Arial"/>
              </a:rPr>
              <a:t>Heart Disease: 0/1 (yes/no)</a:t>
            </a:r>
            <a:endParaRPr lang="en-US">
              <a:latin typeface="Calibri"/>
              <a:ea typeface="Calibri"/>
            </a:endParaRPr>
          </a:p>
        </p:txBody>
      </p:sp>
      <p:pic>
        <p:nvPicPr>
          <p:cNvPr id="4" name="Picture 3" descr="A grey rectangular sign with black text&#10;&#10;Description automatically generated">
            <a:extLst>
              <a:ext uri="{FF2B5EF4-FFF2-40B4-BE49-F238E27FC236}">
                <a16:creationId xmlns:a16="http://schemas.microsoft.com/office/drawing/2014/main" id="{FFB5C621-4E86-E623-DADE-78CDBF192145}"/>
              </a:ext>
            </a:extLst>
          </p:cNvPr>
          <p:cNvPicPr>
            <a:picLocks noChangeAspect="1"/>
          </p:cNvPicPr>
          <p:nvPr/>
        </p:nvPicPr>
        <p:blipFill>
          <a:blip r:embed="rId2"/>
          <a:stretch>
            <a:fillRect/>
          </a:stretch>
        </p:blipFill>
        <p:spPr>
          <a:xfrm>
            <a:off x="1028095" y="3282059"/>
            <a:ext cx="10147904" cy="717215"/>
          </a:xfrm>
          <a:prstGeom prst="rect">
            <a:avLst/>
          </a:prstGeom>
        </p:spPr>
      </p:pic>
    </p:spTree>
    <p:extLst>
      <p:ext uri="{BB962C8B-B14F-4D97-AF65-F5344CB8AC3E}">
        <p14:creationId xmlns:p14="http://schemas.microsoft.com/office/powerpoint/2010/main" val="3157167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descr="Stethoscope">
            <a:extLst>
              <a:ext uri="{FF2B5EF4-FFF2-40B4-BE49-F238E27FC236}">
                <a16:creationId xmlns:a16="http://schemas.microsoft.com/office/drawing/2014/main" id="{06DC30AE-E50B-1FC8-1496-6E6C4675FC75}"/>
              </a:ext>
            </a:extLst>
          </p:cNvPr>
          <p:cNvPicPr>
            <a:picLocks noChangeAspect="1"/>
          </p:cNvPicPr>
          <p:nvPr/>
        </p:nvPicPr>
        <p:blipFill rotWithShape="1">
          <a:blip r:embed="rId2"/>
          <a:srcRect l="32951" r="14468" b="-4"/>
          <a:stretch/>
        </p:blipFill>
        <p:spPr>
          <a:xfrm>
            <a:off x="-1" y="-2"/>
            <a:ext cx="5410198" cy="6858002"/>
          </a:xfrm>
          <a:prstGeom prst="rect">
            <a:avLst/>
          </a:prstGeom>
        </p:spPr>
      </p:pic>
      <p:sp useBgFill="1">
        <p:nvSpPr>
          <p:cNvPr id="45" name="Rectangle 44">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ED95F8-0A5E-3AB7-2DFB-9BE26E881231}"/>
              </a:ext>
            </a:extLst>
          </p:cNvPr>
          <p:cNvSpPr>
            <a:spLocks noGrp="1"/>
          </p:cNvSpPr>
          <p:nvPr>
            <p:ph type="title"/>
          </p:nvPr>
        </p:nvSpPr>
        <p:spPr>
          <a:xfrm>
            <a:off x="6103222" y="405685"/>
            <a:ext cx="6493063" cy="1559301"/>
          </a:xfrm>
        </p:spPr>
        <p:txBody>
          <a:bodyPr>
            <a:normAutofit/>
          </a:bodyPr>
          <a:lstStyle/>
          <a:p>
            <a:r>
              <a:rPr lang="en-US" sz="3600"/>
              <a:t>Chest Pain Types, Resting BP</a:t>
            </a:r>
          </a:p>
        </p:txBody>
      </p:sp>
      <p:sp>
        <p:nvSpPr>
          <p:cNvPr id="3" name="Content Placeholder 2">
            <a:extLst>
              <a:ext uri="{FF2B5EF4-FFF2-40B4-BE49-F238E27FC236}">
                <a16:creationId xmlns:a16="http://schemas.microsoft.com/office/drawing/2014/main" id="{F7E6ADEC-1C6D-BEE5-93ED-DFE62754B548}"/>
              </a:ext>
            </a:extLst>
          </p:cNvPr>
          <p:cNvSpPr>
            <a:spLocks noGrp="1"/>
          </p:cNvSpPr>
          <p:nvPr>
            <p:ph idx="1"/>
          </p:nvPr>
        </p:nvSpPr>
        <p:spPr>
          <a:xfrm>
            <a:off x="6186755" y="2624137"/>
            <a:ext cx="5247340" cy="3496878"/>
          </a:xfrm>
        </p:spPr>
        <p:txBody>
          <a:bodyPr vert="horz" lIns="91440" tIns="45720" rIns="91440" bIns="45720" rtlCol="0" anchor="ctr">
            <a:noAutofit/>
          </a:bodyPr>
          <a:lstStyle/>
          <a:p>
            <a:r>
              <a:rPr lang="en-US" sz="1800" b="1">
                <a:ea typeface="+mn-lt"/>
                <a:cs typeface="+mn-lt"/>
              </a:rPr>
              <a:t>Chest Pain Types</a:t>
            </a:r>
            <a:endParaRPr lang="en-US" sz="1800">
              <a:ea typeface="+mn-lt"/>
              <a:cs typeface="+mn-lt"/>
            </a:endParaRPr>
          </a:p>
          <a:p>
            <a:pPr marL="800100" lvl="1" indent="-342900">
              <a:buFont typeface="Courier New" panose="020B0604020202020204" pitchFamily="34" charset="0"/>
              <a:buChar char="o"/>
            </a:pPr>
            <a:r>
              <a:rPr lang="en-US" sz="1800" b="1">
                <a:ea typeface="+mn-lt"/>
                <a:cs typeface="+mn-lt"/>
              </a:rPr>
              <a:t>TA (Typical Angina)-</a:t>
            </a:r>
            <a:r>
              <a:rPr lang="en-US" sz="1800">
                <a:ea typeface="+mn-lt"/>
                <a:cs typeface="+mn-lt"/>
              </a:rPr>
              <a:t> chest pain from sharp, crushing pain in the center of the chest, often brought on by exertion.</a:t>
            </a:r>
          </a:p>
          <a:p>
            <a:pPr marL="800100" lvl="1" indent="-342900">
              <a:buFont typeface="Courier New" panose="020B0604020202020204" pitchFamily="34" charset="0"/>
              <a:buChar char="o"/>
            </a:pPr>
            <a:r>
              <a:rPr lang="en-US" sz="1800" b="1">
                <a:ea typeface="+mn-lt"/>
                <a:cs typeface="+mn-lt"/>
              </a:rPr>
              <a:t>ATA (Atypical Angina)- </a:t>
            </a:r>
            <a:r>
              <a:rPr lang="en-US" sz="1800">
                <a:ea typeface="+mn-lt"/>
                <a:cs typeface="+mn-lt"/>
              </a:rPr>
              <a:t>chest pain that doesn't have typical characteristics</a:t>
            </a:r>
            <a:endParaRPr lang="en-US" sz="1800"/>
          </a:p>
          <a:p>
            <a:pPr lvl="1">
              <a:buFont typeface="Courier New" panose="020B0604020202020204" pitchFamily="34" charset="0"/>
              <a:buChar char="o"/>
            </a:pPr>
            <a:r>
              <a:rPr lang="en-US" sz="1800" b="1">
                <a:ea typeface="+mn-lt"/>
                <a:cs typeface="+mn-lt"/>
              </a:rPr>
              <a:t>NAP (Non-Anginal Pain)- </a:t>
            </a:r>
            <a:r>
              <a:rPr lang="en-US" sz="1800">
                <a:ea typeface="+mn-lt"/>
                <a:cs typeface="+mn-lt"/>
              </a:rPr>
              <a:t>chest pain that is not caused by a heart problem</a:t>
            </a:r>
          </a:p>
          <a:p>
            <a:pPr lvl="1">
              <a:buFont typeface="Courier New" panose="020B0604020202020204" pitchFamily="34" charset="0"/>
              <a:buChar char="o"/>
            </a:pPr>
            <a:r>
              <a:rPr lang="en-US" sz="1800" b="1">
                <a:ea typeface="+mn-lt"/>
                <a:cs typeface="+mn-lt"/>
              </a:rPr>
              <a:t>ASY (Asymptomatic)- </a:t>
            </a:r>
            <a:r>
              <a:rPr lang="en-US" sz="1800">
                <a:ea typeface="+mn-lt"/>
                <a:cs typeface="+mn-lt"/>
              </a:rPr>
              <a:t>no chest pain</a:t>
            </a:r>
          </a:p>
          <a:p>
            <a:r>
              <a:rPr lang="en-US" sz="1800" b="1">
                <a:ea typeface="+mn-lt"/>
                <a:cs typeface="+mn-lt"/>
              </a:rPr>
              <a:t>Resting blood pressure (BP)</a:t>
            </a:r>
            <a:endParaRPr lang="en-US" sz="1800">
              <a:ea typeface="+mn-lt"/>
              <a:cs typeface="+mn-lt"/>
            </a:endParaRPr>
          </a:p>
          <a:p>
            <a:pPr lvl="1">
              <a:buFont typeface="Courier New" panose="020B0604020202020204" pitchFamily="34" charset="0"/>
              <a:buChar char="o"/>
            </a:pPr>
            <a:r>
              <a:rPr lang="en-US" sz="1800">
                <a:ea typeface="+mn-lt"/>
                <a:cs typeface="+mn-lt"/>
              </a:rPr>
              <a:t>high blood pressure can cause damage to your heart, kidneys and brain and increase risk of cardiovascular disease</a:t>
            </a:r>
            <a:endParaRPr lang="en-US" sz="1800"/>
          </a:p>
        </p:txBody>
      </p:sp>
    </p:spTree>
    <p:extLst>
      <p:ext uri="{BB962C8B-B14F-4D97-AF65-F5344CB8AC3E}">
        <p14:creationId xmlns:p14="http://schemas.microsoft.com/office/powerpoint/2010/main" val="806708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Red blood cells with white and red cells&#10;&#10;Description automatically generated">
            <a:extLst>
              <a:ext uri="{FF2B5EF4-FFF2-40B4-BE49-F238E27FC236}">
                <a16:creationId xmlns:a16="http://schemas.microsoft.com/office/drawing/2014/main" id="{AC10F7CE-20E9-99FD-44B3-EB85E4BF2F88}"/>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l="22346" r="30123" b="-2"/>
          <a:stretch/>
        </p:blipFill>
        <p:spPr>
          <a:xfrm>
            <a:off x="-1" y="-2"/>
            <a:ext cx="5410198" cy="6858002"/>
          </a:xfrm>
          <a:prstGeom prst="rect">
            <a:avLst/>
          </a:prstGeom>
        </p:spPr>
      </p:pic>
      <p:sp useBgFill="1">
        <p:nvSpPr>
          <p:cNvPr id="19" name="Rectangle 18">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82CA81-E71A-7F25-1B55-789549588EFB}"/>
              </a:ext>
            </a:extLst>
          </p:cNvPr>
          <p:cNvSpPr>
            <a:spLocks noGrp="1"/>
          </p:cNvSpPr>
          <p:nvPr>
            <p:ph type="title"/>
          </p:nvPr>
        </p:nvSpPr>
        <p:spPr>
          <a:xfrm>
            <a:off x="6115317" y="405685"/>
            <a:ext cx="5464968" cy="1559301"/>
          </a:xfrm>
        </p:spPr>
        <p:txBody>
          <a:bodyPr>
            <a:normAutofit/>
          </a:bodyPr>
          <a:lstStyle/>
          <a:p>
            <a:r>
              <a:rPr lang="en-US" sz="3600"/>
              <a:t>Cholesterol, Fasting BS, Resting ECG</a:t>
            </a:r>
          </a:p>
        </p:txBody>
      </p:sp>
      <p:sp>
        <p:nvSpPr>
          <p:cNvPr id="3" name="Content Placeholder 2">
            <a:extLst>
              <a:ext uri="{FF2B5EF4-FFF2-40B4-BE49-F238E27FC236}">
                <a16:creationId xmlns:a16="http://schemas.microsoft.com/office/drawing/2014/main" id="{8F00D5E8-8054-2E30-82B3-3771BAF2FA95}"/>
              </a:ext>
            </a:extLst>
          </p:cNvPr>
          <p:cNvSpPr>
            <a:spLocks noGrp="1"/>
          </p:cNvSpPr>
          <p:nvPr>
            <p:ph idx="1"/>
          </p:nvPr>
        </p:nvSpPr>
        <p:spPr>
          <a:xfrm>
            <a:off x="6186755" y="2552700"/>
            <a:ext cx="5247340" cy="3496878"/>
          </a:xfrm>
        </p:spPr>
        <p:txBody>
          <a:bodyPr vert="horz" lIns="91440" tIns="45720" rIns="91440" bIns="45720" rtlCol="0" anchor="ctr">
            <a:normAutofit/>
          </a:bodyPr>
          <a:lstStyle/>
          <a:p>
            <a:r>
              <a:rPr lang="en-US" sz="1800" b="1"/>
              <a:t>Cholesterol</a:t>
            </a:r>
          </a:p>
          <a:p>
            <a:pPr lvl="1">
              <a:buFont typeface="Courier New" panose="020B0604020202020204" pitchFamily="34" charset="0"/>
              <a:buChar char="o"/>
            </a:pPr>
            <a:r>
              <a:rPr lang="en-US" sz="1800"/>
              <a:t>fatty foods can raise your cholesterol and high levels of cholesterol can increase your risk of heart disease</a:t>
            </a:r>
          </a:p>
          <a:p>
            <a:r>
              <a:rPr lang="en-US" sz="1800" b="1"/>
              <a:t>Fasting blood sugar (BS)</a:t>
            </a:r>
          </a:p>
          <a:p>
            <a:pPr lvl="1">
              <a:buFont typeface="Courier New" panose="020B0604020202020204" pitchFamily="34" charset="0"/>
              <a:buChar char="o"/>
            </a:pPr>
            <a:r>
              <a:rPr lang="en-US" sz="1800"/>
              <a:t> measures sugar in your blood after a day of fasting, usually used to diagnose diabetes</a:t>
            </a:r>
          </a:p>
          <a:p>
            <a:r>
              <a:rPr lang="en-US" sz="1800" b="1">
                <a:latin typeface="Arial"/>
                <a:cs typeface="Arial"/>
              </a:rPr>
              <a:t>Resting electrocardiography (ECG)</a:t>
            </a:r>
          </a:p>
          <a:p>
            <a:pPr lvl="1">
              <a:buFont typeface="Courier New" panose="020B0604020202020204" pitchFamily="34" charset="0"/>
              <a:buChar char="o"/>
            </a:pPr>
            <a:r>
              <a:rPr lang="en-US" sz="1800">
                <a:latin typeface="Arial"/>
                <a:cs typeface="Arial"/>
              </a:rPr>
              <a:t>records electrical activity of your heart while at rest and is used to detect abnormalities</a:t>
            </a:r>
          </a:p>
        </p:txBody>
      </p:sp>
    </p:spTree>
    <p:extLst>
      <p:ext uri="{BB962C8B-B14F-4D97-AF65-F5344CB8AC3E}">
        <p14:creationId xmlns:p14="http://schemas.microsoft.com/office/powerpoint/2010/main" val="435835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C5E7914-11B6-EEB7-CE72-74A9E089F78B}"/>
              </a:ext>
            </a:extLst>
          </p:cNvPr>
          <p:cNvPicPr>
            <a:picLocks noChangeAspect="1"/>
          </p:cNvPicPr>
          <p:nvPr/>
        </p:nvPicPr>
        <p:blipFill rotWithShape="1">
          <a:blip r:embed="rId2"/>
          <a:srcRect l="20429" r="32750" b="6250"/>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9B4-6B76-0224-5151-3FDFF60B8726}"/>
              </a:ext>
            </a:extLst>
          </p:cNvPr>
          <p:cNvSpPr>
            <a:spLocks noGrp="1"/>
          </p:cNvSpPr>
          <p:nvPr>
            <p:ph type="title"/>
          </p:nvPr>
        </p:nvSpPr>
        <p:spPr>
          <a:xfrm>
            <a:off x="761801" y="328512"/>
            <a:ext cx="5266658" cy="1628970"/>
          </a:xfrm>
        </p:spPr>
        <p:txBody>
          <a:bodyPr anchor="ctr">
            <a:normAutofit/>
          </a:bodyPr>
          <a:lstStyle/>
          <a:p>
            <a:r>
              <a:rPr lang="en-US" sz="3600"/>
              <a:t>Max HR, Exercise Angina, </a:t>
            </a:r>
            <a:r>
              <a:rPr lang="en-US" sz="3600">
                <a:ea typeface="+mj-lt"/>
                <a:cs typeface="+mj-lt"/>
              </a:rPr>
              <a:t>Old Peak, ST Slope</a:t>
            </a:r>
            <a:endParaRPr lang="en-US" sz="3600"/>
          </a:p>
        </p:txBody>
      </p:sp>
      <p:sp>
        <p:nvSpPr>
          <p:cNvPr id="3" name="Content Placeholder 2">
            <a:extLst>
              <a:ext uri="{FF2B5EF4-FFF2-40B4-BE49-F238E27FC236}">
                <a16:creationId xmlns:a16="http://schemas.microsoft.com/office/drawing/2014/main" id="{DDC41E5D-4B83-143B-BF2D-6633148825FE}"/>
              </a:ext>
            </a:extLst>
          </p:cNvPr>
          <p:cNvSpPr>
            <a:spLocks noGrp="1"/>
          </p:cNvSpPr>
          <p:nvPr>
            <p:ph idx="1"/>
          </p:nvPr>
        </p:nvSpPr>
        <p:spPr>
          <a:xfrm>
            <a:off x="726082" y="2646804"/>
            <a:ext cx="4659756" cy="3374137"/>
          </a:xfrm>
        </p:spPr>
        <p:txBody>
          <a:bodyPr vert="horz" lIns="91440" tIns="45720" rIns="91440" bIns="45720" rtlCol="0" anchor="ctr">
            <a:normAutofit/>
          </a:bodyPr>
          <a:lstStyle/>
          <a:p>
            <a:r>
              <a:rPr lang="en-US" sz="1800" b="1">
                <a:latin typeface="Calibri"/>
                <a:ea typeface="Calibri"/>
                <a:cs typeface="Arial"/>
              </a:rPr>
              <a:t>Max heartrate (HR)</a:t>
            </a:r>
          </a:p>
          <a:p>
            <a:pPr lvl="1">
              <a:buFont typeface="Courier New" panose="020B0604020202020204" pitchFamily="34" charset="0"/>
              <a:buChar char="o"/>
            </a:pPr>
            <a:r>
              <a:rPr lang="en-US" sz="1800">
                <a:latin typeface="Calibri"/>
                <a:ea typeface="Calibri"/>
                <a:cs typeface="Arial"/>
              </a:rPr>
              <a:t>maximum number of beats per minute during exercise</a:t>
            </a:r>
          </a:p>
          <a:p>
            <a:r>
              <a:rPr lang="en-US" sz="1800" b="1">
                <a:latin typeface="Calibri"/>
                <a:ea typeface="Calibri"/>
                <a:cs typeface="Arial"/>
              </a:rPr>
              <a:t>Exercise angina</a:t>
            </a:r>
          </a:p>
          <a:p>
            <a:pPr lvl="1">
              <a:buFont typeface="Courier New" panose="020B0604020202020204" pitchFamily="34" charset="0"/>
              <a:buChar char="o"/>
            </a:pPr>
            <a:r>
              <a:rPr lang="en-US" sz="1800">
                <a:latin typeface="Calibri"/>
                <a:ea typeface="Calibri"/>
                <a:cs typeface="Arial"/>
              </a:rPr>
              <a:t>chest pain when exercising</a:t>
            </a:r>
            <a:endParaRPr lang="en-US" sz="1800">
              <a:latin typeface="Calibri"/>
              <a:ea typeface="Calibri"/>
              <a:cs typeface="Calibri"/>
            </a:endParaRPr>
          </a:p>
          <a:p>
            <a:r>
              <a:rPr lang="en-US" sz="1800" b="1">
                <a:latin typeface="Calibri"/>
                <a:ea typeface="Calibri"/>
                <a:cs typeface="Arial"/>
              </a:rPr>
              <a:t>Old peak</a:t>
            </a:r>
          </a:p>
          <a:p>
            <a:pPr lvl="1">
              <a:buFont typeface="Courier New" panose="020B0604020202020204" pitchFamily="34" charset="0"/>
              <a:buChar char="o"/>
            </a:pPr>
            <a:r>
              <a:rPr lang="en-US" sz="1800">
                <a:latin typeface="Calibri"/>
                <a:ea typeface="Calibri"/>
                <a:cs typeface="Arial"/>
              </a:rPr>
              <a:t>Segment (ST) depression caused by activity compared to rest</a:t>
            </a:r>
          </a:p>
          <a:p>
            <a:r>
              <a:rPr lang="en-US" sz="1800" b="1">
                <a:latin typeface="Calibri"/>
                <a:ea typeface="Calibri"/>
                <a:cs typeface="Arial"/>
              </a:rPr>
              <a:t>Segment (ST) slope</a:t>
            </a:r>
          </a:p>
          <a:p>
            <a:pPr lvl="1">
              <a:buFont typeface="Courier New" panose="020B0604020202020204" pitchFamily="34" charset="0"/>
              <a:buChar char="o"/>
            </a:pPr>
            <a:r>
              <a:rPr lang="en-US" sz="1800">
                <a:latin typeface="Calibri"/>
                <a:ea typeface="Calibri"/>
                <a:cs typeface="Arial"/>
              </a:rPr>
              <a:t>shift in heart rate due to exercise</a:t>
            </a:r>
            <a:endParaRPr lang="en-US" sz="1800">
              <a:latin typeface="Calibri"/>
              <a:ea typeface="Calibri"/>
            </a:endParaRPr>
          </a:p>
        </p:txBody>
      </p:sp>
    </p:spTree>
    <p:extLst>
      <p:ext uri="{BB962C8B-B14F-4D97-AF65-F5344CB8AC3E}">
        <p14:creationId xmlns:p14="http://schemas.microsoft.com/office/powerpoint/2010/main" val="728545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FE0D44-6474-E9F4-111F-B330083D7AE9}"/>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Relevant Questions</a:t>
            </a:r>
          </a:p>
        </p:txBody>
      </p:sp>
      <p:sp>
        <p:nvSpPr>
          <p:cNvPr id="19" name="Content Placeholder 2">
            <a:extLst>
              <a:ext uri="{FF2B5EF4-FFF2-40B4-BE49-F238E27FC236}">
                <a16:creationId xmlns:a16="http://schemas.microsoft.com/office/drawing/2014/main" id="{067288C3-E6A8-FDBB-6F7F-B501E282820A}"/>
              </a:ext>
            </a:extLst>
          </p:cNvPr>
          <p:cNvSpPr>
            <a:spLocks noGrp="1"/>
          </p:cNvSpPr>
          <p:nvPr>
            <p:ph idx="1"/>
          </p:nvPr>
        </p:nvSpPr>
        <p:spPr>
          <a:xfrm>
            <a:off x="1028564" y="1977135"/>
            <a:ext cx="10126597" cy="3170190"/>
          </a:xfrm>
        </p:spPr>
        <p:txBody>
          <a:bodyPr vert="horz" lIns="91440" tIns="45720" rIns="91440" bIns="45720" rtlCol="0" anchor="ctr">
            <a:normAutofit fontScale="92500"/>
          </a:bodyPr>
          <a:lstStyle/>
          <a:p>
            <a:pPr marL="285750" indent="-285750"/>
            <a:r>
              <a:rPr lang="en-US" sz="2400" dirty="0">
                <a:latin typeface="Calibri"/>
                <a:ea typeface="Calibri"/>
                <a:cs typeface="Calibri"/>
              </a:rPr>
              <a:t>What is the mean cholesterol, </a:t>
            </a:r>
            <a:r>
              <a:rPr lang="en-US" sz="2400" dirty="0" err="1">
                <a:latin typeface="Calibri"/>
                <a:ea typeface="Calibri"/>
                <a:cs typeface="Calibri"/>
              </a:rPr>
              <a:t>RestingBP</a:t>
            </a:r>
            <a:r>
              <a:rPr lang="en-US" sz="2400" dirty="0">
                <a:latin typeface="Calibri"/>
                <a:ea typeface="Calibri"/>
                <a:cs typeface="Calibri"/>
              </a:rPr>
              <a:t>, </a:t>
            </a:r>
            <a:r>
              <a:rPr lang="en-US" sz="2400" dirty="0" err="1">
                <a:latin typeface="Calibri"/>
                <a:ea typeface="Calibri"/>
                <a:cs typeface="Calibri"/>
              </a:rPr>
              <a:t>MaxHR</a:t>
            </a:r>
            <a:r>
              <a:rPr lang="en-US" sz="2400" dirty="0">
                <a:latin typeface="Calibri"/>
                <a:ea typeface="Calibri"/>
                <a:cs typeface="Calibri"/>
              </a:rPr>
              <a:t> for those with heart disease?</a:t>
            </a:r>
          </a:p>
          <a:p>
            <a:r>
              <a:rPr lang="en-US" sz="2400" dirty="0">
                <a:latin typeface="Calibri"/>
                <a:ea typeface="Calibri"/>
                <a:cs typeface="Calibri"/>
              </a:rPr>
              <a:t>What is the mean cholesterol, </a:t>
            </a:r>
            <a:r>
              <a:rPr lang="en-US" sz="2400" dirty="0" err="1">
                <a:ea typeface="+mn-lt"/>
                <a:cs typeface="+mn-lt"/>
              </a:rPr>
              <a:t>RestingBP</a:t>
            </a:r>
            <a:r>
              <a:rPr lang="en-US" sz="2400" dirty="0">
                <a:ea typeface="+mn-lt"/>
                <a:cs typeface="+mn-lt"/>
              </a:rPr>
              <a:t>, </a:t>
            </a:r>
            <a:r>
              <a:rPr lang="en-US" sz="2400" dirty="0" err="1">
                <a:ea typeface="+mn-lt"/>
                <a:cs typeface="+mn-lt"/>
              </a:rPr>
              <a:t>MaxHR</a:t>
            </a:r>
            <a:r>
              <a:rPr lang="en-US" sz="2400" dirty="0">
                <a:ea typeface="+mn-lt"/>
                <a:cs typeface="+mn-lt"/>
              </a:rPr>
              <a:t> </a:t>
            </a:r>
            <a:r>
              <a:rPr lang="en-US" sz="2400" dirty="0">
                <a:latin typeface="Calibri"/>
                <a:ea typeface="Calibri"/>
                <a:cs typeface="Calibri"/>
              </a:rPr>
              <a:t>for those without heart disease?</a:t>
            </a:r>
          </a:p>
          <a:p>
            <a:r>
              <a:rPr lang="en-US" sz="2400" dirty="0">
                <a:latin typeface="Calibri"/>
                <a:ea typeface="+mn-lt"/>
                <a:cs typeface="+mn-lt"/>
              </a:rPr>
              <a:t>What is the correlation between cholesterol and the heart disease?</a:t>
            </a:r>
          </a:p>
          <a:p>
            <a:r>
              <a:rPr lang="en-US" sz="2400" dirty="0">
                <a:latin typeface="Calibri"/>
                <a:ea typeface="+mn-lt"/>
                <a:cs typeface="+mn-lt"/>
              </a:rPr>
              <a:t>What is the correlation between sex and the heart disease?</a:t>
            </a:r>
            <a:endParaRPr lang="en-US" sz="2400" dirty="0">
              <a:latin typeface="Calibri"/>
              <a:ea typeface="Calibri"/>
              <a:cs typeface="Calibri"/>
            </a:endParaRPr>
          </a:p>
          <a:p>
            <a:r>
              <a:rPr lang="en-US" sz="2400" dirty="0">
                <a:latin typeface="Calibri"/>
                <a:ea typeface="Calibri"/>
                <a:cs typeface="Calibri"/>
              </a:rPr>
              <a:t>What chest pain type is the most </a:t>
            </a:r>
            <a:r>
              <a:rPr lang="en-US" sz="2400" dirty="0" err="1">
                <a:latin typeface="Calibri"/>
                <a:ea typeface="Calibri"/>
                <a:cs typeface="Calibri"/>
              </a:rPr>
              <a:t>prevelant</a:t>
            </a:r>
            <a:r>
              <a:rPr lang="en-US" sz="2400" dirty="0">
                <a:latin typeface="Calibri"/>
                <a:ea typeface="Calibri"/>
                <a:cs typeface="Calibri"/>
              </a:rPr>
              <a:t> to those with heart disease?</a:t>
            </a:r>
          </a:p>
          <a:p>
            <a:r>
              <a:rPr lang="en-US" sz="2400" dirty="0">
                <a:latin typeface="Calibri"/>
                <a:ea typeface="Calibri"/>
                <a:cs typeface="Calibri"/>
              </a:rPr>
              <a:t>Which ST slope is most </a:t>
            </a:r>
            <a:r>
              <a:rPr lang="en-US" sz="2400" dirty="0" err="1">
                <a:latin typeface="Calibri"/>
                <a:ea typeface="Calibri"/>
                <a:cs typeface="Calibri"/>
              </a:rPr>
              <a:t>prevelant</a:t>
            </a:r>
            <a:r>
              <a:rPr lang="en-US" sz="2400" dirty="0">
                <a:latin typeface="Calibri"/>
                <a:ea typeface="Calibri"/>
                <a:cs typeface="Calibri"/>
              </a:rPr>
              <a:t> to those with heart disease? </a:t>
            </a:r>
          </a:p>
          <a:p>
            <a:r>
              <a:rPr lang="en-US" sz="2400" dirty="0">
                <a:ea typeface="+mn-lt"/>
                <a:cs typeface="+mn-lt"/>
              </a:rPr>
              <a:t>Which </a:t>
            </a:r>
            <a:r>
              <a:rPr lang="en-US" sz="2400" dirty="0" err="1">
                <a:ea typeface="+mn-lt"/>
                <a:cs typeface="+mn-lt"/>
              </a:rPr>
              <a:t>RestingECG</a:t>
            </a:r>
            <a:r>
              <a:rPr lang="en-US" sz="2400" dirty="0">
                <a:ea typeface="+mn-lt"/>
                <a:cs typeface="+mn-lt"/>
              </a:rPr>
              <a:t> is most </a:t>
            </a:r>
            <a:r>
              <a:rPr lang="en-US" sz="2400" dirty="0" err="1">
                <a:ea typeface="+mn-lt"/>
                <a:cs typeface="+mn-lt"/>
              </a:rPr>
              <a:t>prevelant</a:t>
            </a:r>
            <a:r>
              <a:rPr lang="en-US" sz="2400" dirty="0">
                <a:ea typeface="+mn-lt"/>
                <a:cs typeface="+mn-lt"/>
              </a:rPr>
              <a:t> to those with heart disease? </a:t>
            </a:r>
            <a:endParaRPr lang="en-US" sz="2400" dirty="0">
              <a:latin typeface="Calibri"/>
              <a:ea typeface="Calibri"/>
              <a:cs typeface="Calibri"/>
            </a:endParaRPr>
          </a:p>
        </p:txBody>
      </p:sp>
    </p:spTree>
    <p:extLst>
      <p:ext uri="{BB962C8B-B14F-4D97-AF65-F5344CB8AC3E}">
        <p14:creationId xmlns:p14="http://schemas.microsoft.com/office/powerpoint/2010/main" val="2382418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AF3B9B-B472-B5C2-B738-30030102FADE}"/>
              </a:ext>
            </a:extLst>
          </p:cNvPr>
          <p:cNvSpPr>
            <a:spLocks noGrp="1"/>
          </p:cNvSpPr>
          <p:nvPr>
            <p:ph type="title"/>
          </p:nvPr>
        </p:nvSpPr>
        <p:spPr>
          <a:xfrm>
            <a:off x="1371599" y="294538"/>
            <a:ext cx="9895951" cy="1033669"/>
          </a:xfrm>
        </p:spPr>
        <p:txBody>
          <a:bodyPr>
            <a:normAutofit/>
          </a:bodyPr>
          <a:lstStyle/>
          <a:p>
            <a:r>
              <a:rPr lang="en-US" sz="4000">
                <a:solidFill>
                  <a:srgbClr val="FFFFFF"/>
                </a:solidFill>
                <a:latin typeface="Calibri"/>
                <a:ea typeface="Calibri"/>
                <a:cs typeface="Calibri"/>
              </a:rPr>
              <a:t>Missing Features</a:t>
            </a:r>
            <a:endParaRPr lang="en-US"/>
          </a:p>
        </p:txBody>
      </p:sp>
      <p:sp>
        <p:nvSpPr>
          <p:cNvPr id="56" name="Content Placeholder 2">
            <a:extLst>
              <a:ext uri="{FF2B5EF4-FFF2-40B4-BE49-F238E27FC236}">
                <a16:creationId xmlns:a16="http://schemas.microsoft.com/office/drawing/2014/main" id="{2C7A08E6-B3BC-BEE9-7888-401E59654568}"/>
              </a:ext>
            </a:extLst>
          </p:cNvPr>
          <p:cNvSpPr>
            <a:spLocks noGrp="1"/>
          </p:cNvSpPr>
          <p:nvPr>
            <p:ph idx="1"/>
          </p:nvPr>
        </p:nvSpPr>
        <p:spPr>
          <a:xfrm>
            <a:off x="869546" y="2257225"/>
            <a:ext cx="10904859" cy="2639303"/>
          </a:xfrm>
        </p:spPr>
        <p:txBody>
          <a:bodyPr vert="horz" lIns="91440" tIns="45720" rIns="91440" bIns="45720" rtlCol="0" anchor="ctr">
            <a:noAutofit/>
          </a:bodyPr>
          <a:lstStyle/>
          <a:p>
            <a:r>
              <a:rPr lang="en-US" sz="2400" dirty="0">
                <a:latin typeface="Calibri"/>
                <a:ea typeface="Calibri"/>
                <a:cs typeface="Arial"/>
              </a:rPr>
              <a:t>There are no missing features (empty values) </a:t>
            </a:r>
          </a:p>
          <a:p>
            <a:r>
              <a:rPr lang="en-US" sz="2400" dirty="0">
                <a:latin typeface="Calibri"/>
                <a:ea typeface="Calibri"/>
                <a:cs typeface="Arial"/>
              </a:rPr>
              <a:t>But there are 172 "0" values for cholesterol, 117 of them are 0 for those without heart disease</a:t>
            </a:r>
          </a:p>
          <a:p>
            <a:r>
              <a:rPr lang="en-US" sz="2400" dirty="0">
                <a:latin typeface="Calibri"/>
                <a:ea typeface="Calibri"/>
                <a:cs typeface="Arial"/>
              </a:rPr>
              <a:t>We converted categorical variables to 0/1 </a:t>
            </a:r>
          </a:p>
          <a:p>
            <a:r>
              <a:rPr lang="en-US" sz="2400" dirty="0">
                <a:latin typeface="Calibri"/>
                <a:ea typeface="Calibri"/>
                <a:cs typeface="Arial"/>
              </a:rPr>
              <a:t>There is a inequal ratio of females: 193, Males: 725</a:t>
            </a:r>
          </a:p>
          <a:p>
            <a:r>
              <a:rPr lang="en-US" sz="2400" dirty="0">
                <a:latin typeface="Calibri"/>
                <a:ea typeface="Calibri"/>
                <a:cs typeface="Arial"/>
              </a:rPr>
              <a:t>The youngest age is 28 and the oldest age is 77</a:t>
            </a:r>
          </a:p>
          <a:p>
            <a:pPr lvl="1">
              <a:buFont typeface="Courier New" panose="020B0604020202020204" pitchFamily="34" charset="0"/>
              <a:buChar char="o"/>
            </a:pPr>
            <a:endParaRPr lang="en-US" sz="1700" dirty="0">
              <a:latin typeface="Arial"/>
              <a:ea typeface="Calibri"/>
              <a:cs typeface="Arial"/>
            </a:endParaRPr>
          </a:p>
        </p:txBody>
      </p:sp>
    </p:spTree>
    <p:extLst>
      <p:ext uri="{BB962C8B-B14F-4D97-AF65-F5344CB8AC3E}">
        <p14:creationId xmlns:p14="http://schemas.microsoft.com/office/powerpoint/2010/main" val="2130626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AF3B9B-B472-B5C2-B738-30030102FADE}"/>
              </a:ext>
            </a:extLst>
          </p:cNvPr>
          <p:cNvSpPr>
            <a:spLocks noGrp="1"/>
          </p:cNvSpPr>
          <p:nvPr>
            <p:ph type="title"/>
          </p:nvPr>
        </p:nvSpPr>
        <p:spPr>
          <a:xfrm>
            <a:off x="1371599" y="294538"/>
            <a:ext cx="9895951" cy="1033669"/>
          </a:xfrm>
        </p:spPr>
        <p:txBody>
          <a:bodyPr>
            <a:normAutofit/>
          </a:bodyPr>
          <a:lstStyle/>
          <a:p>
            <a:r>
              <a:rPr lang="en-US" sz="4000">
                <a:solidFill>
                  <a:srgbClr val="FFFFFF"/>
                </a:solidFill>
                <a:latin typeface="Calibri"/>
                <a:ea typeface="Calibri"/>
                <a:cs typeface="Calibri"/>
              </a:rPr>
              <a:t>Limitations &amp; Inconsistencies</a:t>
            </a:r>
          </a:p>
        </p:txBody>
      </p:sp>
      <p:sp>
        <p:nvSpPr>
          <p:cNvPr id="56" name="Content Placeholder 2">
            <a:extLst>
              <a:ext uri="{FF2B5EF4-FFF2-40B4-BE49-F238E27FC236}">
                <a16:creationId xmlns:a16="http://schemas.microsoft.com/office/drawing/2014/main" id="{2C7A08E6-B3BC-BEE9-7888-401E59654568}"/>
              </a:ext>
            </a:extLst>
          </p:cNvPr>
          <p:cNvSpPr>
            <a:spLocks noGrp="1"/>
          </p:cNvSpPr>
          <p:nvPr>
            <p:ph idx="1"/>
          </p:nvPr>
        </p:nvSpPr>
        <p:spPr>
          <a:xfrm>
            <a:off x="869546" y="2663625"/>
            <a:ext cx="10904859" cy="3464803"/>
          </a:xfrm>
        </p:spPr>
        <p:txBody>
          <a:bodyPr vert="horz" lIns="91440" tIns="45720" rIns="91440" bIns="45720" rtlCol="0" anchor="ctr">
            <a:noAutofit/>
          </a:bodyPr>
          <a:lstStyle/>
          <a:p>
            <a:pPr marL="342900" indent="-342900"/>
            <a:r>
              <a:rPr lang="en-US" sz="2400" dirty="0">
                <a:latin typeface="Calibri"/>
                <a:ea typeface="Calibri"/>
                <a:cs typeface="Arial"/>
              </a:rPr>
              <a:t>Does not specify any of the measurements for the data so we have to make assumptions</a:t>
            </a:r>
          </a:p>
          <a:p>
            <a:pPr lvl="1">
              <a:buFont typeface="Courier New" panose="020B0604020202020204" pitchFamily="34" charset="0"/>
              <a:buChar char="o"/>
            </a:pPr>
            <a:r>
              <a:rPr lang="en-US" dirty="0">
                <a:latin typeface="Calibri"/>
                <a:ea typeface="Calibri"/>
                <a:cs typeface="Arial"/>
              </a:rPr>
              <a:t>Resting BP doesn’t specify if the data is diastolic or systolic, so we assumed they are all systolic (mmHg)</a:t>
            </a:r>
          </a:p>
          <a:p>
            <a:pPr lvl="1">
              <a:buFont typeface="Courier New" panose="020B0604020202020204" pitchFamily="34" charset="0"/>
              <a:buChar char="o"/>
            </a:pPr>
            <a:r>
              <a:rPr lang="en-US" dirty="0">
                <a:latin typeface="Calibri"/>
                <a:ea typeface="Calibri"/>
                <a:cs typeface="Arial"/>
              </a:rPr>
              <a:t>Cholesterol doesn't have the measurement "mg/dl". (Unspecified category: LDL, HDL, VLDL, IDL)</a:t>
            </a:r>
          </a:p>
          <a:p>
            <a:pPr lvl="1">
              <a:buFont typeface="Courier New" panose="020B0604020202020204" pitchFamily="34" charset="0"/>
              <a:buChar char="o"/>
            </a:pPr>
            <a:r>
              <a:rPr lang="en-US" dirty="0">
                <a:latin typeface="Calibri"/>
                <a:ea typeface="Calibri"/>
                <a:cs typeface="Arial"/>
              </a:rPr>
              <a:t>Fasting BS doesn't specify what the 0/1 means so we assume 0 means low and 1 means high blood pressure</a:t>
            </a:r>
          </a:p>
          <a:p>
            <a:pPr lvl="1">
              <a:buFont typeface="Courier New" panose="020B0604020202020204" pitchFamily="34" charset="0"/>
              <a:buChar char="o"/>
            </a:pPr>
            <a:r>
              <a:rPr lang="en-US" dirty="0">
                <a:latin typeface="Calibri"/>
                <a:ea typeface="Calibri"/>
                <a:cs typeface="Arial"/>
              </a:rPr>
              <a:t>Max HR doesn’t have the measurement "per minute"</a:t>
            </a:r>
          </a:p>
          <a:p>
            <a:pPr lvl="1">
              <a:buFont typeface="Courier New" panose="020B0604020202020204" pitchFamily="34" charset="0"/>
              <a:buChar char="o"/>
            </a:pPr>
            <a:r>
              <a:rPr lang="en-US" dirty="0">
                <a:latin typeface="Calibri"/>
                <a:ea typeface="Calibri"/>
                <a:cs typeface="Arial"/>
              </a:rPr>
              <a:t>Old Peak doesn't have measurement, so we assume it is in millimeters</a:t>
            </a:r>
          </a:p>
          <a:p>
            <a:pPr lvl="1">
              <a:buFont typeface="Courier New" panose="020B0604020202020204" pitchFamily="34" charset="0"/>
              <a:buChar char="o"/>
            </a:pPr>
            <a:r>
              <a:rPr lang="en-US" dirty="0">
                <a:latin typeface="Calibri"/>
                <a:ea typeface="Calibri"/>
                <a:cs typeface="Arial"/>
              </a:rPr>
              <a:t>Heart Disease is written as 0/1 instead of "yes/no"</a:t>
            </a:r>
          </a:p>
          <a:p>
            <a:pPr lvl="1">
              <a:buFont typeface="Courier New" panose="020B0604020202020204" pitchFamily="34" charset="0"/>
              <a:buChar char="o"/>
            </a:pPr>
            <a:endParaRPr lang="en-US" sz="1700" dirty="0">
              <a:latin typeface="Arial"/>
              <a:cs typeface="Arial"/>
            </a:endParaRPr>
          </a:p>
        </p:txBody>
      </p:sp>
    </p:spTree>
    <p:extLst>
      <p:ext uri="{BB962C8B-B14F-4D97-AF65-F5344CB8AC3E}">
        <p14:creationId xmlns:p14="http://schemas.microsoft.com/office/powerpoint/2010/main" val="2566943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3C5A1C-586D-706C-818B-6A89EBB601D1}"/>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Additional Features</a:t>
            </a:r>
          </a:p>
        </p:txBody>
      </p:sp>
      <p:sp>
        <p:nvSpPr>
          <p:cNvPr id="3" name="Content Placeholder 2">
            <a:extLst>
              <a:ext uri="{FF2B5EF4-FFF2-40B4-BE49-F238E27FC236}">
                <a16:creationId xmlns:a16="http://schemas.microsoft.com/office/drawing/2014/main" id="{478A6AAA-A295-8F6F-126D-0D92E1BD0FF5}"/>
              </a:ext>
            </a:extLst>
          </p:cNvPr>
          <p:cNvSpPr>
            <a:spLocks noGrp="1"/>
          </p:cNvSpPr>
          <p:nvPr>
            <p:ph idx="1"/>
          </p:nvPr>
        </p:nvSpPr>
        <p:spPr>
          <a:xfrm>
            <a:off x="1131350" y="2295255"/>
            <a:ext cx="9925314" cy="3116649"/>
          </a:xfrm>
        </p:spPr>
        <p:txBody>
          <a:bodyPr vert="horz" lIns="91440" tIns="45720" rIns="91440" bIns="45720" rtlCol="0" anchor="ctr">
            <a:normAutofit/>
          </a:bodyPr>
          <a:lstStyle/>
          <a:p>
            <a:r>
              <a:rPr lang="en-US" sz="2400">
                <a:latin typeface="Calibri"/>
                <a:cs typeface="Arial"/>
              </a:rPr>
              <a:t>Family history of heart disease </a:t>
            </a:r>
            <a:endParaRPr lang="en-US" sz="2400">
              <a:latin typeface="Calibri"/>
              <a:ea typeface="Calibri"/>
              <a:cs typeface="Arial"/>
            </a:endParaRPr>
          </a:p>
          <a:p>
            <a:r>
              <a:rPr lang="en-US" sz="2400">
                <a:latin typeface="Calibri"/>
                <a:cs typeface="Arial"/>
              </a:rPr>
              <a:t>BMI</a:t>
            </a:r>
            <a:endParaRPr lang="en-US" sz="2400">
              <a:latin typeface="Calibri"/>
              <a:ea typeface="Calibri"/>
              <a:cs typeface="Arial"/>
            </a:endParaRPr>
          </a:p>
          <a:p>
            <a:r>
              <a:rPr lang="en-US" sz="2400">
                <a:latin typeface="Calibri"/>
                <a:cs typeface="Arial"/>
              </a:rPr>
              <a:t>Weight</a:t>
            </a:r>
            <a:endParaRPr lang="en-US" sz="2400">
              <a:latin typeface="Calibri"/>
              <a:ea typeface="Calibri"/>
              <a:cs typeface="Arial"/>
            </a:endParaRPr>
          </a:p>
          <a:p>
            <a:r>
              <a:rPr lang="en-US" sz="2400">
                <a:latin typeface="Calibri"/>
                <a:cs typeface="Arial"/>
              </a:rPr>
              <a:t>Height</a:t>
            </a:r>
            <a:endParaRPr lang="en-US" sz="2400">
              <a:latin typeface="Calibri"/>
              <a:ea typeface="Calibri"/>
              <a:cs typeface="Arial"/>
            </a:endParaRPr>
          </a:p>
          <a:p>
            <a:r>
              <a:rPr lang="en-US" sz="2400">
                <a:latin typeface="Calibri"/>
                <a:ea typeface="Calibri"/>
                <a:cs typeface="Arial"/>
              </a:rPr>
              <a:t>Exercise Activity</a:t>
            </a:r>
          </a:p>
          <a:p>
            <a:r>
              <a:rPr lang="en-US" sz="2400">
                <a:latin typeface="Calibri"/>
                <a:ea typeface="Calibri"/>
                <a:cs typeface="Arial"/>
              </a:rPr>
              <a:t>Diabetes </a:t>
            </a:r>
          </a:p>
          <a:p>
            <a:endParaRPr lang="en-US" sz="2000">
              <a:latin typeface="Calibri"/>
              <a:cs typeface="Arial"/>
            </a:endParaRPr>
          </a:p>
          <a:p>
            <a:endParaRPr lang="en-US" sz="2000">
              <a:latin typeface="Calibri"/>
              <a:ea typeface="Calibri"/>
              <a:cs typeface="Arial"/>
            </a:endParaRPr>
          </a:p>
        </p:txBody>
      </p:sp>
    </p:spTree>
    <p:extLst>
      <p:ext uri="{BB962C8B-B14F-4D97-AF65-F5344CB8AC3E}">
        <p14:creationId xmlns:p14="http://schemas.microsoft.com/office/powerpoint/2010/main" val="1554877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lourful carved figures of humans">
            <a:extLst>
              <a:ext uri="{FF2B5EF4-FFF2-40B4-BE49-F238E27FC236}">
                <a16:creationId xmlns:a16="http://schemas.microsoft.com/office/drawing/2014/main" id="{BBF5B451-A722-55D7-DC60-C8997AE850D7}"/>
              </a:ext>
            </a:extLst>
          </p:cNvPr>
          <p:cNvPicPr>
            <a:picLocks noChangeAspect="1"/>
          </p:cNvPicPr>
          <p:nvPr/>
        </p:nvPicPr>
        <p:blipFill rotWithShape="1">
          <a:blip r:embed="rId2">
            <a:alphaModFix amt="40000"/>
          </a:blip>
          <a:srcRect t="21042" r="-2" b="-2"/>
          <a:stretch/>
        </p:blipFill>
        <p:spPr>
          <a:xfrm>
            <a:off x="20" y="10"/>
            <a:ext cx="12191979" cy="6857990"/>
          </a:xfrm>
          <a:prstGeom prst="rect">
            <a:avLst/>
          </a:prstGeom>
        </p:spPr>
      </p:pic>
      <p:sp>
        <p:nvSpPr>
          <p:cNvPr id="2" name="Title 1">
            <a:extLst>
              <a:ext uri="{FF2B5EF4-FFF2-40B4-BE49-F238E27FC236}">
                <a16:creationId xmlns:a16="http://schemas.microsoft.com/office/drawing/2014/main" id="{C8BA6D72-4391-202E-6EB7-FCBDE2565117}"/>
              </a:ext>
            </a:extLst>
          </p:cNvPr>
          <p:cNvSpPr>
            <a:spLocks noGrp="1"/>
          </p:cNvSpPr>
          <p:nvPr>
            <p:ph type="title"/>
          </p:nvPr>
        </p:nvSpPr>
        <p:spPr>
          <a:xfrm>
            <a:off x="841249" y="941832"/>
            <a:ext cx="10506456" cy="2057400"/>
          </a:xfrm>
        </p:spPr>
        <p:txBody>
          <a:bodyPr anchor="b">
            <a:normAutofit/>
          </a:bodyPr>
          <a:lstStyle/>
          <a:p>
            <a:r>
              <a:rPr lang="en-US" sz="5000">
                <a:solidFill>
                  <a:schemeClr val="bg1"/>
                </a:solidFill>
              </a:rPr>
              <a:t>Target Audience</a:t>
            </a:r>
          </a:p>
        </p:txBody>
      </p:sp>
      <p:sp>
        <p:nvSpPr>
          <p:cNvPr id="11" name="Rectangle 1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E38D767-42A5-0F35-608F-5919C835C044}"/>
              </a:ext>
            </a:extLst>
          </p:cNvPr>
          <p:cNvSpPr>
            <a:spLocks noGrp="1"/>
          </p:cNvSpPr>
          <p:nvPr>
            <p:ph idx="1"/>
          </p:nvPr>
        </p:nvSpPr>
        <p:spPr>
          <a:xfrm>
            <a:off x="841248" y="3502152"/>
            <a:ext cx="10506456" cy="2670048"/>
          </a:xfrm>
        </p:spPr>
        <p:txBody>
          <a:bodyPr vert="horz" lIns="91440" tIns="45720" rIns="91440" bIns="45720" rtlCol="0">
            <a:normAutofit/>
          </a:bodyPr>
          <a:lstStyle/>
          <a:p>
            <a:pPr>
              <a:buNone/>
            </a:pPr>
            <a:r>
              <a:rPr lang="en-US" sz="2000">
                <a:solidFill>
                  <a:schemeClr val="bg1"/>
                </a:solidFill>
                <a:ea typeface="+mn-lt"/>
                <a:cs typeface="+mn-lt"/>
              </a:rPr>
              <a:t>Our target audience is health-conscious individuals. Our objective is to promote awareness of heart disease, enabling people to recognize its signs before it becomes critical. </a:t>
            </a:r>
          </a:p>
          <a:p>
            <a:pPr marL="0" indent="0">
              <a:buNone/>
            </a:pPr>
            <a:endParaRPr lang="en-US" sz="2000">
              <a:solidFill>
                <a:schemeClr val="bg1"/>
              </a:solidFill>
            </a:endParaRPr>
          </a:p>
        </p:txBody>
      </p:sp>
    </p:spTree>
    <p:extLst>
      <p:ext uri="{BB962C8B-B14F-4D97-AF65-F5344CB8AC3E}">
        <p14:creationId xmlns:p14="http://schemas.microsoft.com/office/powerpoint/2010/main" val="3872244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2E3BF9-3888-63FE-57E9-7D711C282F3E}"/>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Means, Medians, &amp; Modes</a:t>
            </a:r>
          </a:p>
        </p:txBody>
      </p:sp>
      <p:pic>
        <p:nvPicPr>
          <p:cNvPr id="3" name="Picture 2" descr="A table of numbers and numbers&#10;&#10;Description automatically generated">
            <a:extLst>
              <a:ext uri="{FF2B5EF4-FFF2-40B4-BE49-F238E27FC236}">
                <a16:creationId xmlns:a16="http://schemas.microsoft.com/office/drawing/2014/main" id="{38A26E70-8AB4-9B0A-0FA4-090BD04BFABB}"/>
              </a:ext>
            </a:extLst>
          </p:cNvPr>
          <p:cNvPicPr>
            <a:picLocks noChangeAspect="1"/>
          </p:cNvPicPr>
          <p:nvPr/>
        </p:nvPicPr>
        <p:blipFill>
          <a:blip r:embed="rId2"/>
          <a:stretch>
            <a:fillRect/>
          </a:stretch>
        </p:blipFill>
        <p:spPr>
          <a:xfrm>
            <a:off x="432225" y="2110936"/>
            <a:ext cx="11327549" cy="4162873"/>
          </a:xfrm>
          <a:prstGeom prst="rect">
            <a:avLst/>
          </a:prstGeom>
        </p:spPr>
      </p:pic>
    </p:spTree>
    <p:extLst>
      <p:ext uri="{BB962C8B-B14F-4D97-AF65-F5344CB8AC3E}">
        <p14:creationId xmlns:p14="http://schemas.microsoft.com/office/powerpoint/2010/main" val="3870863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E3BF9-3888-63FE-57E9-7D711C282F3E}"/>
              </a:ext>
            </a:extLst>
          </p:cNvPr>
          <p:cNvSpPr>
            <a:spLocks noGrp="1"/>
          </p:cNvSpPr>
          <p:nvPr>
            <p:ph type="title"/>
          </p:nvPr>
        </p:nvSpPr>
        <p:spPr/>
        <p:txBody>
          <a:bodyPr/>
          <a:lstStyle/>
          <a:p>
            <a:r>
              <a:rPr lang="en-US"/>
              <a:t>Cholesterol mean</a:t>
            </a:r>
          </a:p>
        </p:txBody>
      </p:sp>
      <p:graphicFrame>
        <p:nvGraphicFramePr>
          <p:cNvPr id="6" name="Content Placeholder 2">
            <a:extLst>
              <a:ext uri="{FF2B5EF4-FFF2-40B4-BE49-F238E27FC236}">
                <a16:creationId xmlns:a16="http://schemas.microsoft.com/office/drawing/2014/main" id="{F2E7FDA1-4BA5-1A5A-4C7A-3DBEE597777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01922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E3BF9-3888-63FE-57E9-7D711C282F3E}"/>
              </a:ext>
            </a:extLst>
          </p:cNvPr>
          <p:cNvSpPr>
            <a:spLocks noGrp="1"/>
          </p:cNvSpPr>
          <p:nvPr>
            <p:ph type="title"/>
          </p:nvPr>
        </p:nvSpPr>
        <p:spPr/>
        <p:txBody>
          <a:bodyPr/>
          <a:lstStyle/>
          <a:p>
            <a:r>
              <a:rPr lang="en-US"/>
              <a:t>RestingBP mean</a:t>
            </a:r>
          </a:p>
        </p:txBody>
      </p:sp>
      <p:graphicFrame>
        <p:nvGraphicFramePr>
          <p:cNvPr id="6" name="Content Placeholder 2">
            <a:extLst>
              <a:ext uri="{FF2B5EF4-FFF2-40B4-BE49-F238E27FC236}">
                <a16:creationId xmlns:a16="http://schemas.microsoft.com/office/drawing/2014/main" id="{F2E7FDA1-4BA5-1A5A-4C7A-3DBEE597777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0549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E3BF9-3888-63FE-57E9-7D711C282F3E}"/>
              </a:ext>
            </a:extLst>
          </p:cNvPr>
          <p:cNvSpPr>
            <a:spLocks noGrp="1"/>
          </p:cNvSpPr>
          <p:nvPr>
            <p:ph type="title"/>
          </p:nvPr>
        </p:nvSpPr>
        <p:spPr/>
        <p:txBody>
          <a:bodyPr/>
          <a:lstStyle/>
          <a:p>
            <a:r>
              <a:rPr lang="en-US"/>
              <a:t>MaxHR mean</a:t>
            </a:r>
          </a:p>
        </p:txBody>
      </p:sp>
      <p:graphicFrame>
        <p:nvGraphicFramePr>
          <p:cNvPr id="6" name="Content Placeholder 2">
            <a:extLst>
              <a:ext uri="{FF2B5EF4-FFF2-40B4-BE49-F238E27FC236}">
                <a16:creationId xmlns:a16="http://schemas.microsoft.com/office/drawing/2014/main" id="{F2E7FDA1-4BA5-1A5A-4C7A-3DBEE597777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54356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E3BF9-3888-63FE-57E9-7D711C282F3E}"/>
              </a:ext>
            </a:extLst>
          </p:cNvPr>
          <p:cNvSpPr>
            <a:spLocks noGrp="1"/>
          </p:cNvSpPr>
          <p:nvPr>
            <p:ph type="title"/>
          </p:nvPr>
        </p:nvSpPr>
        <p:spPr/>
        <p:txBody>
          <a:bodyPr/>
          <a:lstStyle/>
          <a:p>
            <a:r>
              <a:rPr lang="en-US"/>
              <a:t>Modes for heart disease</a:t>
            </a:r>
          </a:p>
        </p:txBody>
      </p:sp>
      <p:graphicFrame>
        <p:nvGraphicFramePr>
          <p:cNvPr id="6" name="Content Placeholder 2">
            <a:extLst>
              <a:ext uri="{FF2B5EF4-FFF2-40B4-BE49-F238E27FC236}">
                <a16:creationId xmlns:a16="http://schemas.microsoft.com/office/drawing/2014/main" id="{F2E7FDA1-4BA5-1A5A-4C7A-3DBEE597777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03264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65E9C8-2854-4BC4-C122-7BA4C994B7B3}"/>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Sex and heart disease</a:t>
            </a:r>
          </a:p>
        </p:txBody>
      </p:sp>
      <p:sp>
        <p:nvSpPr>
          <p:cNvPr id="25" name="Content Placeholder 2">
            <a:extLst>
              <a:ext uri="{FF2B5EF4-FFF2-40B4-BE49-F238E27FC236}">
                <a16:creationId xmlns:a16="http://schemas.microsoft.com/office/drawing/2014/main" id="{9BB7DF26-C183-AEA8-5ECF-B16B098BF911}"/>
              </a:ext>
            </a:extLst>
          </p:cNvPr>
          <p:cNvSpPr>
            <a:spLocks noGrp="1"/>
          </p:cNvSpPr>
          <p:nvPr>
            <p:ph idx="1"/>
          </p:nvPr>
        </p:nvSpPr>
        <p:spPr>
          <a:xfrm>
            <a:off x="4810259" y="649480"/>
            <a:ext cx="6555347" cy="5546047"/>
          </a:xfrm>
        </p:spPr>
        <p:txBody>
          <a:bodyPr vert="horz" lIns="91440" tIns="45720" rIns="91440" bIns="45720" rtlCol="0" anchor="ctr">
            <a:normAutofit/>
          </a:bodyPr>
          <a:lstStyle/>
          <a:p>
            <a:pPr marL="0" indent="0">
              <a:buNone/>
            </a:pPr>
            <a:r>
              <a:rPr lang="en-US" sz="2000">
                <a:latin typeface="Calibri"/>
                <a:ea typeface="+mn-lt"/>
                <a:cs typeface="Arial"/>
              </a:rPr>
              <a:t>193 Total Females, 725 Total Males</a:t>
            </a:r>
            <a:endParaRPr lang="en-US" sz="2000">
              <a:latin typeface="Calibri"/>
              <a:ea typeface="Calibri"/>
              <a:cs typeface="Calibri"/>
            </a:endParaRPr>
          </a:p>
          <a:p>
            <a:pPr>
              <a:buNone/>
            </a:pPr>
            <a:endParaRPr lang="en-US" sz="2000">
              <a:latin typeface="Calibri"/>
              <a:ea typeface="+mn-lt"/>
              <a:cs typeface="+mn-lt"/>
            </a:endParaRPr>
          </a:p>
          <a:p>
            <a:pPr>
              <a:buNone/>
            </a:pPr>
            <a:r>
              <a:rPr lang="en-US" sz="2000">
                <a:latin typeface="Calibri"/>
                <a:ea typeface="+mn-lt"/>
                <a:cs typeface="+mn-lt"/>
              </a:rPr>
              <a:t>321 males with heart disease</a:t>
            </a:r>
            <a:endParaRPr lang="en-US" sz="2000">
              <a:latin typeface="Calibri"/>
              <a:ea typeface="Calibri"/>
              <a:cs typeface="Calibri"/>
            </a:endParaRPr>
          </a:p>
          <a:p>
            <a:pPr>
              <a:buNone/>
            </a:pPr>
            <a:r>
              <a:rPr lang="en-US" sz="2000">
                <a:latin typeface="Calibri"/>
                <a:ea typeface="+mn-lt"/>
                <a:cs typeface="+mn-lt"/>
              </a:rPr>
              <a:t>89 females with heart disease</a:t>
            </a:r>
            <a:endParaRPr lang="en-US" sz="2000">
              <a:latin typeface="Calibri"/>
              <a:ea typeface="Calibri"/>
              <a:cs typeface="Calibri"/>
            </a:endParaRPr>
          </a:p>
          <a:p>
            <a:pPr>
              <a:buNone/>
            </a:pPr>
            <a:endParaRPr lang="en-US" sz="2000">
              <a:latin typeface="Calibri"/>
              <a:ea typeface="+mn-lt"/>
              <a:cs typeface="+mn-lt"/>
            </a:endParaRPr>
          </a:p>
          <a:p>
            <a:pPr>
              <a:buNone/>
            </a:pPr>
            <a:r>
              <a:rPr lang="en-US" sz="2000">
                <a:latin typeface="Calibri"/>
                <a:ea typeface="+mn-lt"/>
                <a:cs typeface="+mn-lt"/>
              </a:rPr>
              <a:t>110 females without heart disease</a:t>
            </a:r>
            <a:endParaRPr lang="en-US" sz="2000">
              <a:latin typeface="Calibri"/>
              <a:ea typeface="Calibri"/>
              <a:cs typeface="Calibri"/>
            </a:endParaRPr>
          </a:p>
          <a:p>
            <a:pPr>
              <a:buNone/>
            </a:pPr>
            <a:r>
              <a:rPr lang="en-US" sz="2000">
                <a:latin typeface="Calibri"/>
                <a:ea typeface="+mn-lt"/>
                <a:cs typeface="+mn-lt"/>
              </a:rPr>
              <a:t>404 males without heart disease</a:t>
            </a:r>
            <a:endParaRPr lang="en-US" sz="2000">
              <a:latin typeface="Calibri"/>
              <a:ea typeface="Calibri"/>
              <a:cs typeface="Calibri"/>
            </a:endParaRPr>
          </a:p>
          <a:p>
            <a:pPr>
              <a:buNone/>
            </a:pPr>
            <a:endParaRPr lang="en-US" sz="2000">
              <a:latin typeface="Calibri"/>
              <a:ea typeface="Calibri"/>
              <a:cs typeface="Calibri"/>
            </a:endParaRPr>
          </a:p>
          <a:p>
            <a:pPr>
              <a:buNone/>
            </a:pPr>
            <a:r>
              <a:rPr lang="en-US" sz="2000">
                <a:latin typeface="Calibri"/>
                <a:ea typeface="+mn-lt"/>
                <a:cs typeface="+mn-lt"/>
              </a:rPr>
              <a:t>46% of females had heart disease</a:t>
            </a:r>
            <a:endParaRPr lang="en-US" sz="2000">
              <a:latin typeface="Calibri"/>
            </a:endParaRPr>
          </a:p>
          <a:p>
            <a:pPr>
              <a:buNone/>
            </a:pPr>
            <a:r>
              <a:rPr lang="en-US" sz="2000">
                <a:latin typeface="Calibri"/>
                <a:ea typeface="+mn-lt"/>
                <a:cs typeface="+mn-lt"/>
              </a:rPr>
              <a:t>44% of males had heart disease </a:t>
            </a:r>
            <a:endParaRPr lang="en-US" sz="2000">
              <a:latin typeface="Calibri"/>
            </a:endParaRPr>
          </a:p>
          <a:p>
            <a:pPr marL="0" indent="0">
              <a:buNone/>
            </a:pPr>
            <a:endParaRPr lang="en-US" sz="2000"/>
          </a:p>
        </p:txBody>
      </p:sp>
    </p:spTree>
    <p:extLst>
      <p:ext uri="{BB962C8B-B14F-4D97-AF65-F5344CB8AC3E}">
        <p14:creationId xmlns:p14="http://schemas.microsoft.com/office/powerpoint/2010/main" val="16528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Chart 1" descr="Chart type: Area. 'Field1'&#10;&#10;Description automatically generated">
            <a:extLst>
              <a:ext uri="{FF2B5EF4-FFF2-40B4-BE49-F238E27FC236}">
                <a16:creationId xmlns:a16="http://schemas.microsoft.com/office/drawing/2014/main" id="{987A2E16-658E-5406-C25F-04949CB23E98}"/>
              </a:ext>
            </a:extLst>
          </p:cNvPr>
          <p:cNvGraphicFramePr>
            <a:graphicFrameLocks/>
          </p:cNvGraphicFramePr>
          <p:nvPr>
            <p:extLst>
              <p:ext uri="{D42A27DB-BD31-4B8C-83A1-F6EECF244321}">
                <p14:modId xmlns:p14="http://schemas.microsoft.com/office/powerpoint/2010/main" val="2004690994"/>
              </p:ext>
            </p:extLst>
          </p:nvPr>
        </p:nvGraphicFramePr>
        <p:xfrm>
          <a:off x="2095046" y="596447"/>
          <a:ext cx="8756952" cy="521062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34042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Chart 2" descr="Chart type: Area. 'Field1'&#10;&#10;Description automatically generated">
            <a:extLst>
              <a:ext uri="{FF2B5EF4-FFF2-40B4-BE49-F238E27FC236}">
                <a16:creationId xmlns:a16="http://schemas.microsoft.com/office/drawing/2014/main" id="{87EC7158-DCAB-3FB8-DDED-A29FCF8B20A4}"/>
              </a:ext>
              <a:ext uri="{147F2762-F138-4A5C-976F-8EAC2B608ADB}">
                <a16:predDERef xmlns:a16="http://schemas.microsoft.com/office/drawing/2014/main" pred="{987A2E16-658E-5406-C25F-04949CB23E98}"/>
              </a:ext>
            </a:extLst>
          </p:cNvPr>
          <p:cNvGraphicFramePr>
            <a:graphicFrameLocks/>
          </p:cNvGraphicFramePr>
          <p:nvPr>
            <p:extLst>
              <p:ext uri="{D42A27DB-BD31-4B8C-83A1-F6EECF244321}">
                <p14:modId xmlns:p14="http://schemas.microsoft.com/office/powerpoint/2010/main" val="201251396"/>
              </p:ext>
            </p:extLst>
          </p:nvPr>
        </p:nvGraphicFramePr>
        <p:xfrm>
          <a:off x="2228094" y="669018"/>
          <a:ext cx="7740952" cy="51864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9654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D4C3D6A-EF53-B606-96E2-02727BABA43F}"/>
              </a:ext>
            </a:extLst>
          </p:cNvPr>
          <p:cNvSpPr>
            <a:spLocks noGrp="1"/>
          </p:cNvSpPr>
          <p:nvPr>
            <p:ph type="title"/>
          </p:nvPr>
        </p:nvSpPr>
        <p:spPr>
          <a:xfrm>
            <a:off x="2026693" y="1030406"/>
            <a:ext cx="8147713" cy="3081242"/>
          </a:xfrm>
        </p:spPr>
        <p:txBody>
          <a:bodyPr vert="horz" lIns="91440" tIns="45720" rIns="91440" bIns="45720" rtlCol="0" anchor="ctr">
            <a:normAutofit/>
          </a:bodyPr>
          <a:lstStyle/>
          <a:p>
            <a:pPr algn="ctr"/>
            <a:r>
              <a:rPr lang="en-US" sz="4800" kern="1200">
                <a:solidFill>
                  <a:srgbClr val="FFFFFF"/>
                </a:solidFill>
                <a:latin typeface="+mj-lt"/>
                <a:ea typeface="+mj-ea"/>
                <a:cs typeface="+mj-cs"/>
              </a:rPr>
              <a:t>Hypothesis</a:t>
            </a:r>
          </a:p>
        </p:txBody>
      </p:sp>
      <p:sp>
        <p:nvSpPr>
          <p:cNvPr id="3" name="Content Placeholder 2">
            <a:extLst>
              <a:ext uri="{FF2B5EF4-FFF2-40B4-BE49-F238E27FC236}">
                <a16:creationId xmlns:a16="http://schemas.microsoft.com/office/drawing/2014/main" id="{AE05AC40-3C02-901E-9887-908136790813}"/>
              </a:ext>
            </a:extLst>
          </p:cNvPr>
          <p:cNvSpPr>
            <a:spLocks noGrp="1"/>
          </p:cNvSpPr>
          <p:nvPr>
            <p:ph idx="1"/>
          </p:nvPr>
        </p:nvSpPr>
        <p:spPr>
          <a:xfrm>
            <a:off x="1552686" y="4111550"/>
            <a:ext cx="9078628" cy="860620"/>
          </a:xfrm>
        </p:spPr>
        <p:txBody>
          <a:bodyPr vert="horz" lIns="91440" tIns="45720" rIns="91440" bIns="45720" rtlCol="0" anchor="ctr">
            <a:normAutofit/>
          </a:bodyPr>
          <a:lstStyle/>
          <a:p>
            <a:pPr marL="0" indent="0" algn="ctr">
              <a:buNone/>
            </a:pPr>
            <a:r>
              <a:rPr lang="en-US" sz="2400" kern="1200">
                <a:solidFill>
                  <a:srgbClr val="FFFFFF"/>
                </a:solidFill>
                <a:latin typeface="+mn-lt"/>
                <a:ea typeface="+mn-ea"/>
                <a:cs typeface="+mn-cs"/>
              </a:rPr>
              <a:t>Our hypothesis </a:t>
            </a:r>
            <a:r>
              <a:rPr lang="en-US" sz="2400">
                <a:solidFill>
                  <a:srgbClr val="FFFFFF"/>
                </a:solidFill>
              </a:rPr>
              <a:t>is, that</a:t>
            </a:r>
            <a:r>
              <a:rPr lang="en-US" sz="2400" kern="1200">
                <a:solidFill>
                  <a:srgbClr val="FFFFFF"/>
                </a:solidFill>
                <a:latin typeface="+mn-lt"/>
                <a:ea typeface="+mn-ea"/>
                <a:cs typeface="+mn-cs"/>
              </a:rPr>
              <a:t> cholesterol </a:t>
            </a:r>
            <a:r>
              <a:rPr lang="en-US" sz="2400">
                <a:solidFill>
                  <a:srgbClr val="FFFFFF"/>
                </a:solidFill>
              </a:rPr>
              <a:t>will</a:t>
            </a:r>
            <a:r>
              <a:rPr lang="en-US" sz="2400" kern="1200">
                <a:solidFill>
                  <a:srgbClr val="FFFFFF"/>
                </a:solidFill>
                <a:latin typeface="+mn-lt"/>
                <a:ea typeface="+mn-ea"/>
                <a:cs typeface="+mn-cs"/>
              </a:rPr>
              <a:t> </a:t>
            </a:r>
            <a:r>
              <a:rPr lang="en-US" sz="2400">
                <a:solidFill>
                  <a:srgbClr val="FFFFFF"/>
                </a:solidFill>
              </a:rPr>
              <a:t>have a positive correlation to heart</a:t>
            </a:r>
            <a:r>
              <a:rPr lang="en-US" sz="2400" kern="1200">
                <a:solidFill>
                  <a:srgbClr val="FFFFFF"/>
                </a:solidFill>
                <a:latin typeface="+mn-lt"/>
                <a:ea typeface="+mn-ea"/>
                <a:cs typeface="+mn-cs"/>
              </a:rPr>
              <a:t> disease</a:t>
            </a:r>
            <a:r>
              <a:rPr lang="en-US" sz="2400">
                <a:solidFill>
                  <a:srgbClr val="FFFFFF"/>
                </a:solidFill>
              </a:rPr>
              <a:t> and that sex will have no influence</a:t>
            </a:r>
            <a:r>
              <a:rPr lang="en-US" sz="2400" kern="1200">
                <a:solidFill>
                  <a:srgbClr val="FFFFFF"/>
                </a:solidFill>
                <a:latin typeface="+mn-lt"/>
                <a:ea typeface="+mn-ea"/>
                <a:cs typeface="+mn-cs"/>
              </a:rPr>
              <a:t>.</a:t>
            </a:r>
          </a:p>
        </p:txBody>
      </p:sp>
    </p:spTree>
    <p:extLst>
      <p:ext uri="{BB962C8B-B14F-4D97-AF65-F5344CB8AC3E}">
        <p14:creationId xmlns:p14="http://schemas.microsoft.com/office/powerpoint/2010/main" val="2057513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0B0704-7FAF-3EC6-A1BC-B1F9D9105027}"/>
              </a:ext>
            </a:extLst>
          </p:cNvPr>
          <p:cNvSpPr>
            <a:spLocks noGrp="1"/>
          </p:cNvSpPr>
          <p:nvPr>
            <p:ph type="title"/>
          </p:nvPr>
        </p:nvSpPr>
        <p:spPr>
          <a:xfrm>
            <a:off x="1136397" y="502021"/>
            <a:ext cx="4959603" cy="1642969"/>
          </a:xfrm>
        </p:spPr>
        <p:txBody>
          <a:bodyPr anchor="b">
            <a:normAutofit/>
          </a:bodyPr>
          <a:lstStyle/>
          <a:p>
            <a:r>
              <a:rPr lang="en-US" sz="4000"/>
              <a:t>Cholesterol correlation &amp; sex correlation</a:t>
            </a:r>
          </a:p>
        </p:txBody>
      </p:sp>
      <p:sp>
        <p:nvSpPr>
          <p:cNvPr id="3" name="Content Placeholder 2">
            <a:extLst>
              <a:ext uri="{FF2B5EF4-FFF2-40B4-BE49-F238E27FC236}">
                <a16:creationId xmlns:a16="http://schemas.microsoft.com/office/drawing/2014/main" id="{4BD4D52F-FA92-88FC-26CD-A683BDE86C3D}"/>
              </a:ext>
            </a:extLst>
          </p:cNvPr>
          <p:cNvSpPr>
            <a:spLocks noGrp="1"/>
          </p:cNvSpPr>
          <p:nvPr>
            <p:ph idx="1"/>
          </p:nvPr>
        </p:nvSpPr>
        <p:spPr>
          <a:xfrm>
            <a:off x="1136397" y="2418408"/>
            <a:ext cx="4379032" cy="3522569"/>
          </a:xfrm>
        </p:spPr>
        <p:txBody>
          <a:bodyPr vert="horz" lIns="91440" tIns="45720" rIns="91440" bIns="45720" rtlCol="0" anchor="t">
            <a:normAutofit/>
          </a:bodyPr>
          <a:lstStyle/>
          <a:p>
            <a:pPr marL="0" indent="0">
              <a:buNone/>
            </a:pPr>
            <a:r>
              <a:rPr lang="en-US" sz="2000"/>
              <a:t>Correlation between cholesterol and heart disease: Slightly negative Correlation</a:t>
            </a:r>
          </a:p>
          <a:p>
            <a:pPr marL="0" indent="0">
              <a:buNone/>
            </a:pPr>
            <a:r>
              <a:rPr lang="en-US" sz="2000"/>
              <a:t>Correlation between males and heart disease: slightly positive correlation</a:t>
            </a:r>
          </a:p>
          <a:p>
            <a:pPr marL="0" indent="0">
              <a:buNone/>
            </a:pPr>
            <a:r>
              <a:rPr lang="en-US" sz="2000"/>
              <a:t>Correlation between females and heart disease: Slightly negative correlation</a:t>
            </a:r>
          </a:p>
        </p:txBody>
      </p:sp>
      <p:pic>
        <p:nvPicPr>
          <p:cNvPr id="5" name="Picture 4">
            <a:extLst>
              <a:ext uri="{FF2B5EF4-FFF2-40B4-BE49-F238E27FC236}">
                <a16:creationId xmlns:a16="http://schemas.microsoft.com/office/drawing/2014/main" id="{94BFA4C6-845D-07A2-AE7A-E1ED47821257}"/>
              </a:ext>
            </a:extLst>
          </p:cNvPr>
          <p:cNvPicPr>
            <a:picLocks noChangeAspect="1"/>
          </p:cNvPicPr>
          <p:nvPr/>
        </p:nvPicPr>
        <p:blipFill rotWithShape="1">
          <a:blip r:embed="rId2"/>
          <a:srcRect t="31157" b="35075"/>
          <a:stretch/>
        </p:blipFill>
        <p:spPr>
          <a:xfrm>
            <a:off x="5786729" y="2731949"/>
            <a:ext cx="5926736" cy="991906"/>
          </a:xfrm>
          <a:prstGeom prst="rect">
            <a:avLst/>
          </a:prstGeom>
        </p:spPr>
      </p:pic>
      <p:sp>
        <p:nvSpPr>
          <p:cNvPr id="28" name="Rectangle 27">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C96DD6B-B290-1214-0EEA-0F79E0BA4CE2}"/>
              </a:ext>
            </a:extLst>
          </p:cNvPr>
          <p:cNvPicPr>
            <a:picLocks noChangeAspect="1"/>
          </p:cNvPicPr>
          <p:nvPr/>
        </p:nvPicPr>
        <p:blipFill rotWithShape="1">
          <a:blip r:embed="rId2"/>
          <a:srcRect b="65105"/>
          <a:stretch/>
        </p:blipFill>
        <p:spPr>
          <a:xfrm>
            <a:off x="5786729" y="3812056"/>
            <a:ext cx="5926736" cy="1024987"/>
          </a:xfrm>
          <a:prstGeom prst="rect">
            <a:avLst/>
          </a:prstGeom>
        </p:spPr>
      </p:pic>
      <p:pic>
        <p:nvPicPr>
          <p:cNvPr id="6" name="Picture 5" descr="A close-up of a computer code&#10;&#10;Description automatically generated">
            <a:extLst>
              <a:ext uri="{FF2B5EF4-FFF2-40B4-BE49-F238E27FC236}">
                <a16:creationId xmlns:a16="http://schemas.microsoft.com/office/drawing/2014/main" id="{2A3BA2F4-0E56-BFD4-24DF-B55074CA44CA}"/>
              </a:ext>
            </a:extLst>
          </p:cNvPr>
          <p:cNvPicPr>
            <a:picLocks noChangeAspect="1"/>
          </p:cNvPicPr>
          <p:nvPr/>
        </p:nvPicPr>
        <p:blipFill rotWithShape="1">
          <a:blip r:embed="rId2"/>
          <a:srcRect l="-1295" t="65858" r="1295" b="373"/>
          <a:stretch/>
        </p:blipFill>
        <p:spPr>
          <a:xfrm>
            <a:off x="5720944" y="1739704"/>
            <a:ext cx="5926742" cy="991927"/>
          </a:xfrm>
          <a:prstGeom prst="rect">
            <a:avLst/>
          </a:prstGeom>
        </p:spPr>
      </p:pic>
    </p:spTree>
    <p:extLst>
      <p:ext uri="{BB962C8B-B14F-4D97-AF65-F5344CB8AC3E}">
        <p14:creationId xmlns:p14="http://schemas.microsoft.com/office/powerpoint/2010/main" val="30841227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D4C3D6A-EF53-B606-96E2-02727BABA43F}"/>
              </a:ext>
            </a:extLst>
          </p:cNvPr>
          <p:cNvSpPr>
            <a:spLocks noGrp="1"/>
          </p:cNvSpPr>
          <p:nvPr>
            <p:ph type="title"/>
          </p:nvPr>
        </p:nvSpPr>
        <p:spPr>
          <a:xfrm>
            <a:off x="2026693" y="1030406"/>
            <a:ext cx="8147713" cy="3081242"/>
          </a:xfrm>
        </p:spPr>
        <p:txBody>
          <a:bodyPr vert="horz" lIns="91440" tIns="45720" rIns="91440" bIns="45720" rtlCol="0" anchor="ctr">
            <a:normAutofit/>
          </a:bodyPr>
          <a:lstStyle/>
          <a:p>
            <a:pPr algn="ctr"/>
            <a:r>
              <a:rPr lang="en-US" sz="4800">
                <a:solidFill>
                  <a:srgbClr val="FFFFFF"/>
                </a:solidFill>
              </a:rPr>
              <a:t>Revised Hypothesis</a:t>
            </a:r>
            <a:endParaRPr lang="en-US" sz="4800" kern="120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AE05AC40-3C02-901E-9887-908136790813}"/>
              </a:ext>
            </a:extLst>
          </p:cNvPr>
          <p:cNvSpPr>
            <a:spLocks noGrp="1"/>
          </p:cNvSpPr>
          <p:nvPr>
            <p:ph idx="1"/>
          </p:nvPr>
        </p:nvSpPr>
        <p:spPr>
          <a:xfrm>
            <a:off x="1552686" y="4111550"/>
            <a:ext cx="9078628" cy="860620"/>
          </a:xfrm>
        </p:spPr>
        <p:txBody>
          <a:bodyPr vert="horz" lIns="91440" tIns="45720" rIns="91440" bIns="45720" rtlCol="0" anchor="ctr">
            <a:normAutofit/>
          </a:bodyPr>
          <a:lstStyle/>
          <a:p>
            <a:pPr marL="0" indent="0" algn="ctr">
              <a:buNone/>
            </a:pPr>
            <a:r>
              <a:rPr lang="en-US" sz="2400" kern="1200">
                <a:solidFill>
                  <a:srgbClr val="FFFFFF"/>
                </a:solidFill>
                <a:latin typeface="+mn-lt"/>
                <a:ea typeface="+mn-ea"/>
                <a:cs typeface="+mn-cs"/>
              </a:rPr>
              <a:t>Our </a:t>
            </a:r>
            <a:r>
              <a:rPr lang="en-US" sz="2400">
                <a:solidFill>
                  <a:srgbClr val="FFFFFF"/>
                </a:solidFill>
              </a:rPr>
              <a:t>revised hypothesis</a:t>
            </a:r>
            <a:r>
              <a:rPr lang="en-US" sz="2400" kern="1200">
                <a:solidFill>
                  <a:srgbClr val="FFFFFF"/>
                </a:solidFill>
                <a:latin typeface="+mn-lt"/>
                <a:ea typeface="+mn-ea"/>
                <a:cs typeface="+mn-cs"/>
              </a:rPr>
              <a:t> </a:t>
            </a:r>
            <a:r>
              <a:rPr lang="en-US" sz="2400">
                <a:solidFill>
                  <a:srgbClr val="FFFFFF"/>
                </a:solidFill>
              </a:rPr>
              <a:t>is that,</a:t>
            </a:r>
            <a:r>
              <a:rPr lang="en-US" sz="2400" kern="1200">
                <a:solidFill>
                  <a:srgbClr val="FFFFFF"/>
                </a:solidFill>
                <a:latin typeface="+mn-lt"/>
                <a:ea typeface="+mn-ea"/>
                <a:cs typeface="+mn-cs"/>
              </a:rPr>
              <a:t> </a:t>
            </a:r>
            <a:r>
              <a:rPr lang="en-US" sz="2400">
                <a:solidFill>
                  <a:srgbClr val="FFFFFF"/>
                </a:solidFill>
              </a:rPr>
              <a:t>despite cholesterol having a negative correlation to heart</a:t>
            </a:r>
            <a:r>
              <a:rPr lang="en-US" sz="2400" kern="1200">
                <a:solidFill>
                  <a:srgbClr val="FFFFFF"/>
                </a:solidFill>
                <a:latin typeface="+mn-lt"/>
                <a:ea typeface="+mn-ea"/>
                <a:cs typeface="+mn-cs"/>
              </a:rPr>
              <a:t> disease</a:t>
            </a:r>
            <a:r>
              <a:rPr lang="en-US" sz="2400">
                <a:solidFill>
                  <a:srgbClr val="FFFFFF"/>
                </a:solidFill>
              </a:rPr>
              <a:t> it is not statistically relevant.</a:t>
            </a:r>
            <a:endParaRPr lang="en-US">
              <a:solidFill>
                <a:srgbClr val="000000"/>
              </a:solidFill>
            </a:endParaRPr>
          </a:p>
        </p:txBody>
      </p:sp>
    </p:spTree>
    <p:extLst>
      <p:ext uri="{BB962C8B-B14F-4D97-AF65-F5344CB8AC3E}">
        <p14:creationId xmlns:p14="http://schemas.microsoft.com/office/powerpoint/2010/main" val="2261509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B6FB91-174F-8828-8344-AFEE55561CD1}"/>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T-test</a:t>
            </a:r>
            <a:r>
              <a:rPr lang="en-US" sz="4000">
                <a:solidFill>
                  <a:srgbClr val="FFFFFF"/>
                </a:solidFill>
              </a:rPr>
              <a:t> for cholesterol</a:t>
            </a:r>
            <a:endParaRPr lang="en-US" sz="4000" kern="1200">
              <a:solidFill>
                <a:srgbClr val="FFFFFF"/>
              </a:solidFill>
              <a:latin typeface="+mj-lt"/>
              <a:ea typeface="+mj-ea"/>
              <a:cs typeface="+mj-cs"/>
            </a:endParaRPr>
          </a:p>
        </p:txBody>
      </p:sp>
      <p:pic>
        <p:nvPicPr>
          <p:cNvPr id="5" name="Picture 4" descr="A screenshot of a computer code&#10;&#10;Description automatically generated">
            <a:extLst>
              <a:ext uri="{FF2B5EF4-FFF2-40B4-BE49-F238E27FC236}">
                <a16:creationId xmlns:a16="http://schemas.microsoft.com/office/drawing/2014/main" id="{2823B9B9-0E70-DD37-377A-7C8C1D0A115C}"/>
              </a:ext>
            </a:extLst>
          </p:cNvPr>
          <p:cNvPicPr>
            <a:picLocks noChangeAspect="1"/>
          </p:cNvPicPr>
          <p:nvPr/>
        </p:nvPicPr>
        <p:blipFill>
          <a:blip r:embed="rId2"/>
          <a:stretch>
            <a:fillRect/>
          </a:stretch>
        </p:blipFill>
        <p:spPr>
          <a:xfrm>
            <a:off x="432225" y="2153415"/>
            <a:ext cx="11327549" cy="4077916"/>
          </a:xfrm>
          <a:prstGeom prst="rect">
            <a:avLst/>
          </a:prstGeom>
        </p:spPr>
      </p:pic>
    </p:spTree>
    <p:extLst>
      <p:ext uri="{BB962C8B-B14F-4D97-AF65-F5344CB8AC3E}">
        <p14:creationId xmlns:p14="http://schemas.microsoft.com/office/powerpoint/2010/main" val="13865027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6D1A2CED-DA9B-4CCF-8215-CFC65FE71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1" name="Rectangle 50">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34B9394-B975-42D2-C377-CFEA0E7A86DC}"/>
              </a:ext>
            </a:extLst>
          </p:cNvPr>
          <p:cNvSpPr>
            <a:spLocks noGrp="1"/>
          </p:cNvSpPr>
          <p:nvPr>
            <p:ph type="title"/>
          </p:nvPr>
        </p:nvSpPr>
        <p:spPr>
          <a:xfrm>
            <a:off x="1115568" y="509521"/>
            <a:ext cx="10232136" cy="1014984"/>
          </a:xfrm>
        </p:spPr>
        <p:txBody>
          <a:bodyPr>
            <a:normAutofit/>
          </a:bodyPr>
          <a:lstStyle/>
          <a:p>
            <a:r>
              <a:rPr lang="en-US" sz="4000"/>
              <a:t>Cholesterol and Heart Disease</a:t>
            </a:r>
          </a:p>
        </p:txBody>
      </p:sp>
      <p:sp>
        <p:nvSpPr>
          <p:cNvPr id="52" name="Rectangle 51">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6583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8" name="Content Placeholder 2">
            <a:extLst>
              <a:ext uri="{FF2B5EF4-FFF2-40B4-BE49-F238E27FC236}">
                <a16:creationId xmlns:a16="http://schemas.microsoft.com/office/drawing/2014/main" id="{71F54580-0D70-A17C-BBB9-9C71819AF45B}"/>
              </a:ext>
            </a:extLst>
          </p:cNvPr>
          <p:cNvGraphicFramePr>
            <a:graphicFrameLocks noGrp="1"/>
          </p:cNvGraphicFramePr>
          <p:nvPr>
            <p:ph idx="1"/>
            <p:extLst>
              <p:ext uri="{D42A27DB-BD31-4B8C-83A1-F6EECF244321}">
                <p14:modId xmlns:p14="http://schemas.microsoft.com/office/powerpoint/2010/main" val="4052778976"/>
              </p:ext>
            </p:extLst>
          </p:nvPr>
        </p:nvGraphicFramePr>
        <p:xfrm>
          <a:off x="1115568" y="1673352"/>
          <a:ext cx="10232136" cy="4334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26790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6D1A2CED-DA9B-4CCF-8215-CFC65FE71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1" name="Rectangle 50">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34B9394-B975-42D2-C377-CFEA0E7A86DC}"/>
              </a:ext>
            </a:extLst>
          </p:cNvPr>
          <p:cNvSpPr>
            <a:spLocks noGrp="1"/>
          </p:cNvSpPr>
          <p:nvPr>
            <p:ph type="title"/>
          </p:nvPr>
        </p:nvSpPr>
        <p:spPr>
          <a:xfrm>
            <a:off x="1115568" y="509521"/>
            <a:ext cx="10232136" cy="1014984"/>
          </a:xfrm>
        </p:spPr>
        <p:txBody>
          <a:bodyPr>
            <a:normAutofit/>
          </a:bodyPr>
          <a:lstStyle/>
          <a:p>
            <a:r>
              <a:rPr lang="en-US" sz="4000"/>
              <a:t>Sex and Heart Disease</a:t>
            </a:r>
          </a:p>
        </p:txBody>
      </p:sp>
      <p:sp>
        <p:nvSpPr>
          <p:cNvPr id="52" name="Rectangle 51">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6583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8" name="Content Placeholder 2">
            <a:extLst>
              <a:ext uri="{FF2B5EF4-FFF2-40B4-BE49-F238E27FC236}">
                <a16:creationId xmlns:a16="http://schemas.microsoft.com/office/drawing/2014/main" id="{71F54580-0D70-A17C-BBB9-9C71819AF45B}"/>
              </a:ext>
            </a:extLst>
          </p:cNvPr>
          <p:cNvGraphicFramePr>
            <a:graphicFrameLocks noGrp="1"/>
          </p:cNvGraphicFramePr>
          <p:nvPr>
            <p:ph idx="1"/>
            <p:extLst>
              <p:ext uri="{D42A27DB-BD31-4B8C-83A1-F6EECF244321}">
                <p14:modId xmlns:p14="http://schemas.microsoft.com/office/powerpoint/2010/main" val="1078804692"/>
              </p:ext>
            </p:extLst>
          </p:nvPr>
        </p:nvGraphicFramePr>
        <p:xfrm>
          <a:off x="1115568" y="1673352"/>
          <a:ext cx="10232136" cy="4334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39371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p:txBody>
      </p:sp>
      <p:sp>
        <p:nvSpPr>
          <p:cNvPr id="2" name="Title 1">
            <a:extLst>
              <a:ext uri="{FF2B5EF4-FFF2-40B4-BE49-F238E27FC236}">
                <a16:creationId xmlns:a16="http://schemas.microsoft.com/office/drawing/2014/main" id="{BA5941C2-3994-182E-B206-780547059946}"/>
              </a:ext>
            </a:extLst>
          </p:cNvPr>
          <p:cNvSpPr>
            <a:spLocks noGrp="1"/>
          </p:cNvSpPr>
          <p:nvPr>
            <p:ph type="title"/>
          </p:nvPr>
        </p:nvSpPr>
        <p:spPr>
          <a:xfrm>
            <a:off x="887282" y="443404"/>
            <a:ext cx="3008408" cy="763740"/>
          </a:xfrm>
        </p:spPr>
        <p:txBody>
          <a:bodyPr anchor="b">
            <a:normAutofit/>
          </a:bodyPr>
          <a:lstStyle/>
          <a:p>
            <a:r>
              <a:rPr lang="en-US" sz="4000"/>
              <a:t>Conclusion</a:t>
            </a:r>
          </a:p>
        </p:txBody>
      </p:sp>
      <p:sp>
        <p:nvSpPr>
          <p:cNvPr id="3" name="Content Placeholder 2">
            <a:extLst>
              <a:ext uri="{FF2B5EF4-FFF2-40B4-BE49-F238E27FC236}">
                <a16:creationId xmlns:a16="http://schemas.microsoft.com/office/drawing/2014/main" id="{3C68E651-8ECC-504A-62A1-5F8FFF92CE0B}"/>
              </a:ext>
            </a:extLst>
          </p:cNvPr>
          <p:cNvSpPr>
            <a:spLocks noGrp="1"/>
          </p:cNvSpPr>
          <p:nvPr>
            <p:ph idx="1"/>
          </p:nvPr>
        </p:nvSpPr>
        <p:spPr>
          <a:xfrm>
            <a:off x="457200" y="1015999"/>
            <a:ext cx="6236485" cy="5675941"/>
          </a:xfrm>
        </p:spPr>
        <p:txBody>
          <a:bodyPr vert="horz" lIns="91440" tIns="45720" rIns="91440" bIns="45720" rtlCol="0" anchor="t">
            <a:noAutofit/>
          </a:bodyPr>
          <a:lstStyle/>
          <a:p>
            <a:pPr marL="0" indent="0">
              <a:buNone/>
            </a:pPr>
            <a:r>
              <a:rPr lang="en-US" sz="1800" dirty="0">
                <a:latin typeface="Calibri"/>
                <a:ea typeface="Calibri"/>
                <a:cs typeface="Calibri"/>
              </a:rPr>
              <a:t>In conclusion, although the correlation between cholesterol and heart disease was statistically relevant this dataset may have been an outlier as it is not supported by previous studies done by heart disease because of the data discrepancy.</a:t>
            </a:r>
          </a:p>
          <a:p>
            <a:pPr marL="0" indent="0">
              <a:buNone/>
            </a:pPr>
            <a:r>
              <a:rPr lang="en-US" sz="1800" dirty="0">
                <a:latin typeface="Calibri"/>
                <a:ea typeface="Calibri"/>
                <a:cs typeface="Calibri"/>
              </a:rPr>
              <a:t>For example, for this dataset </a:t>
            </a:r>
            <a:r>
              <a:rPr lang="en-US" sz="1800" b="1" dirty="0">
                <a:latin typeface="Calibri"/>
                <a:ea typeface="Calibri"/>
                <a:cs typeface="Calibri"/>
              </a:rPr>
              <a:t>ASY</a:t>
            </a:r>
            <a:r>
              <a:rPr lang="en-US" sz="1800" dirty="0">
                <a:latin typeface="Calibri"/>
                <a:ea typeface="Calibri"/>
                <a:cs typeface="Calibri"/>
              </a:rPr>
              <a:t> (asymptomatic) was the most common for people with heart disease but typically people with heart disease will feel some sort of angina. </a:t>
            </a:r>
          </a:p>
          <a:p>
            <a:pPr marL="0" indent="0">
              <a:buNone/>
            </a:pPr>
            <a:r>
              <a:rPr lang="en-US" sz="1800" b="1" dirty="0">
                <a:latin typeface="Calibri"/>
                <a:ea typeface="Calibri"/>
                <a:cs typeface="Calibri"/>
              </a:rPr>
              <a:t>Confounding Variables: </a:t>
            </a:r>
            <a:r>
              <a:rPr lang="en-US" sz="1800" dirty="0">
                <a:latin typeface="Calibri"/>
                <a:ea typeface="Calibri"/>
                <a:cs typeface="Calibri"/>
              </a:rPr>
              <a:t>We assume that if the additional feature mentioned prior with family history of heart disease, BMI, or exercise activity could explain some of the discrepancies of why these people did not have the typical symptoms of heart disease.</a:t>
            </a:r>
          </a:p>
          <a:p>
            <a:pPr marL="0" indent="0">
              <a:buNone/>
            </a:pPr>
            <a:r>
              <a:rPr lang="en-US" sz="1800" b="1" dirty="0">
                <a:latin typeface="Calibri"/>
                <a:ea typeface="Calibri"/>
                <a:cs typeface="Calibri"/>
              </a:rPr>
              <a:t>Sample Bias: </a:t>
            </a:r>
            <a:r>
              <a:rPr lang="en-US" sz="1800" dirty="0">
                <a:latin typeface="Calibri"/>
                <a:ea typeface="Calibri"/>
                <a:cs typeface="Calibri"/>
              </a:rPr>
              <a:t>This dataset may not have been a good representative of the general population of people with heart disease as it's already shown with sex.</a:t>
            </a:r>
          </a:p>
          <a:p>
            <a:pPr marL="0" indent="0">
              <a:buNone/>
            </a:pPr>
            <a:r>
              <a:rPr lang="en-US" sz="1800" b="1" dirty="0">
                <a:latin typeface="Calibri"/>
                <a:ea typeface="Calibri"/>
                <a:cs typeface="Calibri"/>
              </a:rPr>
              <a:t>Statistical Artifact: </a:t>
            </a:r>
            <a:r>
              <a:rPr lang="en-US" sz="1800" dirty="0">
                <a:latin typeface="Calibri"/>
                <a:ea typeface="Calibri"/>
                <a:cs typeface="Calibri"/>
              </a:rPr>
              <a:t>This dataset may have just happened to have uncommon reports by chance.</a:t>
            </a:r>
          </a:p>
          <a:p>
            <a:pPr>
              <a:buNone/>
            </a:pPr>
            <a:endParaRPr lang="en-US" sz="1600" dirty="0">
              <a:ea typeface="Calibri"/>
              <a:cs typeface="Calibri"/>
            </a:endParaRPr>
          </a:p>
          <a:p>
            <a:pPr marL="0" indent="0">
              <a:buNone/>
            </a:pPr>
            <a:endParaRPr lang="en-US" sz="1600" dirty="0">
              <a:ea typeface="Calibri"/>
              <a:cs typeface="Calibri"/>
            </a:endParaRPr>
          </a:p>
          <a:p>
            <a:pPr marL="0" indent="0">
              <a:buNone/>
            </a:pPr>
            <a:endParaRPr lang="en-US" sz="1600" dirty="0">
              <a:ea typeface="Calibri"/>
              <a:cs typeface="Calibri"/>
            </a:endParaRPr>
          </a:p>
        </p:txBody>
      </p:sp>
      <p:sp>
        <p:nvSpPr>
          <p:cNvPr id="68" name="Rectangle 67">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ed heart with a stethoscope&#10;&#10;Description automatically generated">
            <a:extLst>
              <a:ext uri="{FF2B5EF4-FFF2-40B4-BE49-F238E27FC236}">
                <a16:creationId xmlns:a16="http://schemas.microsoft.com/office/drawing/2014/main" id="{670926E0-660B-C709-A242-F265780CB1AB}"/>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702294" y="1909220"/>
            <a:ext cx="5130356" cy="3203338"/>
          </a:xfrm>
          <a:prstGeom prst="rect">
            <a:avLst/>
          </a:prstGeom>
        </p:spPr>
      </p:pic>
    </p:spTree>
    <p:extLst>
      <p:ext uri="{BB962C8B-B14F-4D97-AF65-F5344CB8AC3E}">
        <p14:creationId xmlns:p14="http://schemas.microsoft.com/office/powerpoint/2010/main" val="16986594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F5943C-E851-216E-62B6-8D7A9E41E4E9}"/>
              </a:ext>
            </a:extLst>
          </p:cNvPr>
          <p:cNvSpPr>
            <a:spLocks noGrp="1"/>
          </p:cNvSpPr>
          <p:nvPr>
            <p:ph type="ctrTitle"/>
          </p:nvPr>
        </p:nvSpPr>
        <p:spPr>
          <a:xfrm>
            <a:off x="823442" y="921715"/>
            <a:ext cx="5163022" cy="2635993"/>
          </a:xfrm>
        </p:spPr>
        <p:txBody>
          <a:bodyPr anchor="b">
            <a:normAutofit/>
          </a:bodyPr>
          <a:lstStyle/>
          <a:p>
            <a:pPr algn="l"/>
            <a:r>
              <a:rPr lang="en-US" sz="4800"/>
              <a:t>Thank You</a:t>
            </a:r>
          </a:p>
        </p:txBody>
      </p:sp>
      <p:sp>
        <p:nvSpPr>
          <p:cNvPr id="19" name="Rectangle 18">
            <a:extLst>
              <a:ext uri="{FF2B5EF4-FFF2-40B4-BE49-F238E27FC236}">
                <a16:creationId xmlns:a16="http://schemas.microsoft.com/office/drawing/2014/main" id="{BC05CA36-AD6A-4ABF-9A05-52E5A143D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022214"/>
            <a:ext cx="12192000" cy="2835786"/>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4331EE8-85A4-4588-8D9E-70E534D47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4022220"/>
            <a:ext cx="8153398" cy="2835780"/>
          </a:xfrm>
          <a:prstGeom prst="rect">
            <a:avLst/>
          </a:prstGeom>
          <a:gradFill>
            <a:gsLst>
              <a:gs pos="0">
                <a:srgbClr val="000000">
                  <a:alpha val="63000"/>
                </a:srgbClr>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9D6C862-61CC-4B46-8080-96583D653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022219"/>
            <a:ext cx="12253472" cy="2835781"/>
          </a:xfrm>
          <a:prstGeom prst="rect">
            <a:avLst/>
          </a:prstGeom>
          <a:gradFill>
            <a:gsLst>
              <a:gs pos="39000">
                <a:schemeClr val="accent1">
                  <a:lumMod val="50000"/>
                  <a:alpha val="0"/>
                </a:schemeClr>
              </a:gs>
              <a:gs pos="100000">
                <a:srgbClr val="000000">
                  <a:alpha val="72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0F670C5-198C-36CB-C662-309F97BB2D06}"/>
              </a:ext>
            </a:extLst>
          </p:cNvPr>
          <p:cNvSpPr>
            <a:spLocks noGrp="1"/>
          </p:cNvSpPr>
          <p:nvPr>
            <p:ph type="subTitle" idx="1"/>
          </p:nvPr>
        </p:nvSpPr>
        <p:spPr>
          <a:xfrm>
            <a:off x="823442" y="4541263"/>
            <a:ext cx="4662957" cy="1395022"/>
          </a:xfrm>
        </p:spPr>
        <p:txBody>
          <a:bodyPr vert="horz" lIns="91440" tIns="45720" rIns="91440" bIns="45720" rtlCol="0" anchor="t">
            <a:normAutofit/>
          </a:bodyPr>
          <a:lstStyle/>
          <a:p>
            <a:pPr algn="l"/>
            <a:r>
              <a:rPr lang="en-US">
                <a:solidFill>
                  <a:srgbClr val="FFFFFF"/>
                </a:solidFill>
              </a:rPr>
              <a:t>Any questions?</a:t>
            </a:r>
          </a:p>
        </p:txBody>
      </p:sp>
      <p:sp>
        <p:nvSpPr>
          <p:cNvPr id="25" name="Rectangle 24">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0797"/>
            <a:ext cx="12191998" cy="457203"/>
          </a:xfrm>
          <a:prstGeom prst="rect">
            <a:avLst/>
          </a:prstGeom>
          <a:gradFill>
            <a:gsLst>
              <a:gs pos="0">
                <a:srgbClr val="000000">
                  <a:alpha val="43000"/>
                </a:srgbClr>
              </a:gs>
              <a:gs pos="79000">
                <a:schemeClr val="accent1">
                  <a:lumMod val="75000"/>
                  <a:alpha val="22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6192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23</TotalTime>
  <Words>1330</Words>
  <Application>Microsoft Office PowerPoint</Application>
  <PresentationFormat>Widescreen</PresentationFormat>
  <Paragraphs>150</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Heart Disease</vt:lpstr>
      <vt:lpstr>Table of Contents</vt:lpstr>
      <vt:lpstr>The Data</vt:lpstr>
      <vt:lpstr>Chest Pain Types, Resting BP</vt:lpstr>
      <vt:lpstr>Cholesterol, Fasting BS, Resting ECG</vt:lpstr>
      <vt:lpstr>Max HR, Exercise Angina, Old Peak, ST Slope</vt:lpstr>
      <vt:lpstr>Relevant Questions</vt:lpstr>
      <vt:lpstr>Missing Features</vt:lpstr>
      <vt:lpstr>Limitations &amp; Inconsistencies</vt:lpstr>
      <vt:lpstr>Additional Features</vt:lpstr>
      <vt:lpstr>Target Audience</vt:lpstr>
      <vt:lpstr>Means, Medians, &amp; Modes</vt:lpstr>
      <vt:lpstr>Cholesterol mean</vt:lpstr>
      <vt:lpstr>RestingBP mean</vt:lpstr>
      <vt:lpstr>MaxHR mean</vt:lpstr>
      <vt:lpstr>Modes for heart disease</vt:lpstr>
      <vt:lpstr>Sex and heart disease</vt:lpstr>
      <vt:lpstr>PowerPoint Presentation</vt:lpstr>
      <vt:lpstr>PowerPoint Presentation</vt:lpstr>
      <vt:lpstr>Hypothesis</vt:lpstr>
      <vt:lpstr>Cholesterol correlation &amp; sex correlation</vt:lpstr>
      <vt:lpstr>Revised Hypothesis</vt:lpstr>
      <vt:lpstr>T-test for cholesterol</vt:lpstr>
      <vt:lpstr>Cholesterol and Heart Disease</vt:lpstr>
      <vt:lpstr>Sex and Heart Disease</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Aravind Sathappan</cp:lastModifiedBy>
  <cp:revision>2</cp:revision>
  <dcterms:created xsi:type="dcterms:W3CDTF">2024-02-16T20:22:09Z</dcterms:created>
  <dcterms:modified xsi:type="dcterms:W3CDTF">2026-03-16T04:55:43Z</dcterms:modified>
</cp:coreProperties>
</file>